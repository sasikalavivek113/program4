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sldIdLst>
    <p:sldId id="266" r:id="rId2"/>
    <p:sldId id="282" r:id="rId3"/>
    <p:sldId id="258" r:id="rId4"/>
    <p:sldId id="267" r:id="rId5"/>
    <p:sldId id="268" r:id="rId6"/>
    <p:sldId id="260" r:id="rId7"/>
    <p:sldId id="284" r:id="rId8"/>
    <p:sldId id="285" r:id="rId9"/>
    <p:sldId id="261" r:id="rId10"/>
    <p:sldId id="262" r:id="rId11"/>
    <p:sldId id="263" r:id="rId12"/>
    <p:sldId id="264" r:id="rId13"/>
    <p:sldId id="265" r:id="rId14"/>
    <p:sldId id="270" r:id="rId15"/>
    <p:sldId id="280" r:id="rId16"/>
    <p:sldId id="281" r:id="rId17"/>
    <p:sldId id="288" r:id="rId18"/>
    <p:sldId id="271" r:id="rId19"/>
    <p:sldId id="269" r:id="rId20"/>
    <p:sldId id="272" r:id="rId21"/>
    <p:sldId id="273" r:id="rId22"/>
    <p:sldId id="274" r:id="rId23"/>
    <p:sldId id="275" r:id="rId24"/>
    <p:sldId id="276" r:id="rId25"/>
    <p:sldId id="278" r:id="rId26"/>
    <p:sldId id="279" r:id="rId27"/>
    <p:sldId id="277" r:id="rId28"/>
    <p:sldId id="287" r:id="rId29"/>
    <p:sldId id="301" r:id="rId30"/>
    <p:sldId id="290" r:id="rId31"/>
    <p:sldId id="291" r:id="rId32"/>
    <p:sldId id="289" r:id="rId33"/>
    <p:sldId id="292" r:id="rId34"/>
    <p:sldId id="293" r:id="rId35"/>
    <p:sldId id="294" r:id="rId36"/>
    <p:sldId id="295" r:id="rId37"/>
    <p:sldId id="296" r:id="rId38"/>
    <p:sldId id="297" r:id="rId39"/>
    <p:sldId id="298" r:id="rId40"/>
    <p:sldId id="299" r:id="rId41"/>
    <p:sldId id="3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74" d="100"/>
          <a:sy n="74" d="100"/>
        </p:scale>
        <p:origin x="75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200"/>
              <a:t>Training</a:t>
            </a:r>
            <a:r>
              <a:rPr lang="en-IN" sz="1200" baseline="0"/>
              <a:t> Time</a:t>
            </a:r>
            <a:endParaRPr lang="en-IN" sz="1200"/>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962403145096738"/>
          <c:y val="0.18366699483593923"/>
          <c:w val="0.42041123975886735"/>
          <c:h val="0.59251678398769203"/>
        </c:manualLayout>
      </c:layout>
      <c:barChart>
        <c:barDir val="col"/>
        <c:grouping val="clustered"/>
        <c:varyColors val="0"/>
        <c:ser>
          <c:idx val="0"/>
          <c:order val="0"/>
          <c:tx>
            <c:strRef>
              <c:f>Sheet1!$B$1</c:f>
              <c:strCache>
                <c:ptCount val="1"/>
                <c:pt idx="0">
                  <c:v>BO-SWNF</c:v>
                </c:pt>
              </c:strCache>
            </c:strRef>
          </c:tx>
          <c:spPr>
            <a:solidFill>
              <a:srgbClr val="0070C0"/>
            </a:solidFill>
            <a:ln>
              <a:noFill/>
            </a:ln>
            <a:effectLst/>
          </c:spPr>
          <c:invertIfNegative val="0"/>
          <c:cat>
            <c:strRef>
              <c:f>Sheet1!$A$2:$A$3</c:f>
              <c:strCache>
                <c:ptCount val="2"/>
                <c:pt idx="0">
                  <c:v>Diabetes</c:v>
                </c:pt>
                <c:pt idx="1">
                  <c:v>Body Performance</c:v>
                </c:pt>
              </c:strCache>
            </c:strRef>
          </c:cat>
          <c:val>
            <c:numRef>
              <c:f>Sheet1!$B$2:$B$3</c:f>
              <c:numCache>
                <c:formatCode>General</c:formatCode>
                <c:ptCount val="2"/>
                <c:pt idx="0">
                  <c:v>186</c:v>
                </c:pt>
                <c:pt idx="1">
                  <c:v>205</c:v>
                </c:pt>
              </c:numCache>
            </c:numRef>
          </c:val>
          <c:extLst>
            <c:ext xmlns:c16="http://schemas.microsoft.com/office/drawing/2014/chart" uri="{C3380CC4-5D6E-409C-BE32-E72D297353CC}">
              <c16:uniqueId val="{00000000-B106-49D2-9A3D-6F2D652A0327}"/>
            </c:ext>
          </c:extLst>
        </c:ser>
        <c:ser>
          <c:idx val="1"/>
          <c:order val="1"/>
          <c:tx>
            <c:strRef>
              <c:f>Sheet1!$C$1</c:f>
              <c:strCache>
                <c:ptCount val="1"/>
                <c:pt idx="0">
                  <c:v>Dense-DNN</c:v>
                </c:pt>
              </c:strCache>
            </c:strRef>
          </c:tx>
          <c:spPr>
            <a:solidFill>
              <a:schemeClr val="accent2">
                <a:lumMod val="75000"/>
              </a:schemeClr>
            </a:solidFill>
            <a:ln>
              <a:noFill/>
            </a:ln>
            <a:effectLst/>
          </c:spPr>
          <c:invertIfNegative val="0"/>
          <c:cat>
            <c:strRef>
              <c:f>Sheet1!$A$2:$A$3</c:f>
              <c:strCache>
                <c:ptCount val="2"/>
                <c:pt idx="0">
                  <c:v>Diabetes</c:v>
                </c:pt>
                <c:pt idx="1">
                  <c:v>Body Performance</c:v>
                </c:pt>
              </c:strCache>
            </c:strRef>
          </c:cat>
          <c:val>
            <c:numRef>
              <c:f>Sheet1!$C$2:$C$3</c:f>
              <c:numCache>
                <c:formatCode>General</c:formatCode>
                <c:ptCount val="2"/>
                <c:pt idx="0">
                  <c:v>173</c:v>
                </c:pt>
                <c:pt idx="1">
                  <c:v>190</c:v>
                </c:pt>
              </c:numCache>
            </c:numRef>
          </c:val>
          <c:extLst>
            <c:ext xmlns:c16="http://schemas.microsoft.com/office/drawing/2014/chart" uri="{C3380CC4-5D6E-409C-BE32-E72D297353CC}">
              <c16:uniqueId val="{00000001-B106-49D2-9A3D-6F2D652A0327}"/>
            </c:ext>
          </c:extLst>
        </c:ser>
        <c:ser>
          <c:idx val="2"/>
          <c:order val="2"/>
          <c:tx>
            <c:strRef>
              <c:f>Sheet1!$D$1</c:f>
              <c:strCache>
                <c:ptCount val="1"/>
                <c:pt idx="0">
                  <c:v>Mu-LSTM</c:v>
                </c:pt>
              </c:strCache>
            </c:strRef>
          </c:tx>
          <c:spPr>
            <a:solidFill>
              <a:srgbClr val="FFC000"/>
            </a:solidFill>
            <a:ln>
              <a:noFill/>
            </a:ln>
            <a:effectLst/>
          </c:spPr>
          <c:invertIfNegative val="0"/>
          <c:cat>
            <c:strRef>
              <c:f>Sheet1!$A$2:$A$3</c:f>
              <c:strCache>
                <c:ptCount val="2"/>
                <c:pt idx="0">
                  <c:v>Diabetes</c:v>
                </c:pt>
                <c:pt idx="1">
                  <c:v>Body Performance</c:v>
                </c:pt>
              </c:strCache>
            </c:strRef>
          </c:cat>
          <c:val>
            <c:numRef>
              <c:f>Sheet1!$D$2:$D$3</c:f>
              <c:numCache>
                <c:formatCode>General</c:formatCode>
                <c:ptCount val="2"/>
                <c:pt idx="0">
                  <c:v>150</c:v>
                </c:pt>
                <c:pt idx="1">
                  <c:v>162</c:v>
                </c:pt>
              </c:numCache>
            </c:numRef>
          </c:val>
          <c:extLst>
            <c:ext xmlns:c16="http://schemas.microsoft.com/office/drawing/2014/chart" uri="{C3380CC4-5D6E-409C-BE32-E72D297353CC}">
              <c16:uniqueId val="{00000002-B106-49D2-9A3D-6F2D652A0327}"/>
            </c:ext>
          </c:extLst>
        </c:ser>
        <c:ser>
          <c:idx val="3"/>
          <c:order val="3"/>
          <c:tx>
            <c:strRef>
              <c:f>Sheet1!$E$1</c:f>
              <c:strCache>
                <c:ptCount val="1"/>
                <c:pt idx="0">
                  <c:v>Conv-BiLSTM</c:v>
                </c:pt>
              </c:strCache>
            </c:strRef>
          </c:tx>
          <c:spPr>
            <a:solidFill>
              <a:srgbClr val="7030A0"/>
            </a:solidFill>
            <a:ln>
              <a:noFill/>
            </a:ln>
            <a:effectLst/>
          </c:spPr>
          <c:invertIfNegative val="0"/>
          <c:cat>
            <c:strRef>
              <c:f>Sheet1!$A$2:$A$3</c:f>
              <c:strCache>
                <c:ptCount val="2"/>
                <c:pt idx="0">
                  <c:v>Diabetes</c:v>
                </c:pt>
                <c:pt idx="1">
                  <c:v>Body Performance</c:v>
                </c:pt>
              </c:strCache>
            </c:strRef>
          </c:cat>
          <c:val>
            <c:numRef>
              <c:f>Sheet1!$E$2:$E$3</c:f>
              <c:numCache>
                <c:formatCode>General</c:formatCode>
                <c:ptCount val="2"/>
                <c:pt idx="0">
                  <c:v>127</c:v>
                </c:pt>
                <c:pt idx="1">
                  <c:v>142</c:v>
                </c:pt>
              </c:numCache>
            </c:numRef>
          </c:val>
          <c:extLst>
            <c:ext xmlns:c16="http://schemas.microsoft.com/office/drawing/2014/chart" uri="{C3380CC4-5D6E-409C-BE32-E72D297353CC}">
              <c16:uniqueId val="{00000003-B106-49D2-9A3D-6F2D652A0327}"/>
            </c:ext>
          </c:extLst>
        </c:ser>
        <c:ser>
          <c:idx val="4"/>
          <c:order val="4"/>
          <c:tx>
            <c:strRef>
              <c:f>Sheet1!$F$1</c:f>
              <c:strCache>
                <c:ptCount val="1"/>
                <c:pt idx="0">
                  <c:v>TISSLSTM</c:v>
                </c:pt>
              </c:strCache>
            </c:strRef>
          </c:tx>
          <c:spPr>
            <a:solidFill>
              <a:srgbClr val="92D050"/>
            </a:solidFill>
            <a:ln>
              <a:noFill/>
            </a:ln>
            <a:effectLst/>
          </c:spPr>
          <c:invertIfNegative val="0"/>
          <c:cat>
            <c:strRef>
              <c:f>Sheet1!$A$2:$A$3</c:f>
              <c:strCache>
                <c:ptCount val="2"/>
                <c:pt idx="0">
                  <c:v>Diabetes</c:v>
                </c:pt>
                <c:pt idx="1">
                  <c:v>Body Performance</c:v>
                </c:pt>
              </c:strCache>
            </c:strRef>
          </c:cat>
          <c:val>
            <c:numRef>
              <c:f>Sheet1!$F$2:$F$3</c:f>
              <c:numCache>
                <c:formatCode>General</c:formatCode>
                <c:ptCount val="2"/>
                <c:pt idx="0">
                  <c:v>98</c:v>
                </c:pt>
                <c:pt idx="1">
                  <c:v>105</c:v>
                </c:pt>
              </c:numCache>
            </c:numRef>
          </c:val>
          <c:extLst>
            <c:ext xmlns:c16="http://schemas.microsoft.com/office/drawing/2014/chart" uri="{C3380CC4-5D6E-409C-BE32-E72D297353CC}">
              <c16:uniqueId val="{00000004-B106-49D2-9A3D-6F2D652A0327}"/>
            </c:ext>
          </c:extLst>
        </c:ser>
        <c:dLbls>
          <c:showLegendKey val="0"/>
          <c:showVal val="0"/>
          <c:showCatName val="0"/>
          <c:showSerName val="0"/>
          <c:showPercent val="0"/>
          <c:showBubbleSize val="0"/>
        </c:dLbls>
        <c:gapWidth val="219"/>
        <c:overlap val="-27"/>
        <c:axId val="815648512"/>
        <c:axId val="822639312"/>
      </c:barChart>
      <c:catAx>
        <c:axId val="815648512"/>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IN" sz="1000" b="1" i="0" baseline="0">
                    <a:effectLst/>
                  </a:rPr>
                  <a:t>Datasets </a:t>
                </a:r>
                <a:endParaRPr lang="en-IN" sz="1000">
                  <a:effectLst/>
                </a:endParaRPr>
              </a:p>
            </c:rich>
          </c:tx>
          <c:layout>
            <c:manualLayout>
              <c:xMode val="edge"/>
              <c:yMode val="edge"/>
              <c:x val="0.31495644247169047"/>
              <c:y val="0.90018482548012668"/>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22639312"/>
        <c:crosses val="autoZero"/>
        <c:auto val="1"/>
        <c:lblAlgn val="ctr"/>
        <c:lblOffset val="100"/>
        <c:noMultiLvlLbl val="0"/>
      </c:catAx>
      <c:valAx>
        <c:axId val="822639312"/>
        <c:scaling>
          <c:orientation val="minMax"/>
          <c:max val="25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Time</a:t>
                </a:r>
                <a:r>
                  <a:rPr lang="en-IN" baseline="0"/>
                  <a:t> (sec)</a:t>
                </a:r>
                <a:endParaRPr lang="en-IN"/>
              </a:p>
            </c:rich>
          </c:tx>
          <c:layout>
            <c:manualLayout>
              <c:xMode val="edge"/>
              <c:yMode val="edge"/>
              <c:x val="1.4436939190484024E-2"/>
              <c:y val="0.3645325584301962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15648512"/>
        <c:crosses val="autoZero"/>
        <c:crossBetween val="between"/>
        <c:minorUnit val="50"/>
      </c:valAx>
      <c:spPr>
        <a:noFill/>
        <a:ln>
          <a:noFill/>
        </a:ln>
        <a:effectLst/>
      </c:spPr>
    </c:plotArea>
    <c:legend>
      <c:legendPos val="tr"/>
      <c:layout>
        <c:manualLayout>
          <c:xMode val="edge"/>
          <c:yMode val="edge"/>
          <c:x val="0.6065121283034548"/>
          <c:y val="0.26168496824752147"/>
          <c:w val="0.36957656832065555"/>
          <c:h val="0.561889138857642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200"/>
              <a:t>Inference</a:t>
            </a:r>
            <a:r>
              <a:rPr lang="en-IN" sz="1200" baseline="0"/>
              <a:t> Time</a:t>
            </a:r>
            <a:endParaRPr lang="en-IN" sz="1200"/>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295316963059315"/>
          <c:y val="0.17254319671294724"/>
          <c:w val="0.45209239809130697"/>
          <c:h val="0.59251678398769203"/>
        </c:manualLayout>
      </c:layout>
      <c:barChart>
        <c:barDir val="col"/>
        <c:grouping val="clustered"/>
        <c:varyColors val="0"/>
        <c:ser>
          <c:idx val="0"/>
          <c:order val="0"/>
          <c:tx>
            <c:strRef>
              <c:f>Sheet1!$B$1</c:f>
              <c:strCache>
                <c:ptCount val="1"/>
                <c:pt idx="0">
                  <c:v>BO-SWNF</c:v>
                </c:pt>
              </c:strCache>
            </c:strRef>
          </c:tx>
          <c:spPr>
            <a:solidFill>
              <a:srgbClr val="0070C0"/>
            </a:solidFill>
            <a:ln>
              <a:noFill/>
            </a:ln>
            <a:effectLst/>
          </c:spPr>
          <c:invertIfNegative val="0"/>
          <c:cat>
            <c:strRef>
              <c:f>Sheet1!$A$2:$A$3</c:f>
              <c:strCache>
                <c:ptCount val="2"/>
                <c:pt idx="0">
                  <c:v>Diabetes</c:v>
                </c:pt>
                <c:pt idx="1">
                  <c:v>Body Performance</c:v>
                </c:pt>
              </c:strCache>
            </c:strRef>
          </c:cat>
          <c:val>
            <c:numRef>
              <c:f>Sheet1!$B$2:$B$3</c:f>
              <c:numCache>
                <c:formatCode>General</c:formatCode>
                <c:ptCount val="2"/>
                <c:pt idx="0">
                  <c:v>3.7</c:v>
                </c:pt>
                <c:pt idx="1">
                  <c:v>3.8</c:v>
                </c:pt>
              </c:numCache>
            </c:numRef>
          </c:val>
          <c:extLst>
            <c:ext xmlns:c16="http://schemas.microsoft.com/office/drawing/2014/chart" uri="{C3380CC4-5D6E-409C-BE32-E72D297353CC}">
              <c16:uniqueId val="{00000000-9396-4598-85DE-05B8307E6A6F}"/>
            </c:ext>
          </c:extLst>
        </c:ser>
        <c:ser>
          <c:idx val="1"/>
          <c:order val="1"/>
          <c:tx>
            <c:strRef>
              <c:f>Sheet1!$C$1</c:f>
              <c:strCache>
                <c:ptCount val="1"/>
                <c:pt idx="0">
                  <c:v>Dense-DNN</c:v>
                </c:pt>
              </c:strCache>
            </c:strRef>
          </c:tx>
          <c:spPr>
            <a:solidFill>
              <a:schemeClr val="accent2">
                <a:lumMod val="75000"/>
              </a:schemeClr>
            </a:solidFill>
            <a:ln>
              <a:noFill/>
            </a:ln>
            <a:effectLst/>
          </c:spPr>
          <c:invertIfNegative val="0"/>
          <c:cat>
            <c:strRef>
              <c:f>Sheet1!$A$2:$A$3</c:f>
              <c:strCache>
                <c:ptCount val="2"/>
                <c:pt idx="0">
                  <c:v>Diabetes</c:v>
                </c:pt>
                <c:pt idx="1">
                  <c:v>Body Performance</c:v>
                </c:pt>
              </c:strCache>
            </c:strRef>
          </c:cat>
          <c:val>
            <c:numRef>
              <c:f>Sheet1!$C$2:$C$3</c:f>
              <c:numCache>
                <c:formatCode>General</c:formatCode>
                <c:ptCount val="2"/>
                <c:pt idx="0">
                  <c:v>2.8</c:v>
                </c:pt>
                <c:pt idx="1">
                  <c:v>2.9</c:v>
                </c:pt>
              </c:numCache>
            </c:numRef>
          </c:val>
          <c:extLst>
            <c:ext xmlns:c16="http://schemas.microsoft.com/office/drawing/2014/chart" uri="{C3380CC4-5D6E-409C-BE32-E72D297353CC}">
              <c16:uniqueId val="{00000001-9396-4598-85DE-05B8307E6A6F}"/>
            </c:ext>
          </c:extLst>
        </c:ser>
        <c:ser>
          <c:idx val="2"/>
          <c:order val="2"/>
          <c:tx>
            <c:strRef>
              <c:f>Sheet1!$D$1</c:f>
              <c:strCache>
                <c:ptCount val="1"/>
                <c:pt idx="0">
                  <c:v>Mu-LSTM</c:v>
                </c:pt>
              </c:strCache>
            </c:strRef>
          </c:tx>
          <c:spPr>
            <a:solidFill>
              <a:srgbClr val="FFC000"/>
            </a:solidFill>
            <a:ln>
              <a:noFill/>
            </a:ln>
            <a:effectLst/>
          </c:spPr>
          <c:invertIfNegative val="0"/>
          <c:cat>
            <c:strRef>
              <c:f>Sheet1!$A$2:$A$3</c:f>
              <c:strCache>
                <c:ptCount val="2"/>
                <c:pt idx="0">
                  <c:v>Diabetes</c:v>
                </c:pt>
                <c:pt idx="1">
                  <c:v>Body Performance</c:v>
                </c:pt>
              </c:strCache>
            </c:strRef>
          </c:cat>
          <c:val>
            <c:numRef>
              <c:f>Sheet1!$D$2:$D$3</c:f>
              <c:numCache>
                <c:formatCode>General</c:formatCode>
                <c:ptCount val="2"/>
                <c:pt idx="0">
                  <c:v>2.1</c:v>
                </c:pt>
                <c:pt idx="1">
                  <c:v>2.2999999999999998</c:v>
                </c:pt>
              </c:numCache>
            </c:numRef>
          </c:val>
          <c:extLst>
            <c:ext xmlns:c16="http://schemas.microsoft.com/office/drawing/2014/chart" uri="{C3380CC4-5D6E-409C-BE32-E72D297353CC}">
              <c16:uniqueId val="{00000002-9396-4598-85DE-05B8307E6A6F}"/>
            </c:ext>
          </c:extLst>
        </c:ser>
        <c:ser>
          <c:idx val="3"/>
          <c:order val="3"/>
          <c:tx>
            <c:strRef>
              <c:f>Sheet1!$E$1</c:f>
              <c:strCache>
                <c:ptCount val="1"/>
                <c:pt idx="0">
                  <c:v>Conv-BiLSTM</c:v>
                </c:pt>
              </c:strCache>
            </c:strRef>
          </c:tx>
          <c:spPr>
            <a:solidFill>
              <a:srgbClr val="7030A0"/>
            </a:solidFill>
            <a:ln>
              <a:noFill/>
            </a:ln>
            <a:effectLst/>
          </c:spPr>
          <c:invertIfNegative val="0"/>
          <c:cat>
            <c:strRef>
              <c:f>Sheet1!$A$2:$A$3</c:f>
              <c:strCache>
                <c:ptCount val="2"/>
                <c:pt idx="0">
                  <c:v>Diabetes</c:v>
                </c:pt>
                <c:pt idx="1">
                  <c:v>Body Performance</c:v>
                </c:pt>
              </c:strCache>
            </c:strRef>
          </c:cat>
          <c:val>
            <c:numRef>
              <c:f>Sheet1!$E$2:$E$3</c:f>
              <c:numCache>
                <c:formatCode>General</c:formatCode>
                <c:ptCount val="2"/>
                <c:pt idx="0">
                  <c:v>1.5</c:v>
                </c:pt>
                <c:pt idx="1">
                  <c:v>1.8</c:v>
                </c:pt>
              </c:numCache>
            </c:numRef>
          </c:val>
          <c:extLst>
            <c:ext xmlns:c16="http://schemas.microsoft.com/office/drawing/2014/chart" uri="{C3380CC4-5D6E-409C-BE32-E72D297353CC}">
              <c16:uniqueId val="{00000003-9396-4598-85DE-05B8307E6A6F}"/>
            </c:ext>
          </c:extLst>
        </c:ser>
        <c:ser>
          <c:idx val="4"/>
          <c:order val="4"/>
          <c:tx>
            <c:strRef>
              <c:f>Sheet1!$F$1</c:f>
              <c:strCache>
                <c:ptCount val="1"/>
                <c:pt idx="0">
                  <c:v>TISSLSTM</c:v>
                </c:pt>
              </c:strCache>
            </c:strRef>
          </c:tx>
          <c:spPr>
            <a:solidFill>
              <a:srgbClr val="92D050"/>
            </a:solidFill>
            <a:ln>
              <a:noFill/>
            </a:ln>
            <a:effectLst/>
          </c:spPr>
          <c:invertIfNegative val="0"/>
          <c:cat>
            <c:strRef>
              <c:f>Sheet1!$A$2:$A$3</c:f>
              <c:strCache>
                <c:ptCount val="2"/>
                <c:pt idx="0">
                  <c:v>Diabetes</c:v>
                </c:pt>
                <c:pt idx="1">
                  <c:v>Body Performance</c:v>
                </c:pt>
              </c:strCache>
            </c:strRef>
          </c:cat>
          <c:val>
            <c:numRef>
              <c:f>Sheet1!$F$2:$F$3</c:f>
              <c:numCache>
                <c:formatCode>General</c:formatCode>
                <c:ptCount val="2"/>
                <c:pt idx="0">
                  <c:v>0.9</c:v>
                </c:pt>
                <c:pt idx="1">
                  <c:v>1</c:v>
                </c:pt>
              </c:numCache>
            </c:numRef>
          </c:val>
          <c:extLst>
            <c:ext xmlns:c16="http://schemas.microsoft.com/office/drawing/2014/chart" uri="{C3380CC4-5D6E-409C-BE32-E72D297353CC}">
              <c16:uniqueId val="{00000004-9396-4598-85DE-05B8307E6A6F}"/>
            </c:ext>
          </c:extLst>
        </c:ser>
        <c:dLbls>
          <c:showLegendKey val="0"/>
          <c:showVal val="0"/>
          <c:showCatName val="0"/>
          <c:showSerName val="0"/>
          <c:showPercent val="0"/>
          <c:showBubbleSize val="0"/>
        </c:dLbls>
        <c:gapWidth val="219"/>
        <c:overlap val="-27"/>
        <c:axId val="815648512"/>
        <c:axId val="822639312"/>
      </c:barChart>
      <c:catAx>
        <c:axId val="815648512"/>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IN" sz="1000" b="1" i="0" baseline="0">
                    <a:effectLst/>
                  </a:rPr>
                  <a:t>Datasets </a:t>
                </a:r>
                <a:endParaRPr lang="en-IN" sz="1000">
                  <a:effectLst/>
                </a:endParaRPr>
              </a:p>
            </c:rich>
          </c:tx>
          <c:layout>
            <c:manualLayout>
              <c:xMode val="edge"/>
              <c:yMode val="edge"/>
              <c:x val="0.35759020034223338"/>
              <c:y val="0.90018471970294911"/>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22639312"/>
        <c:crosses val="autoZero"/>
        <c:auto val="1"/>
        <c:lblAlgn val="ctr"/>
        <c:lblOffset val="100"/>
        <c:noMultiLvlLbl val="0"/>
      </c:catAx>
      <c:valAx>
        <c:axId val="822639312"/>
        <c:scaling>
          <c:orientation val="minMax"/>
          <c:max val="4"/>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Time</a:t>
                </a:r>
                <a:r>
                  <a:rPr lang="en-IN" baseline="0"/>
                  <a:t> (ms/sample)</a:t>
                </a:r>
                <a:endParaRPr lang="en-IN"/>
              </a:p>
            </c:rich>
          </c:tx>
          <c:layout>
            <c:manualLayout>
              <c:xMode val="edge"/>
              <c:yMode val="edge"/>
              <c:x val="1.4436939190484024E-2"/>
              <c:y val="0.3645325584301962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15648512"/>
        <c:crosses val="autoZero"/>
        <c:crossBetween val="between"/>
        <c:minorUnit val="1"/>
      </c:valAx>
      <c:spPr>
        <a:noFill/>
        <a:ln>
          <a:noFill/>
        </a:ln>
        <a:effectLst/>
      </c:spPr>
    </c:plotArea>
    <c:legend>
      <c:legendPos val="tr"/>
      <c:layout>
        <c:manualLayout>
          <c:xMode val="edge"/>
          <c:yMode val="edge"/>
          <c:x val="0.64608698224074246"/>
          <c:y val="0.26168496824752147"/>
          <c:w val="0.33000144597951969"/>
          <c:h val="0.561889138857642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a:t>Diabetic</a:t>
            </a:r>
            <a:r>
              <a:rPr lang="en-IN" baseline="0"/>
              <a:t> Dataset</a:t>
            </a:r>
            <a:endParaRPr lang="en-IN"/>
          </a:p>
        </c:rich>
      </c:tx>
      <c:layout>
        <c:manualLayout>
          <c:xMode val="edge"/>
          <c:yMode val="edge"/>
          <c:x val="0.23881014873140857"/>
          <c:y val="4.6256143394044519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1727912085479827"/>
          <c:y val="0.28457713492003561"/>
          <c:w val="0.50950787401574815"/>
          <c:h val="0.6041715578926653"/>
        </c:manualLayout>
      </c:layout>
      <c:barChart>
        <c:barDir val="col"/>
        <c:grouping val="clustered"/>
        <c:varyColors val="0"/>
        <c:ser>
          <c:idx val="0"/>
          <c:order val="0"/>
          <c:tx>
            <c:strRef>
              <c:f>Sheet1!$B$1</c:f>
              <c:strCache>
                <c:ptCount val="1"/>
                <c:pt idx="0">
                  <c:v>FedEHR</c:v>
                </c:pt>
              </c:strCache>
            </c:strRef>
          </c:tx>
          <c:spPr>
            <a:solidFill>
              <a:srgbClr val="0070C0"/>
            </a:solidFill>
            <a:ln>
              <a:noFill/>
            </a:ln>
            <a:effectLst/>
          </c:spPr>
          <c:invertIfNegative val="0"/>
          <c:cat>
            <c:numRef>
              <c:f>Sheet1!$A$2:$A$5</c:f>
              <c:numCache>
                <c:formatCode>General</c:formatCode>
                <c:ptCount val="4"/>
                <c:pt idx="0">
                  <c:v>0.1</c:v>
                </c:pt>
                <c:pt idx="1">
                  <c:v>0.5</c:v>
                </c:pt>
                <c:pt idx="2">
                  <c:v>1</c:v>
                </c:pt>
                <c:pt idx="3">
                  <c:v>10</c:v>
                </c:pt>
              </c:numCache>
            </c:numRef>
          </c:cat>
          <c:val>
            <c:numRef>
              <c:f>Sheet1!$B$2:$B$5</c:f>
              <c:numCache>
                <c:formatCode>General</c:formatCode>
                <c:ptCount val="4"/>
                <c:pt idx="0">
                  <c:v>87.1</c:v>
                </c:pt>
                <c:pt idx="1">
                  <c:v>87.38</c:v>
                </c:pt>
                <c:pt idx="2">
                  <c:v>87.5</c:v>
                </c:pt>
                <c:pt idx="3">
                  <c:v>87.7</c:v>
                </c:pt>
              </c:numCache>
            </c:numRef>
          </c:val>
          <c:extLst>
            <c:ext xmlns:c16="http://schemas.microsoft.com/office/drawing/2014/chart" uri="{C3380CC4-5D6E-409C-BE32-E72D297353CC}">
              <c16:uniqueId val="{00000000-BE10-49EC-A9C7-F91A97A0F8E9}"/>
            </c:ext>
          </c:extLst>
        </c:ser>
        <c:ser>
          <c:idx val="1"/>
          <c:order val="1"/>
          <c:tx>
            <c:strRef>
              <c:f>Sheet1!$C$1</c:f>
              <c:strCache>
                <c:ptCount val="1"/>
                <c:pt idx="0">
                  <c:v>FedCure</c:v>
                </c:pt>
              </c:strCache>
            </c:strRef>
          </c:tx>
          <c:spPr>
            <a:solidFill>
              <a:schemeClr val="accent2">
                <a:lumMod val="75000"/>
              </a:schemeClr>
            </a:solidFill>
            <a:ln>
              <a:noFill/>
            </a:ln>
            <a:effectLst/>
          </c:spPr>
          <c:invertIfNegative val="0"/>
          <c:cat>
            <c:numRef>
              <c:f>Sheet1!$A$2:$A$5</c:f>
              <c:numCache>
                <c:formatCode>General</c:formatCode>
                <c:ptCount val="4"/>
                <c:pt idx="0">
                  <c:v>0.1</c:v>
                </c:pt>
                <c:pt idx="1">
                  <c:v>0.5</c:v>
                </c:pt>
                <c:pt idx="2">
                  <c:v>1</c:v>
                </c:pt>
                <c:pt idx="3">
                  <c:v>10</c:v>
                </c:pt>
              </c:numCache>
            </c:numRef>
          </c:cat>
          <c:val>
            <c:numRef>
              <c:f>Sheet1!$C$2:$C$5</c:f>
              <c:numCache>
                <c:formatCode>General</c:formatCode>
                <c:ptCount val="4"/>
                <c:pt idx="0">
                  <c:v>87.24</c:v>
                </c:pt>
                <c:pt idx="1">
                  <c:v>87.5</c:v>
                </c:pt>
                <c:pt idx="2">
                  <c:v>87.65</c:v>
                </c:pt>
                <c:pt idx="3">
                  <c:v>87.84</c:v>
                </c:pt>
              </c:numCache>
            </c:numRef>
          </c:val>
          <c:extLst>
            <c:ext xmlns:c16="http://schemas.microsoft.com/office/drawing/2014/chart" uri="{C3380CC4-5D6E-409C-BE32-E72D297353CC}">
              <c16:uniqueId val="{00000001-BE10-49EC-A9C7-F91A97A0F8E9}"/>
            </c:ext>
          </c:extLst>
        </c:ser>
        <c:ser>
          <c:idx val="2"/>
          <c:order val="2"/>
          <c:tx>
            <c:strRef>
              <c:f>Sheet1!$D$1</c:f>
              <c:strCache>
                <c:ptCount val="1"/>
                <c:pt idx="0">
                  <c:v>FDEIoL</c:v>
                </c:pt>
              </c:strCache>
            </c:strRef>
          </c:tx>
          <c:spPr>
            <a:solidFill>
              <a:srgbClr val="FFC000"/>
            </a:solidFill>
            <a:ln>
              <a:noFill/>
            </a:ln>
            <a:effectLst/>
          </c:spPr>
          <c:invertIfNegative val="0"/>
          <c:cat>
            <c:numRef>
              <c:f>Sheet1!$A$2:$A$5</c:f>
              <c:numCache>
                <c:formatCode>General</c:formatCode>
                <c:ptCount val="4"/>
                <c:pt idx="0">
                  <c:v>0.1</c:v>
                </c:pt>
                <c:pt idx="1">
                  <c:v>0.5</c:v>
                </c:pt>
                <c:pt idx="2">
                  <c:v>1</c:v>
                </c:pt>
                <c:pt idx="3">
                  <c:v>10</c:v>
                </c:pt>
              </c:numCache>
            </c:numRef>
          </c:cat>
          <c:val>
            <c:numRef>
              <c:f>Sheet1!$D$2:$D$5</c:f>
              <c:numCache>
                <c:formatCode>General</c:formatCode>
                <c:ptCount val="4"/>
                <c:pt idx="0">
                  <c:v>87.4</c:v>
                </c:pt>
                <c:pt idx="1">
                  <c:v>87.6</c:v>
                </c:pt>
                <c:pt idx="2">
                  <c:v>87.78</c:v>
                </c:pt>
                <c:pt idx="3">
                  <c:v>88</c:v>
                </c:pt>
              </c:numCache>
            </c:numRef>
          </c:val>
          <c:extLst>
            <c:ext xmlns:c16="http://schemas.microsoft.com/office/drawing/2014/chart" uri="{C3380CC4-5D6E-409C-BE32-E72D297353CC}">
              <c16:uniqueId val="{00000002-BE10-49EC-A9C7-F91A97A0F8E9}"/>
            </c:ext>
          </c:extLst>
        </c:ser>
        <c:ser>
          <c:idx val="3"/>
          <c:order val="3"/>
          <c:tx>
            <c:strRef>
              <c:f>Sheet1!$E$1</c:f>
              <c:strCache>
                <c:ptCount val="1"/>
                <c:pt idx="0">
                  <c:v>Re-Fed</c:v>
                </c:pt>
              </c:strCache>
            </c:strRef>
          </c:tx>
          <c:spPr>
            <a:solidFill>
              <a:srgbClr val="7030A0"/>
            </a:solidFill>
            <a:ln>
              <a:noFill/>
            </a:ln>
            <a:effectLst/>
          </c:spPr>
          <c:invertIfNegative val="0"/>
          <c:cat>
            <c:numRef>
              <c:f>Sheet1!$A$2:$A$5</c:f>
              <c:numCache>
                <c:formatCode>General</c:formatCode>
                <c:ptCount val="4"/>
                <c:pt idx="0">
                  <c:v>0.1</c:v>
                </c:pt>
                <c:pt idx="1">
                  <c:v>0.5</c:v>
                </c:pt>
                <c:pt idx="2">
                  <c:v>1</c:v>
                </c:pt>
                <c:pt idx="3">
                  <c:v>10</c:v>
                </c:pt>
              </c:numCache>
            </c:numRef>
          </c:cat>
          <c:val>
            <c:numRef>
              <c:f>Sheet1!$E$2:$E$5</c:f>
              <c:numCache>
                <c:formatCode>General</c:formatCode>
                <c:ptCount val="4"/>
                <c:pt idx="0">
                  <c:v>87.56</c:v>
                </c:pt>
                <c:pt idx="1">
                  <c:v>87.75</c:v>
                </c:pt>
                <c:pt idx="2">
                  <c:v>88.15</c:v>
                </c:pt>
                <c:pt idx="3">
                  <c:v>88.32</c:v>
                </c:pt>
              </c:numCache>
            </c:numRef>
          </c:val>
          <c:extLst>
            <c:ext xmlns:c16="http://schemas.microsoft.com/office/drawing/2014/chart" uri="{C3380CC4-5D6E-409C-BE32-E72D297353CC}">
              <c16:uniqueId val="{00000003-BE10-49EC-A9C7-F91A97A0F8E9}"/>
            </c:ext>
          </c:extLst>
        </c:ser>
        <c:ser>
          <c:idx val="4"/>
          <c:order val="4"/>
          <c:tx>
            <c:strRef>
              <c:f>Sheet1!$F$1</c:f>
              <c:strCache>
                <c:ptCount val="1"/>
                <c:pt idx="0">
                  <c:v>EHFIL</c:v>
                </c:pt>
              </c:strCache>
            </c:strRef>
          </c:tx>
          <c:spPr>
            <a:solidFill>
              <a:srgbClr val="92D050"/>
            </a:solidFill>
            <a:ln>
              <a:noFill/>
            </a:ln>
            <a:effectLst/>
          </c:spPr>
          <c:invertIfNegative val="0"/>
          <c:cat>
            <c:numRef>
              <c:f>Sheet1!$A$2:$A$5</c:f>
              <c:numCache>
                <c:formatCode>General</c:formatCode>
                <c:ptCount val="4"/>
                <c:pt idx="0">
                  <c:v>0.1</c:v>
                </c:pt>
                <c:pt idx="1">
                  <c:v>0.5</c:v>
                </c:pt>
                <c:pt idx="2">
                  <c:v>1</c:v>
                </c:pt>
                <c:pt idx="3">
                  <c:v>10</c:v>
                </c:pt>
              </c:numCache>
            </c:numRef>
          </c:cat>
          <c:val>
            <c:numRef>
              <c:f>Sheet1!$F$2:$F$5</c:f>
              <c:numCache>
                <c:formatCode>General</c:formatCode>
                <c:ptCount val="4"/>
                <c:pt idx="0">
                  <c:v>87.68</c:v>
                </c:pt>
                <c:pt idx="1">
                  <c:v>88</c:v>
                </c:pt>
                <c:pt idx="2">
                  <c:v>88.28</c:v>
                </c:pt>
                <c:pt idx="3">
                  <c:v>88.5</c:v>
                </c:pt>
              </c:numCache>
            </c:numRef>
          </c:val>
          <c:extLst>
            <c:ext xmlns:c16="http://schemas.microsoft.com/office/drawing/2014/chart" uri="{C3380CC4-5D6E-409C-BE32-E72D297353CC}">
              <c16:uniqueId val="{00000004-BE10-49EC-A9C7-F91A97A0F8E9}"/>
            </c:ext>
          </c:extLst>
        </c:ser>
        <c:dLbls>
          <c:showLegendKey val="0"/>
          <c:showVal val="0"/>
          <c:showCatName val="0"/>
          <c:showSerName val="0"/>
          <c:showPercent val="0"/>
          <c:showBubbleSize val="0"/>
        </c:dLbls>
        <c:gapWidth val="219"/>
        <c:overlap val="-27"/>
        <c:axId val="815648512"/>
        <c:axId val="822639312"/>
      </c:barChart>
      <c:catAx>
        <c:axId val="815648512"/>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IN" sz="1000"/>
                  <a:t>Data</a:t>
                </a:r>
                <a:r>
                  <a:rPr lang="en-IN" sz="1000" baseline="0"/>
                  <a:t> Heterogeneity (</a:t>
                </a:r>
                <a:r>
                  <a:rPr lang="en-IN" sz="1000" i="0">
                    <a:effectLst/>
                  </a:rPr>
                  <a:t>𝛼)</a:t>
                </a:r>
                <a:endParaRPr lang="en-IN" sz="1000">
                  <a:effectLst/>
                </a:endParaRPr>
              </a:p>
            </c:rich>
          </c:tx>
          <c:layout>
            <c:manualLayout>
              <c:xMode val="edge"/>
              <c:yMode val="edge"/>
              <c:x val="0.23570260788108552"/>
              <c:y val="0.89496805093639098"/>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22639312"/>
        <c:crosses val="autoZero"/>
        <c:auto val="1"/>
        <c:lblAlgn val="ctr"/>
        <c:lblOffset val="100"/>
        <c:noMultiLvlLbl val="0"/>
      </c:catAx>
      <c:valAx>
        <c:axId val="822639312"/>
        <c:scaling>
          <c:orientation val="minMax"/>
          <c:max val="88.5"/>
          <c:min val="86.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Test</a:t>
                </a:r>
                <a:r>
                  <a:rPr lang="en-IN" baseline="0"/>
                  <a:t> Accuracy (%)</a:t>
                </a:r>
                <a:endParaRPr lang="en-IN"/>
              </a:p>
            </c:rich>
          </c:tx>
          <c:layout>
            <c:manualLayout>
              <c:xMode val="edge"/>
              <c:yMode val="edge"/>
              <c:x val="2.7904946225156192E-2"/>
              <c:y val="0.26045623308361388"/>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15648512"/>
        <c:crosses val="autoZero"/>
        <c:crossBetween val="between"/>
        <c:majorUnit val="0.5"/>
      </c:valAx>
      <c:spPr>
        <a:noFill/>
        <a:ln>
          <a:noFill/>
        </a:ln>
        <a:effectLst/>
      </c:spPr>
    </c:plotArea>
    <c:legend>
      <c:legendPos val="tr"/>
      <c:layout>
        <c:manualLayout>
          <c:xMode val="edge"/>
          <c:yMode val="edge"/>
          <c:x val="0.72303550597841937"/>
          <c:y val="0.27324916992176329"/>
          <c:w val="0.24926509186351706"/>
          <c:h val="0.561889138857642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a:t>Body</a:t>
            </a:r>
            <a:r>
              <a:rPr lang="en-IN" baseline="0"/>
              <a:t> Performance Dataset</a:t>
            </a:r>
            <a:endParaRPr lang="en-IN"/>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21145163696643182"/>
          <c:y val="0.21486017386449188"/>
          <c:w val="0.46539776212184003"/>
          <c:h val="0.58089229691972899"/>
        </c:manualLayout>
      </c:layout>
      <c:barChart>
        <c:barDir val="col"/>
        <c:grouping val="clustered"/>
        <c:varyColors val="0"/>
        <c:ser>
          <c:idx val="0"/>
          <c:order val="0"/>
          <c:tx>
            <c:strRef>
              <c:f>Sheet1!$B$1</c:f>
              <c:strCache>
                <c:ptCount val="1"/>
                <c:pt idx="0">
                  <c:v>FedEHR</c:v>
                </c:pt>
              </c:strCache>
            </c:strRef>
          </c:tx>
          <c:spPr>
            <a:solidFill>
              <a:srgbClr val="0070C0"/>
            </a:solidFill>
            <a:ln>
              <a:noFill/>
            </a:ln>
            <a:effectLst/>
          </c:spPr>
          <c:invertIfNegative val="0"/>
          <c:cat>
            <c:numRef>
              <c:f>Sheet1!$A$2:$A$5</c:f>
              <c:numCache>
                <c:formatCode>General</c:formatCode>
                <c:ptCount val="4"/>
                <c:pt idx="0">
                  <c:v>0.1</c:v>
                </c:pt>
                <c:pt idx="1">
                  <c:v>0.5</c:v>
                </c:pt>
                <c:pt idx="2">
                  <c:v>1</c:v>
                </c:pt>
                <c:pt idx="3">
                  <c:v>10</c:v>
                </c:pt>
              </c:numCache>
            </c:numRef>
          </c:cat>
          <c:val>
            <c:numRef>
              <c:f>Sheet1!$B$2:$B$5</c:f>
              <c:numCache>
                <c:formatCode>General</c:formatCode>
                <c:ptCount val="4"/>
                <c:pt idx="0">
                  <c:v>86.2</c:v>
                </c:pt>
                <c:pt idx="1">
                  <c:v>86.4</c:v>
                </c:pt>
                <c:pt idx="2">
                  <c:v>86.6</c:v>
                </c:pt>
                <c:pt idx="3">
                  <c:v>86.8</c:v>
                </c:pt>
              </c:numCache>
            </c:numRef>
          </c:val>
          <c:extLst>
            <c:ext xmlns:c16="http://schemas.microsoft.com/office/drawing/2014/chart" uri="{C3380CC4-5D6E-409C-BE32-E72D297353CC}">
              <c16:uniqueId val="{00000000-2E58-4328-875A-285F622764F8}"/>
            </c:ext>
          </c:extLst>
        </c:ser>
        <c:ser>
          <c:idx val="1"/>
          <c:order val="1"/>
          <c:tx>
            <c:strRef>
              <c:f>Sheet1!$C$1</c:f>
              <c:strCache>
                <c:ptCount val="1"/>
                <c:pt idx="0">
                  <c:v>FedCure</c:v>
                </c:pt>
              </c:strCache>
            </c:strRef>
          </c:tx>
          <c:spPr>
            <a:solidFill>
              <a:schemeClr val="accent2">
                <a:lumMod val="75000"/>
              </a:schemeClr>
            </a:solidFill>
            <a:ln>
              <a:noFill/>
            </a:ln>
            <a:effectLst/>
          </c:spPr>
          <c:invertIfNegative val="0"/>
          <c:cat>
            <c:numRef>
              <c:f>Sheet1!$A$2:$A$5</c:f>
              <c:numCache>
                <c:formatCode>General</c:formatCode>
                <c:ptCount val="4"/>
                <c:pt idx="0">
                  <c:v>0.1</c:v>
                </c:pt>
                <c:pt idx="1">
                  <c:v>0.5</c:v>
                </c:pt>
                <c:pt idx="2">
                  <c:v>1</c:v>
                </c:pt>
                <c:pt idx="3">
                  <c:v>10</c:v>
                </c:pt>
              </c:numCache>
            </c:numRef>
          </c:cat>
          <c:val>
            <c:numRef>
              <c:f>Sheet1!$C$2:$C$5</c:f>
              <c:numCache>
                <c:formatCode>General</c:formatCode>
                <c:ptCount val="4"/>
                <c:pt idx="0">
                  <c:v>86.3</c:v>
                </c:pt>
                <c:pt idx="1">
                  <c:v>86.49</c:v>
                </c:pt>
                <c:pt idx="2">
                  <c:v>86.73</c:v>
                </c:pt>
                <c:pt idx="3">
                  <c:v>86.9</c:v>
                </c:pt>
              </c:numCache>
            </c:numRef>
          </c:val>
          <c:extLst>
            <c:ext xmlns:c16="http://schemas.microsoft.com/office/drawing/2014/chart" uri="{C3380CC4-5D6E-409C-BE32-E72D297353CC}">
              <c16:uniqueId val="{00000001-2E58-4328-875A-285F622764F8}"/>
            </c:ext>
          </c:extLst>
        </c:ser>
        <c:ser>
          <c:idx val="2"/>
          <c:order val="2"/>
          <c:tx>
            <c:strRef>
              <c:f>Sheet1!$D$1</c:f>
              <c:strCache>
                <c:ptCount val="1"/>
                <c:pt idx="0">
                  <c:v>FDEIoL</c:v>
                </c:pt>
              </c:strCache>
            </c:strRef>
          </c:tx>
          <c:spPr>
            <a:solidFill>
              <a:srgbClr val="FFC000"/>
            </a:solidFill>
            <a:ln>
              <a:noFill/>
            </a:ln>
            <a:effectLst/>
          </c:spPr>
          <c:invertIfNegative val="0"/>
          <c:cat>
            <c:numRef>
              <c:f>Sheet1!$A$2:$A$5</c:f>
              <c:numCache>
                <c:formatCode>General</c:formatCode>
                <c:ptCount val="4"/>
                <c:pt idx="0">
                  <c:v>0.1</c:v>
                </c:pt>
                <c:pt idx="1">
                  <c:v>0.5</c:v>
                </c:pt>
                <c:pt idx="2">
                  <c:v>1</c:v>
                </c:pt>
                <c:pt idx="3">
                  <c:v>10</c:v>
                </c:pt>
              </c:numCache>
            </c:numRef>
          </c:cat>
          <c:val>
            <c:numRef>
              <c:f>Sheet1!$D$2:$D$5</c:f>
              <c:numCache>
                <c:formatCode>General</c:formatCode>
                <c:ptCount val="4"/>
                <c:pt idx="0">
                  <c:v>86.49</c:v>
                </c:pt>
                <c:pt idx="1">
                  <c:v>86.69</c:v>
                </c:pt>
                <c:pt idx="2">
                  <c:v>86.89</c:v>
                </c:pt>
                <c:pt idx="3">
                  <c:v>87.15</c:v>
                </c:pt>
              </c:numCache>
            </c:numRef>
          </c:val>
          <c:extLst>
            <c:ext xmlns:c16="http://schemas.microsoft.com/office/drawing/2014/chart" uri="{C3380CC4-5D6E-409C-BE32-E72D297353CC}">
              <c16:uniqueId val="{00000002-2E58-4328-875A-285F622764F8}"/>
            </c:ext>
          </c:extLst>
        </c:ser>
        <c:ser>
          <c:idx val="3"/>
          <c:order val="3"/>
          <c:tx>
            <c:strRef>
              <c:f>Sheet1!$E$1</c:f>
              <c:strCache>
                <c:ptCount val="1"/>
                <c:pt idx="0">
                  <c:v>Re-Fed</c:v>
                </c:pt>
              </c:strCache>
            </c:strRef>
          </c:tx>
          <c:spPr>
            <a:solidFill>
              <a:srgbClr val="7030A0"/>
            </a:solidFill>
            <a:ln>
              <a:noFill/>
            </a:ln>
            <a:effectLst/>
          </c:spPr>
          <c:invertIfNegative val="0"/>
          <c:cat>
            <c:numRef>
              <c:f>Sheet1!$A$2:$A$5</c:f>
              <c:numCache>
                <c:formatCode>General</c:formatCode>
                <c:ptCount val="4"/>
                <c:pt idx="0">
                  <c:v>0.1</c:v>
                </c:pt>
                <c:pt idx="1">
                  <c:v>0.5</c:v>
                </c:pt>
                <c:pt idx="2">
                  <c:v>1</c:v>
                </c:pt>
                <c:pt idx="3">
                  <c:v>10</c:v>
                </c:pt>
              </c:numCache>
            </c:numRef>
          </c:cat>
          <c:val>
            <c:numRef>
              <c:f>Sheet1!$E$2:$E$5</c:f>
              <c:numCache>
                <c:formatCode>General</c:formatCode>
                <c:ptCount val="4"/>
                <c:pt idx="0">
                  <c:v>86.68</c:v>
                </c:pt>
                <c:pt idx="1">
                  <c:v>86.9</c:v>
                </c:pt>
                <c:pt idx="2">
                  <c:v>87.15</c:v>
                </c:pt>
                <c:pt idx="3">
                  <c:v>87.3</c:v>
                </c:pt>
              </c:numCache>
            </c:numRef>
          </c:val>
          <c:extLst>
            <c:ext xmlns:c16="http://schemas.microsoft.com/office/drawing/2014/chart" uri="{C3380CC4-5D6E-409C-BE32-E72D297353CC}">
              <c16:uniqueId val="{00000003-2E58-4328-875A-285F622764F8}"/>
            </c:ext>
          </c:extLst>
        </c:ser>
        <c:ser>
          <c:idx val="4"/>
          <c:order val="4"/>
          <c:tx>
            <c:strRef>
              <c:f>Sheet1!$F$1</c:f>
              <c:strCache>
                <c:ptCount val="1"/>
                <c:pt idx="0">
                  <c:v>EHFIL</c:v>
                </c:pt>
              </c:strCache>
            </c:strRef>
          </c:tx>
          <c:spPr>
            <a:solidFill>
              <a:srgbClr val="92D050"/>
            </a:solidFill>
            <a:ln>
              <a:noFill/>
            </a:ln>
            <a:effectLst/>
          </c:spPr>
          <c:invertIfNegative val="0"/>
          <c:cat>
            <c:numRef>
              <c:f>Sheet1!$A$2:$A$5</c:f>
              <c:numCache>
                <c:formatCode>General</c:formatCode>
                <c:ptCount val="4"/>
                <c:pt idx="0">
                  <c:v>0.1</c:v>
                </c:pt>
                <c:pt idx="1">
                  <c:v>0.5</c:v>
                </c:pt>
                <c:pt idx="2">
                  <c:v>1</c:v>
                </c:pt>
                <c:pt idx="3">
                  <c:v>10</c:v>
                </c:pt>
              </c:numCache>
            </c:numRef>
          </c:cat>
          <c:val>
            <c:numRef>
              <c:f>Sheet1!$F$2:$F$5</c:f>
              <c:numCache>
                <c:formatCode>General</c:formatCode>
                <c:ptCount val="4"/>
                <c:pt idx="0">
                  <c:v>86.8</c:v>
                </c:pt>
                <c:pt idx="1">
                  <c:v>87</c:v>
                </c:pt>
                <c:pt idx="2">
                  <c:v>87.3</c:v>
                </c:pt>
                <c:pt idx="3">
                  <c:v>87.6</c:v>
                </c:pt>
              </c:numCache>
            </c:numRef>
          </c:val>
          <c:extLst>
            <c:ext xmlns:c16="http://schemas.microsoft.com/office/drawing/2014/chart" uri="{C3380CC4-5D6E-409C-BE32-E72D297353CC}">
              <c16:uniqueId val="{00000004-2E58-4328-875A-285F622764F8}"/>
            </c:ext>
          </c:extLst>
        </c:ser>
        <c:dLbls>
          <c:showLegendKey val="0"/>
          <c:showVal val="0"/>
          <c:showCatName val="0"/>
          <c:showSerName val="0"/>
          <c:showPercent val="0"/>
          <c:showBubbleSize val="0"/>
        </c:dLbls>
        <c:gapWidth val="219"/>
        <c:overlap val="-27"/>
        <c:axId val="815648512"/>
        <c:axId val="822639312"/>
      </c:barChart>
      <c:catAx>
        <c:axId val="815648512"/>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IN" sz="1000"/>
                  <a:t>Data</a:t>
                </a:r>
                <a:r>
                  <a:rPr lang="en-IN" sz="1000" baseline="0"/>
                  <a:t> Heterogeneity (</a:t>
                </a:r>
                <a:r>
                  <a:rPr lang="en-IN" sz="1000" i="0">
                    <a:effectLst/>
                  </a:rPr>
                  <a:t>𝛼)</a:t>
                </a:r>
                <a:endParaRPr lang="en-IN" sz="1000">
                  <a:effectLst/>
                </a:endParaRPr>
              </a:p>
            </c:rich>
          </c:tx>
          <c:layout>
            <c:manualLayout>
              <c:xMode val="edge"/>
              <c:yMode val="edge"/>
              <c:x val="0.3389575355712115"/>
              <c:y val="0.8949682091877551"/>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22639312"/>
        <c:crosses val="autoZero"/>
        <c:auto val="1"/>
        <c:lblAlgn val="ctr"/>
        <c:lblOffset val="100"/>
        <c:noMultiLvlLbl val="0"/>
      </c:catAx>
      <c:valAx>
        <c:axId val="822639312"/>
        <c:scaling>
          <c:orientation val="minMax"/>
          <c:max val="87.6"/>
          <c:min val="86"/>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t>Test</a:t>
                </a:r>
                <a:r>
                  <a:rPr lang="en-IN" baseline="0"/>
                  <a:t> Accuracy (%)</a:t>
                </a:r>
                <a:endParaRPr lang="en-IN"/>
              </a:p>
            </c:rich>
          </c:tx>
          <c:layout>
            <c:manualLayout>
              <c:xMode val="edge"/>
              <c:yMode val="edge"/>
              <c:x val="1.4436939190484024E-2"/>
              <c:y val="0.3645325584301962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815648512"/>
        <c:crosses val="autoZero"/>
        <c:crossBetween val="between"/>
        <c:majorUnit val="0.2"/>
      </c:valAx>
      <c:spPr>
        <a:noFill/>
        <a:ln>
          <a:noFill/>
        </a:ln>
        <a:effectLst/>
      </c:spPr>
    </c:plotArea>
    <c:legend>
      <c:legendPos val="tr"/>
      <c:layout>
        <c:manualLayout>
          <c:xMode val="edge"/>
          <c:yMode val="edge"/>
          <c:x val="0.69144334852880229"/>
          <c:y val="0.27330958085339591"/>
          <c:w val="0.26415148568623753"/>
          <c:h val="0.561889138857642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A9CF-77E6-416E-8432-60F95703F9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53C0F6-9153-4EF6-908F-36A0BF44B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53847A-16FD-4741-8307-E04E6143117E}"/>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FF2F9F1B-AE16-4EDB-847D-00519B9088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41F9E-79BF-463D-9E0E-5EA27E2F4561}"/>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3954117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E65A-9FE7-4FD9-BAEF-A308A8767A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1D4C02-BE83-4501-8435-24208299F6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925009-A4A8-49F8-A4BF-C139892AA446}"/>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3176605B-CF14-4F52-AF6A-EB75B45E65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36FB6-B6A1-4649-ADCC-D1CA6A0E4BC8}"/>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2475583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7A6E-C5C6-4C8C-A13F-9E638690BE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CE6C21-5E97-4795-B87F-F709897613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1A6F5E-DBD8-41EE-9F48-A9D592995855}"/>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F6127C20-8089-4718-AC95-CA5C6704C0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2D4C43-C888-42E9-A9FB-7808111DA81F}"/>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459667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F739-9E29-4AE9-BD2F-5B37635F98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9B2F3C-9678-43CF-BDAE-7E09053AB3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842BB8-E2C7-4451-8595-B4117D814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C35C63-6668-4633-B943-A22CC7B68111}"/>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6" name="Footer Placeholder 5">
            <a:extLst>
              <a:ext uri="{FF2B5EF4-FFF2-40B4-BE49-F238E27FC236}">
                <a16:creationId xmlns:a16="http://schemas.microsoft.com/office/drawing/2014/main" id="{94EEF2A0-EC73-40F6-A2FA-2CCADA299C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2F7498-C0D3-4703-B18E-BB1DA3B4EE4B}"/>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2538300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0D66-6E95-4105-9486-B043A0639D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31A0A1-6296-4B1D-B1CE-B3A5B411F3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082206-3D32-4372-AB2F-C35F29BEE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46C7EB-CF44-4317-BF58-FC60357115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D45388-A7B5-4429-9268-33B9348A1E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657639-CE66-4464-80B2-3FAAE6B21EE5}"/>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8" name="Footer Placeholder 7">
            <a:extLst>
              <a:ext uri="{FF2B5EF4-FFF2-40B4-BE49-F238E27FC236}">
                <a16:creationId xmlns:a16="http://schemas.microsoft.com/office/drawing/2014/main" id="{63A1FBC0-ECED-4C6A-B835-1EBFD8A351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32039E-47BE-4DA9-8CC1-C2EFE0CB875B}"/>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90695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7F27-62BB-49F4-809D-E2733A9EB7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962420-857A-4C02-8A7C-987FB403206E}"/>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4" name="Footer Placeholder 3">
            <a:extLst>
              <a:ext uri="{FF2B5EF4-FFF2-40B4-BE49-F238E27FC236}">
                <a16:creationId xmlns:a16="http://schemas.microsoft.com/office/drawing/2014/main" id="{A193FB1D-86EB-474F-8884-FAC3589F5F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552DC0-54BE-46AC-B4FB-1D272D25CD1C}"/>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300926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80FBA-1340-44CC-AEFF-AE71667C450A}"/>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3" name="Footer Placeholder 2">
            <a:extLst>
              <a:ext uri="{FF2B5EF4-FFF2-40B4-BE49-F238E27FC236}">
                <a16:creationId xmlns:a16="http://schemas.microsoft.com/office/drawing/2014/main" id="{2D51D4B7-4051-40ED-8246-D5EF158D08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120744-3411-4EBA-93AF-5155A909C9B7}"/>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25618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AFF8-DF23-48F7-B3A7-068E002C6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34B701-F0F3-460F-810E-8FCCCDE6F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F05471-EE11-4473-A653-64D2573C8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41E244-CBDB-4419-B5DF-F65E6C1A185B}"/>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6" name="Footer Placeholder 5">
            <a:extLst>
              <a:ext uri="{FF2B5EF4-FFF2-40B4-BE49-F238E27FC236}">
                <a16:creationId xmlns:a16="http://schemas.microsoft.com/office/drawing/2014/main" id="{42C790F4-31B8-4022-AA49-7269859B47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1AD29C-CCD2-4C53-B522-2082F3E34AA9}"/>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81693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16FB-12C0-47ED-9044-CA4E987A7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81142E-881D-4015-8E88-9A9C58380F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599DDD-83FB-4622-B42A-AB92C3FC1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73F53D-1131-4F79-9410-186AF6A9BE91}"/>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6" name="Footer Placeholder 5">
            <a:extLst>
              <a:ext uri="{FF2B5EF4-FFF2-40B4-BE49-F238E27FC236}">
                <a16:creationId xmlns:a16="http://schemas.microsoft.com/office/drawing/2014/main" id="{8D799209-3672-4F62-82ED-A00515512E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B5AEC3-5FB7-4977-BCA8-9D31D6DBA632}"/>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102446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CF2A6-6CDC-4F81-9BAF-1E8D46B9B7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9512F6-DFAC-426E-9FDB-DCCF32FCD0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9A689A-3085-40E5-A69B-0E800159489D}"/>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3C7FCEF8-3E1B-4FEC-89E1-994F71ECE7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37BED3-8A58-439A-8A7E-B7D5925F1279}"/>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1959179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996F1-9E36-413F-B115-3D09D3B6A5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4ACDC6-8BFE-4EE2-A6DC-810D2933B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194F53-B6FC-489E-9E1C-A4F53499BD11}"/>
              </a:ext>
            </a:extLst>
          </p:cNvPr>
          <p:cNvSpPr>
            <a:spLocks noGrp="1"/>
          </p:cNvSpPr>
          <p:nvPr>
            <p:ph type="dt" sz="half" idx="10"/>
          </p:nvPr>
        </p:nvSpPr>
        <p:spPr/>
        <p:txBody>
          <a:body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1A6690CD-FC13-4D83-BCFC-AECD91D385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F07BCD-E1EB-4552-9B64-88D937050104}"/>
              </a:ext>
            </a:extLst>
          </p:cNvPr>
          <p:cNvSpPr>
            <a:spLocks noGrp="1"/>
          </p:cNvSpPr>
          <p:nvPr>
            <p:ph type="sldNum" sz="quarter" idx="12"/>
          </p:nvPr>
        </p:nvSpPr>
        <p:spPr/>
        <p:txBody>
          <a:bodyPr/>
          <a:lstStyle/>
          <a:p>
            <a:fld id="{F85D5EBA-1908-4B20-AD89-8806DD535C75}" type="slidenum">
              <a:rPr lang="en-IN" smtClean="0"/>
              <a:t>‹#›</a:t>
            </a:fld>
            <a:endParaRPr lang="en-IN"/>
          </a:p>
        </p:txBody>
      </p:sp>
    </p:spTree>
    <p:extLst>
      <p:ext uri="{BB962C8B-B14F-4D97-AF65-F5344CB8AC3E}">
        <p14:creationId xmlns:p14="http://schemas.microsoft.com/office/powerpoint/2010/main" val="2355356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3D20E-FC4F-4040-B046-D9DFA6A5B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F3858B-4200-43D6-A1D0-9FFD0B56C2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481242-21D0-4F11-873B-692B901E6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54C4AD-EDA5-4A0C-9EFA-C77D97FF418D}" type="datetimeFigureOut">
              <a:rPr lang="en-IN" smtClean="0"/>
              <a:t>27-11-2025</a:t>
            </a:fld>
            <a:endParaRPr lang="en-IN"/>
          </a:p>
        </p:txBody>
      </p:sp>
      <p:sp>
        <p:nvSpPr>
          <p:cNvPr id="5" name="Footer Placeholder 4">
            <a:extLst>
              <a:ext uri="{FF2B5EF4-FFF2-40B4-BE49-F238E27FC236}">
                <a16:creationId xmlns:a16="http://schemas.microsoft.com/office/drawing/2014/main" id="{40185EF5-1E75-44AB-B744-BA1F74B13D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A0E630-BA13-4B15-AAB7-E9222D0221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5D5EBA-1908-4B20-AD89-8806DD535C75}" type="slidenum">
              <a:rPr lang="en-IN" smtClean="0"/>
              <a:t>‹#›</a:t>
            </a:fld>
            <a:endParaRPr lang="en-IN"/>
          </a:p>
        </p:txBody>
      </p:sp>
    </p:spTree>
    <p:extLst>
      <p:ext uri="{BB962C8B-B14F-4D97-AF65-F5344CB8AC3E}">
        <p14:creationId xmlns:p14="http://schemas.microsoft.com/office/powerpoint/2010/main" val="2618446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CB67-149F-4D32-8EF5-D2D4FDDF89D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ADB73D0-9935-41E9-A684-4C82BC137DB9}"/>
              </a:ext>
            </a:extLst>
          </p:cNvPr>
          <p:cNvSpPr>
            <a:spLocks noGrp="1"/>
          </p:cNvSpPr>
          <p:nvPr>
            <p:ph type="subTitle" idx="1"/>
          </p:nvPr>
        </p:nvSpPr>
        <p:spPr/>
        <p:txBody>
          <a:bodyPr/>
          <a:lstStyle/>
          <a:p>
            <a:endParaRPr lang="en-IN"/>
          </a:p>
        </p:txBody>
      </p:sp>
      <p:sp>
        <p:nvSpPr>
          <p:cNvPr id="7" name="TextBox 6">
            <a:extLst>
              <a:ext uri="{FF2B5EF4-FFF2-40B4-BE49-F238E27FC236}">
                <a16:creationId xmlns:a16="http://schemas.microsoft.com/office/drawing/2014/main" id="{A44C4845-1970-41F4-AB0B-15E9AD5CB665}"/>
              </a:ext>
            </a:extLst>
          </p:cNvPr>
          <p:cNvSpPr txBox="1"/>
          <p:nvPr/>
        </p:nvSpPr>
        <p:spPr>
          <a:xfrm>
            <a:off x="3048000" y="-379735"/>
            <a:ext cx="6096000" cy="7617470"/>
          </a:xfrm>
          <a:prstGeom prst="rect">
            <a:avLst/>
          </a:prstGeom>
          <a:noFill/>
        </p:spPr>
        <p:txBody>
          <a:bodyPr wrap="square">
            <a:spAutoFit/>
          </a:bodyPr>
          <a:lstStyle/>
          <a:p>
            <a:pPr indent="270510" algn="ctr">
              <a:spcAft>
                <a:spcPts val="1200"/>
              </a:spcAft>
            </a:pPr>
            <a:r>
              <a:rPr lang="en-IN" sz="3200" b="1" dirty="0">
                <a:solidFill>
                  <a:srgbClr val="000000"/>
                </a:solidFill>
                <a:effectLst/>
                <a:latin typeface="Times New Roman" panose="02020603050405020304" pitchFamily="18" charset="0"/>
                <a:ea typeface="MS Mincho" panose="02020609040205080304" pitchFamily="49" charset="-128"/>
              </a:rPr>
              <a:t>FEDERATED IMPROVED </a:t>
            </a:r>
            <a:r>
              <a:rPr lang="en-US" sz="3200" b="1" dirty="0">
                <a:solidFill>
                  <a:srgbClr val="000000"/>
                </a:solidFill>
                <a:effectLst/>
                <a:latin typeface="Times New Roman" panose="02020603050405020304" pitchFamily="18" charset="0"/>
                <a:ea typeface="MS Mincho" panose="02020609040205080304" pitchFamily="49" charset="-128"/>
              </a:rPr>
              <a:t>RE-FED INCREMENTAL LEARNING WITH SPIKING LONG SHORT-TERM MEMORY </a:t>
            </a:r>
            <a:r>
              <a:rPr lang="en-IN" sz="3200" b="1" dirty="0">
                <a:solidFill>
                  <a:srgbClr val="000000"/>
                </a:solidFill>
                <a:effectLst/>
                <a:latin typeface="Times New Roman" panose="02020603050405020304" pitchFamily="18" charset="0"/>
                <a:ea typeface="MS Mincho" panose="02020609040205080304" pitchFamily="49" charset="-128"/>
              </a:rPr>
              <a:t> NETWORK FOR SMART HEALTHCARE SYSTEMS</a:t>
            </a:r>
            <a:endParaRPr lang="en-IN" sz="4800" dirty="0">
              <a:effectLst/>
              <a:latin typeface="Times New Roman" panose="02020603050405020304" pitchFamily="18" charset="0"/>
              <a:ea typeface="MS Mincho" panose="02020609040205080304" pitchFamily="49" charset="-128"/>
            </a:endParaRPr>
          </a:p>
          <a:p>
            <a:pPr algn="ctr">
              <a:spcAft>
                <a:spcPts val="600"/>
              </a:spcAft>
            </a:pPr>
            <a:r>
              <a:rPr lang="en-IN" sz="1800" b="1" dirty="0">
                <a:solidFill>
                  <a:srgbClr val="000000"/>
                </a:solidFill>
                <a:effectLst/>
                <a:latin typeface="Times New Roman" panose="02020603050405020304" pitchFamily="18" charset="0"/>
                <a:ea typeface="MS Mincho" panose="02020609040205080304" pitchFamily="49" charset="-128"/>
              </a:rPr>
              <a:t> </a:t>
            </a:r>
            <a:endParaRPr lang="en-IN" sz="4800" dirty="0">
              <a:effectLst/>
              <a:latin typeface="Times New Roman" panose="02020603050405020304" pitchFamily="18" charset="0"/>
              <a:ea typeface="MS Mincho" panose="02020609040205080304" pitchFamily="49" charset="-128"/>
            </a:endParaRPr>
          </a:p>
          <a:p>
            <a:pPr algn="ctr">
              <a:spcBef>
                <a:spcPts val="1200"/>
              </a:spcBef>
            </a:pPr>
            <a:r>
              <a:rPr lang="en-IN" sz="2800" b="1" dirty="0">
                <a:solidFill>
                  <a:srgbClr val="000000"/>
                </a:solidFill>
                <a:effectLst/>
                <a:latin typeface="Times New Roman" panose="02020603050405020304" pitchFamily="18" charset="0"/>
                <a:ea typeface="Times New Roman" panose="02020603050405020304" pitchFamily="18" charset="0"/>
              </a:rPr>
              <a:t>G. Sasikala</a:t>
            </a:r>
            <a:r>
              <a:rPr lang="en-IN" sz="2800" b="1" baseline="30000" dirty="0">
                <a:solidFill>
                  <a:srgbClr val="000000"/>
                </a:solidFill>
                <a:effectLst/>
                <a:latin typeface="Times New Roman" panose="02020603050405020304" pitchFamily="18" charset="0"/>
                <a:ea typeface="Times New Roman" panose="02020603050405020304" pitchFamily="18" charset="0"/>
              </a:rPr>
              <a:t>1</a:t>
            </a:r>
            <a:r>
              <a:rPr lang="en-IN" sz="2800" b="1" dirty="0">
                <a:solidFill>
                  <a:srgbClr val="000000"/>
                </a:solidFill>
                <a:effectLst/>
                <a:latin typeface="Times New Roman" panose="02020603050405020304" pitchFamily="18" charset="0"/>
                <a:ea typeface="Times New Roman" panose="02020603050405020304" pitchFamily="18" charset="0"/>
              </a:rPr>
              <a:t> and </a:t>
            </a:r>
            <a:r>
              <a:rPr lang="en-IN" sz="2800" b="1" dirty="0" err="1">
                <a:solidFill>
                  <a:srgbClr val="000000"/>
                </a:solidFill>
                <a:effectLst/>
                <a:latin typeface="Times New Roman" panose="02020603050405020304" pitchFamily="18" charset="0"/>
                <a:ea typeface="Times New Roman" panose="02020603050405020304" pitchFamily="18" charset="0"/>
              </a:rPr>
              <a:t>Dr.</a:t>
            </a:r>
            <a:r>
              <a:rPr lang="en-IN" sz="2800" b="1" dirty="0">
                <a:solidFill>
                  <a:srgbClr val="000000"/>
                </a:solidFill>
                <a:effectLst/>
                <a:latin typeface="Times New Roman" panose="02020603050405020304" pitchFamily="18" charset="0"/>
                <a:ea typeface="Times New Roman" panose="02020603050405020304" pitchFamily="18" charset="0"/>
              </a:rPr>
              <a:t> G. Kalpana</a:t>
            </a:r>
            <a:r>
              <a:rPr lang="en-IN" sz="2800" b="1" baseline="30000" dirty="0">
                <a:solidFill>
                  <a:srgbClr val="000000"/>
                </a:solidFill>
                <a:effectLst/>
                <a:latin typeface="Times New Roman" panose="02020603050405020304" pitchFamily="18" charset="0"/>
                <a:ea typeface="Times New Roman" panose="02020603050405020304" pitchFamily="18" charset="0"/>
              </a:rPr>
              <a:t>2</a:t>
            </a:r>
            <a:endParaRPr lang="en-IN" sz="2800" dirty="0">
              <a:effectLst/>
              <a:latin typeface="Times New Roman" panose="02020603050405020304" pitchFamily="18" charset="0"/>
              <a:ea typeface="Times New Roman" panose="02020603050405020304" pitchFamily="18" charset="0"/>
            </a:endParaRPr>
          </a:p>
          <a:p>
            <a:pPr algn="ctr"/>
            <a:r>
              <a:rPr lang="en-IN" sz="1800" i="1" baseline="30000" dirty="0">
                <a:solidFill>
                  <a:srgbClr val="000000"/>
                </a:solidFill>
                <a:effectLst/>
                <a:latin typeface="Times New Roman" panose="02020603050405020304" pitchFamily="18" charset="0"/>
                <a:ea typeface="Times New Roman" panose="02020603050405020304" pitchFamily="18" charset="0"/>
              </a:rPr>
              <a:t>1</a:t>
            </a:r>
            <a:r>
              <a:rPr lang="en-IN" sz="1800" i="1" dirty="0">
                <a:solidFill>
                  <a:srgbClr val="000000"/>
                </a:solidFill>
                <a:effectLst/>
                <a:latin typeface="Times New Roman" panose="02020603050405020304" pitchFamily="18" charset="0"/>
                <a:ea typeface="Times New Roman" panose="02020603050405020304" pitchFamily="18" charset="0"/>
              </a:rPr>
              <a:t>Assistant Professor, Department of Computer Science, </a:t>
            </a:r>
            <a:r>
              <a:rPr lang="en-IN" sz="1800" i="1" dirty="0" err="1">
                <a:solidFill>
                  <a:srgbClr val="000000"/>
                </a:solidFill>
                <a:effectLst/>
                <a:latin typeface="Times New Roman" panose="02020603050405020304" pitchFamily="18" charset="0"/>
                <a:ea typeface="Times New Roman" panose="02020603050405020304" pitchFamily="18" charset="0"/>
              </a:rPr>
              <a:t>Dr.</a:t>
            </a:r>
            <a:r>
              <a:rPr lang="en-IN" sz="1800" i="1" dirty="0">
                <a:solidFill>
                  <a:srgbClr val="000000"/>
                </a:solidFill>
                <a:effectLst/>
                <a:latin typeface="Times New Roman" panose="02020603050405020304" pitchFamily="18" charset="0"/>
                <a:ea typeface="Times New Roman" panose="02020603050405020304" pitchFamily="18" charset="0"/>
              </a:rPr>
              <a:t> G. R. Damodaran College of Science, Coimbatore, India</a:t>
            </a:r>
            <a:endParaRPr lang="en-IN" sz="2800" dirty="0">
              <a:effectLst/>
              <a:latin typeface="Times New Roman" panose="02020603050405020304" pitchFamily="18" charset="0"/>
              <a:ea typeface="Times New Roman" panose="02020603050405020304" pitchFamily="18" charset="0"/>
            </a:endParaRPr>
          </a:p>
          <a:p>
            <a:pPr algn="ctr"/>
            <a:r>
              <a:rPr lang="en-IN" sz="1600" dirty="0">
                <a:solidFill>
                  <a:srgbClr val="000000"/>
                </a:solidFill>
                <a:effectLst/>
                <a:latin typeface="Times New Roman" panose="02020603050405020304" pitchFamily="18" charset="0"/>
                <a:ea typeface="Times New Roman" panose="02020603050405020304" pitchFamily="18" charset="0"/>
              </a:rPr>
              <a:t>E-mail: sasikala.g@grd.edu.in</a:t>
            </a:r>
            <a:endParaRPr lang="en-IN" sz="2800" dirty="0">
              <a:effectLst/>
              <a:latin typeface="Times New Roman" panose="02020603050405020304" pitchFamily="18" charset="0"/>
              <a:ea typeface="Times New Roman" panose="02020603050405020304" pitchFamily="18" charset="0"/>
            </a:endParaRPr>
          </a:p>
          <a:p>
            <a:pPr algn="ctr"/>
            <a:r>
              <a:rPr lang="en-IN" sz="1800" i="1" baseline="30000" dirty="0">
                <a:solidFill>
                  <a:srgbClr val="000000"/>
                </a:solidFill>
                <a:effectLst/>
                <a:latin typeface="Times New Roman" panose="02020603050405020304" pitchFamily="18" charset="0"/>
                <a:ea typeface="Times New Roman" panose="02020603050405020304" pitchFamily="18" charset="0"/>
              </a:rPr>
              <a:t>2</a:t>
            </a:r>
            <a:r>
              <a:rPr lang="en-IN" sz="1800" i="1" dirty="0">
                <a:solidFill>
                  <a:srgbClr val="000000"/>
                </a:solidFill>
                <a:effectLst/>
                <a:latin typeface="Times New Roman" panose="02020603050405020304" pitchFamily="18" charset="0"/>
                <a:ea typeface="Times New Roman" panose="02020603050405020304" pitchFamily="18" charset="0"/>
              </a:rPr>
              <a:t> Associate Professor, Department of Computer Science</a:t>
            </a:r>
            <a:r>
              <a:rPr lang="en-IN" sz="1800" dirty="0">
                <a:solidFill>
                  <a:srgbClr val="000000"/>
                </a:solidFill>
                <a:effectLst/>
                <a:latin typeface="Times New Roman" panose="02020603050405020304" pitchFamily="18" charset="0"/>
                <a:ea typeface="Times New Roman" panose="02020603050405020304" pitchFamily="18" charset="0"/>
              </a:rPr>
              <a:t>, </a:t>
            </a:r>
            <a:r>
              <a:rPr lang="en-IN" sz="1800" i="1" dirty="0">
                <a:solidFill>
                  <a:srgbClr val="000000"/>
                </a:solidFill>
                <a:effectLst/>
                <a:latin typeface="Times New Roman" panose="02020603050405020304" pitchFamily="18" charset="0"/>
                <a:ea typeface="Times New Roman" panose="02020603050405020304" pitchFamily="18" charset="0"/>
              </a:rPr>
              <a:t>Sri Ramakrishna College of Arts &amp; Science for Women, </a:t>
            </a:r>
            <a:r>
              <a:rPr lang="en-IN" sz="1800" dirty="0">
                <a:solidFill>
                  <a:srgbClr val="000000"/>
                </a:solidFill>
                <a:effectLst/>
                <a:latin typeface="Times New Roman" panose="02020603050405020304" pitchFamily="18" charset="0"/>
                <a:ea typeface="Times New Roman" panose="02020603050405020304" pitchFamily="18" charset="0"/>
              </a:rPr>
              <a:t>Coimbatore, India</a:t>
            </a:r>
            <a:endParaRPr lang="en-IN" sz="2800" dirty="0">
              <a:effectLst/>
              <a:latin typeface="Times New Roman" panose="02020603050405020304" pitchFamily="18" charset="0"/>
              <a:ea typeface="Times New Roman" panose="02020603050405020304" pitchFamily="18" charset="0"/>
            </a:endParaRPr>
          </a:p>
          <a:p>
            <a:pPr algn="ctr"/>
            <a:r>
              <a:rPr lang="en-IN" sz="1600" dirty="0">
                <a:solidFill>
                  <a:srgbClr val="000000"/>
                </a:solidFill>
                <a:effectLst/>
                <a:latin typeface="Times New Roman" panose="02020603050405020304" pitchFamily="18" charset="0"/>
                <a:ea typeface="Times New Roman" panose="02020603050405020304" pitchFamily="18" charset="0"/>
              </a:rPr>
              <a:t>E-mail: kalpanacs@srcw.ac.in</a:t>
            </a:r>
            <a:endParaRPr lang="en-IN" sz="2800" dirty="0">
              <a:effectLst/>
              <a:latin typeface="Times New Roman" panose="02020603050405020304" pitchFamily="18" charset="0"/>
              <a:ea typeface="Times New Roman" panose="02020603050405020304" pitchFamily="18" charset="0"/>
            </a:endParaRPr>
          </a:p>
          <a:p>
            <a:br>
              <a:rPr lang="en-US" sz="1800" dirty="0">
                <a:solidFill>
                  <a:srgbClr val="000000"/>
                </a:solidFill>
                <a:effectLst/>
                <a:latin typeface="Times New Roman" panose="02020603050405020304" pitchFamily="18" charset="0"/>
                <a:ea typeface="SimSun" panose="02010600030101010101" pitchFamily="2" charset="-122"/>
              </a:rPr>
            </a:br>
            <a:endParaRPr lang="en-IN" dirty="0">
              <a:effectLst/>
            </a:endParaRPr>
          </a:p>
          <a:p>
            <a:br>
              <a:rPr lang="en-US" sz="1800" dirty="0">
                <a:solidFill>
                  <a:srgbClr val="000000"/>
                </a:solidFill>
                <a:effectLst/>
                <a:latin typeface="Times New Roman" panose="02020603050405020304" pitchFamily="18" charset="0"/>
                <a:ea typeface="SimSun" panose="02010600030101010101" pitchFamily="2" charset="-122"/>
              </a:rPr>
            </a:br>
            <a:endParaRPr lang="en-IN" dirty="0"/>
          </a:p>
        </p:txBody>
      </p:sp>
    </p:spTree>
    <p:extLst>
      <p:ext uri="{BB962C8B-B14F-4D97-AF65-F5344CB8AC3E}">
        <p14:creationId xmlns:p14="http://schemas.microsoft.com/office/powerpoint/2010/main" val="3740355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65D661-3152-413D-8390-266C5FA6EE86}"/>
              </a:ext>
            </a:extLst>
          </p:cNvPr>
          <p:cNvSpPr txBox="1"/>
          <p:nvPr/>
        </p:nvSpPr>
        <p:spPr>
          <a:xfrm>
            <a:off x="3047134" y="2551837"/>
            <a:ext cx="6094268" cy="1754326"/>
          </a:xfrm>
          <a:prstGeom prst="rect">
            <a:avLst/>
          </a:prstGeom>
          <a:noFill/>
        </p:spPr>
        <p:txBody>
          <a:bodyPr wrap="square">
            <a:spAutoFit/>
          </a:bodyPr>
          <a:lstStyle/>
          <a:p>
            <a:pPr>
              <a:buFont typeface="Arial" panose="020B0604020202020204" pitchFamily="34" charset="0"/>
              <a:buChar char="•"/>
            </a:pPr>
            <a:r>
              <a:rPr lang="en-US" dirty="0"/>
              <a:t>IoMT sector evolving rapidly (from wristwatches to airplanes)</a:t>
            </a:r>
          </a:p>
          <a:p>
            <a:pPr>
              <a:buFont typeface="Arial" panose="020B0604020202020204" pitchFamily="34" charset="0"/>
              <a:buChar char="•"/>
            </a:pPr>
            <a:r>
              <a:rPr lang="en-US" dirty="0"/>
              <a:t>Smart Health Care (SHC) uses IoMT, cloud-edge computing, AI</a:t>
            </a:r>
          </a:p>
          <a:p>
            <a:pPr>
              <a:buFont typeface="Arial" panose="020B0604020202020204" pitchFamily="34" charset="0"/>
              <a:buChar char="•"/>
            </a:pPr>
            <a:r>
              <a:rPr lang="en-US" dirty="0"/>
              <a:t>Cloud deep learning uses large memory and high processing cost</a:t>
            </a:r>
          </a:p>
          <a:p>
            <a:pPr>
              <a:buFont typeface="Arial" panose="020B0604020202020204" pitchFamily="34" charset="0"/>
              <a:buChar char="•"/>
            </a:pPr>
            <a:r>
              <a:rPr lang="en-US" dirty="0"/>
              <a:t>FL allows hospitals/edge clients to train together without sharing raw medical data</a:t>
            </a:r>
          </a:p>
        </p:txBody>
      </p:sp>
    </p:spTree>
    <p:extLst>
      <p:ext uri="{BB962C8B-B14F-4D97-AF65-F5344CB8AC3E}">
        <p14:creationId xmlns:p14="http://schemas.microsoft.com/office/powerpoint/2010/main" val="76344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1951F3-0DB7-44AA-AE2C-0EDE91AA2CCC}"/>
              </a:ext>
            </a:extLst>
          </p:cNvPr>
          <p:cNvSpPr txBox="1"/>
          <p:nvPr/>
        </p:nvSpPr>
        <p:spPr>
          <a:xfrm>
            <a:off x="2611120" y="583476"/>
            <a:ext cx="6096000" cy="1200329"/>
          </a:xfrm>
          <a:prstGeom prst="rect">
            <a:avLst/>
          </a:prstGeom>
          <a:noFill/>
        </p:spPr>
        <p:txBody>
          <a:bodyPr wrap="square">
            <a:spAutoFit/>
          </a:bodyPr>
          <a:lstStyle/>
          <a:p>
            <a:r>
              <a:rPr lang="en-US" dirty="0"/>
              <a:t>Federated Learning (FL) is a method where many hospitals or devices train one AI model together, but they do not share their real patient data. They share only what the model learned (numbers called weights).</a:t>
            </a:r>
            <a:endParaRPr lang="en-IN" dirty="0"/>
          </a:p>
        </p:txBody>
      </p:sp>
      <p:sp>
        <p:nvSpPr>
          <p:cNvPr id="5" name="TextBox 4">
            <a:extLst>
              <a:ext uri="{FF2B5EF4-FFF2-40B4-BE49-F238E27FC236}">
                <a16:creationId xmlns:a16="http://schemas.microsoft.com/office/drawing/2014/main" id="{783FC416-0081-425C-9C0F-34731E9AC8F6}"/>
              </a:ext>
            </a:extLst>
          </p:cNvPr>
          <p:cNvSpPr txBox="1"/>
          <p:nvPr/>
        </p:nvSpPr>
        <p:spPr>
          <a:xfrm>
            <a:off x="2971800" y="1880755"/>
            <a:ext cx="6172200" cy="1754326"/>
          </a:xfrm>
          <a:prstGeom prst="rect">
            <a:avLst/>
          </a:prstGeom>
          <a:noFill/>
        </p:spPr>
        <p:txBody>
          <a:bodyPr wrap="square">
            <a:spAutoFit/>
          </a:bodyPr>
          <a:lstStyle/>
          <a:p>
            <a:pPr>
              <a:buFont typeface="+mj-lt"/>
              <a:buAutoNum type="arabicPeriod"/>
            </a:pPr>
            <a:r>
              <a:rPr lang="en-US" dirty="0"/>
              <a:t>Each hospital/device trains the model </a:t>
            </a:r>
            <a:r>
              <a:rPr lang="en-US" b="1" dirty="0"/>
              <a:t>inside its own system</a:t>
            </a:r>
            <a:endParaRPr lang="en-US" dirty="0"/>
          </a:p>
          <a:p>
            <a:pPr>
              <a:buFont typeface="+mj-lt"/>
              <a:buAutoNum type="arabicPeriod"/>
            </a:pPr>
            <a:r>
              <a:rPr lang="en-US" dirty="0"/>
              <a:t>After training, it sends only </a:t>
            </a:r>
            <a:r>
              <a:rPr lang="en-US" b="1" dirty="0"/>
              <a:t>model weights (numbers)</a:t>
            </a:r>
            <a:r>
              <a:rPr lang="en-US" dirty="0"/>
              <a:t> to server</a:t>
            </a:r>
          </a:p>
          <a:p>
            <a:pPr>
              <a:buFont typeface="+mj-lt"/>
              <a:buAutoNum type="arabicPeriod"/>
            </a:pPr>
            <a:r>
              <a:rPr lang="en-US" dirty="0"/>
              <a:t>Server combines (aggregates) all weights into </a:t>
            </a:r>
            <a:r>
              <a:rPr lang="en-US" b="1" dirty="0"/>
              <a:t>one global model</a:t>
            </a:r>
            <a:endParaRPr lang="en-US" dirty="0"/>
          </a:p>
          <a:p>
            <a:pPr>
              <a:buFont typeface="+mj-lt"/>
              <a:buAutoNum type="arabicPeriod"/>
            </a:pPr>
            <a:r>
              <a:rPr lang="en-US" dirty="0"/>
              <a:t>Global model goes back to clients for the next learning round</a:t>
            </a:r>
          </a:p>
        </p:txBody>
      </p:sp>
      <p:pic>
        <p:nvPicPr>
          <p:cNvPr id="6" name="Picture 5">
            <a:extLst>
              <a:ext uri="{FF2B5EF4-FFF2-40B4-BE49-F238E27FC236}">
                <a16:creationId xmlns:a16="http://schemas.microsoft.com/office/drawing/2014/main" id="{00481D38-D33D-4823-9FFB-999003A6513B}"/>
              </a:ext>
            </a:extLst>
          </p:cNvPr>
          <p:cNvPicPr>
            <a:picLocks noChangeAspect="1"/>
          </p:cNvPicPr>
          <p:nvPr/>
        </p:nvPicPr>
        <p:blipFill>
          <a:blip r:embed="rId2"/>
          <a:stretch>
            <a:fillRect/>
          </a:stretch>
        </p:blipFill>
        <p:spPr>
          <a:xfrm>
            <a:off x="3304309" y="3732031"/>
            <a:ext cx="4998027" cy="2855805"/>
          </a:xfrm>
          <a:prstGeom prst="rect">
            <a:avLst/>
          </a:prstGeom>
        </p:spPr>
      </p:pic>
    </p:spTree>
    <p:extLst>
      <p:ext uri="{BB962C8B-B14F-4D97-AF65-F5344CB8AC3E}">
        <p14:creationId xmlns:p14="http://schemas.microsoft.com/office/powerpoint/2010/main" val="1456941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0CFB0A4-05B2-4C13-8C10-626A083C68AF}"/>
              </a:ext>
            </a:extLst>
          </p:cNvPr>
          <p:cNvGraphicFramePr>
            <a:graphicFrameLocks noGrp="1"/>
          </p:cNvGraphicFramePr>
          <p:nvPr>
            <p:extLst>
              <p:ext uri="{D42A27DB-BD31-4B8C-83A1-F6EECF244321}">
                <p14:modId xmlns:p14="http://schemas.microsoft.com/office/powerpoint/2010/main" val="390345086"/>
              </p:ext>
            </p:extLst>
          </p:nvPr>
        </p:nvGraphicFramePr>
        <p:xfrm>
          <a:off x="548640" y="-233680"/>
          <a:ext cx="11226801" cy="9977970"/>
        </p:xfrm>
        <a:graphic>
          <a:graphicData uri="http://schemas.openxmlformats.org/drawingml/2006/table">
            <a:tbl>
              <a:tblPr/>
              <a:tblGrid>
                <a:gridCol w="3742267">
                  <a:extLst>
                    <a:ext uri="{9D8B030D-6E8A-4147-A177-3AD203B41FA5}">
                      <a16:colId xmlns:a16="http://schemas.microsoft.com/office/drawing/2014/main" val="3737913802"/>
                    </a:ext>
                  </a:extLst>
                </a:gridCol>
                <a:gridCol w="3742267">
                  <a:extLst>
                    <a:ext uri="{9D8B030D-6E8A-4147-A177-3AD203B41FA5}">
                      <a16:colId xmlns:a16="http://schemas.microsoft.com/office/drawing/2014/main" val="3923361297"/>
                    </a:ext>
                  </a:extLst>
                </a:gridCol>
                <a:gridCol w="3742267">
                  <a:extLst>
                    <a:ext uri="{9D8B030D-6E8A-4147-A177-3AD203B41FA5}">
                      <a16:colId xmlns:a16="http://schemas.microsoft.com/office/drawing/2014/main" val="3811057045"/>
                    </a:ext>
                  </a:extLst>
                </a:gridCol>
              </a:tblGrid>
              <a:tr h="207911">
                <a:tc>
                  <a:txBody>
                    <a:bodyPr/>
                    <a:lstStyle/>
                    <a:p>
                      <a:r>
                        <a:rPr lang="en-IN" sz="1200" b="1">
                          <a:latin typeface="Times New Roman" panose="02020603050405020304" pitchFamily="18" charset="0"/>
                          <a:cs typeface="Times New Roman" panose="02020603050405020304" pitchFamily="18" charset="0"/>
                        </a:rPr>
                        <a:t>Ref</a:t>
                      </a:r>
                      <a:endParaRPr lang="en-IN"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tc>
                  <a:txBody>
                    <a:bodyPr/>
                    <a:lstStyle/>
                    <a:p>
                      <a:r>
                        <a:rPr lang="en-IN" sz="1200" b="1" dirty="0">
                          <a:latin typeface="Times New Roman" panose="02020603050405020304" pitchFamily="18" charset="0"/>
                          <a:cs typeface="Times New Roman" panose="02020603050405020304" pitchFamily="18" charset="0"/>
                        </a:rPr>
                        <a:t>Method</a:t>
                      </a:r>
                      <a:endParaRPr lang="en-IN" sz="1200" dirty="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tc>
                  <a:txBody>
                    <a:bodyPr/>
                    <a:lstStyle/>
                    <a:p>
                      <a:r>
                        <a:rPr lang="en-IN" sz="1200" b="1">
                          <a:latin typeface="Times New Roman" panose="02020603050405020304" pitchFamily="18" charset="0"/>
                          <a:cs typeface="Times New Roman" panose="02020603050405020304" pitchFamily="18" charset="0"/>
                        </a:rPr>
                        <a:t>Limitations</a:t>
                      </a:r>
                      <a:endParaRPr lang="en-IN"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2752480213"/>
                  </a:ext>
                </a:extLst>
              </a:tr>
              <a:tr h="778030">
                <a:tc>
                  <a:txBody>
                    <a:bodyPr/>
                    <a:lstStyle/>
                    <a:p>
                      <a:r>
                        <a:rPr lang="en-IN" sz="1200">
                          <a:latin typeface="Times New Roman" panose="02020603050405020304" pitchFamily="18" charset="0"/>
                          <a:cs typeface="Times New Roman" panose="02020603050405020304" pitchFamily="18" charset="0"/>
                        </a:rPr>
                        <a:t>[10]</a:t>
                      </a:r>
                    </a:p>
                  </a:txBody>
                  <a:tcPr marL="17199" marR="17199" marT="8599" marB="8599" anchor="ctr">
                    <a:lnL>
                      <a:noFill/>
                    </a:lnL>
                    <a:lnR>
                      <a:noFill/>
                    </a:lnR>
                    <a:lnT>
                      <a:noFill/>
                    </a:lnT>
                    <a:lnB>
                      <a:noFill/>
                    </a:lnB>
                  </a:tcPr>
                </a:tc>
                <a:tc>
                  <a:txBody>
                    <a:bodyPr/>
                    <a:lstStyle/>
                    <a:p>
                      <a:r>
                        <a:rPr lang="en-US" sz="1200" dirty="0" err="1">
                          <a:latin typeface="Times New Roman" panose="02020603050405020304" pitchFamily="18" charset="0"/>
                          <a:cs typeface="Times New Roman" panose="02020603050405020304" pitchFamily="18" charset="0"/>
                        </a:rPr>
                        <a:t>FedCSCD</a:t>
                      </a:r>
                      <a:r>
                        <a:rPr lang="en-US" sz="1200" dirty="0">
                          <a:latin typeface="Times New Roman" panose="02020603050405020304" pitchFamily="18" charset="0"/>
                          <a:cs typeface="Times New Roman" panose="02020603050405020304" pitchFamily="18" charset="0"/>
                        </a:rPr>
                        <a:t> (Federated Learning + GAN) for collaborative clinical </a:t>
                      </a:r>
                      <a:r>
                        <a:rPr lang="en-US" sz="1200" b="1" dirty="0">
                          <a:latin typeface="Times New Roman" panose="02020603050405020304" pitchFamily="18" charset="0"/>
                          <a:cs typeface="Times New Roman" panose="02020603050405020304" pitchFamily="18" charset="0"/>
                        </a:rPr>
                        <a:t>cancer diagnosis</a:t>
                      </a:r>
                      <a:endParaRPr lang="en-US" sz="1200" dirty="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GAN training introduces </a:t>
                      </a:r>
                      <a:r>
                        <a:rPr lang="en-US" sz="1200" b="1">
                          <a:latin typeface="Times New Roman" panose="02020603050405020304" pitchFamily="18" charset="0"/>
                          <a:cs typeface="Times New Roman" panose="02020603050405020304" pitchFamily="18" charset="0"/>
                        </a:rPr>
                        <a:t>high computational cost</a:t>
                      </a:r>
                      <a:r>
                        <a:rPr lang="en-US" sz="1200">
                          <a:latin typeface="Times New Roman" panose="02020603050405020304" pitchFamily="18" charset="0"/>
                          <a:cs typeface="Times New Roman" panose="02020603050405020304" pitchFamily="18" charset="0"/>
                        </a:rPr>
                        <a:t>, unsuitable for low-power edge clients. • Causes </a:t>
                      </a:r>
                      <a:r>
                        <a:rPr lang="en-US" sz="1200" b="1">
                          <a:latin typeface="Times New Roman" panose="02020603050405020304" pitchFamily="18" charset="0"/>
                          <a:cs typeface="Times New Roman" panose="02020603050405020304" pitchFamily="18" charset="0"/>
                        </a:rPr>
                        <a:t>communication overhead</a:t>
                      </a:r>
                      <a:r>
                        <a:rPr lang="en-US" sz="1200">
                          <a:latin typeface="Times New Roman" panose="02020603050405020304" pitchFamily="18" charset="0"/>
                          <a:cs typeface="Times New Roman" panose="02020603050405020304" pitchFamily="18" charset="0"/>
                        </a:rPr>
                        <a:t> due to iterative parameter exchange.</a:t>
                      </a:r>
                    </a:p>
                  </a:txBody>
                  <a:tcPr marL="17199" marR="17199" marT="8599" marB="8599" anchor="ctr">
                    <a:lnL>
                      <a:noFill/>
                    </a:lnL>
                    <a:lnR>
                      <a:noFill/>
                    </a:lnR>
                    <a:lnT>
                      <a:noFill/>
                    </a:lnT>
                    <a:lnB>
                      <a:noFill/>
                    </a:lnB>
                  </a:tcPr>
                </a:tc>
                <a:extLst>
                  <a:ext uri="{0D108BD9-81ED-4DB2-BD59-A6C34878D82A}">
                    <a16:rowId xmlns:a16="http://schemas.microsoft.com/office/drawing/2014/main" val="3872815976"/>
                  </a:ext>
                </a:extLst>
              </a:tr>
              <a:tr h="587991">
                <a:tc>
                  <a:txBody>
                    <a:bodyPr/>
                    <a:lstStyle/>
                    <a:p>
                      <a:r>
                        <a:rPr lang="en-IN" sz="1200">
                          <a:latin typeface="Times New Roman" panose="02020603050405020304" pitchFamily="18" charset="0"/>
                          <a:cs typeface="Times New Roman" panose="02020603050405020304" pitchFamily="18" charset="0"/>
                        </a:rPr>
                        <a:t>[11]</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FEDEHR (FL + IoT-based EHR) for </a:t>
                      </a:r>
                      <a:r>
                        <a:rPr lang="en-US" sz="1200" b="1" dirty="0">
                          <a:latin typeface="Times New Roman" panose="02020603050405020304" pitchFamily="18" charset="0"/>
                          <a:cs typeface="Times New Roman" panose="02020603050405020304" pitchFamily="18" charset="0"/>
                        </a:rPr>
                        <a:t>cardiac/heart-disease forecasting</a:t>
                      </a:r>
                      <a:endParaRPr lang="en-US" sz="1200" dirty="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Missing values, noise, and signal distortions</a:t>
                      </a:r>
                      <a:r>
                        <a:rPr lang="en-US" sz="1200">
                          <a:latin typeface="Times New Roman" panose="02020603050405020304" pitchFamily="18" charset="0"/>
                          <a:cs typeface="Times New Roman" panose="02020603050405020304" pitchFamily="18" charset="0"/>
                        </a:rPr>
                        <a:t> in IoT-EHR reduce model stability. • </a:t>
                      </a:r>
                      <a:r>
                        <a:rPr lang="en-US" sz="1200" b="1">
                          <a:latin typeface="Times New Roman" panose="02020603050405020304" pitchFamily="18" charset="0"/>
                          <a:cs typeface="Times New Roman" panose="02020603050405020304" pitchFamily="18" charset="0"/>
                        </a:rPr>
                        <a:t>Client heterogeneity</a:t>
                      </a:r>
                      <a:r>
                        <a:rPr lang="en-US" sz="1200">
                          <a:latin typeface="Times New Roman" panose="02020603050405020304" pitchFamily="18" charset="0"/>
                          <a:cs typeface="Times New Roman" panose="02020603050405020304" pitchFamily="18" charset="0"/>
                        </a:rPr>
                        <a:t> impacts global prediction consistency.</a:t>
                      </a:r>
                    </a:p>
                  </a:txBody>
                  <a:tcPr marL="17199" marR="17199" marT="8599" marB="8599" anchor="ctr">
                    <a:lnL>
                      <a:noFill/>
                    </a:lnL>
                    <a:lnR>
                      <a:noFill/>
                    </a:lnR>
                    <a:lnT>
                      <a:noFill/>
                    </a:lnT>
                    <a:lnB>
                      <a:noFill/>
                    </a:lnB>
                  </a:tcPr>
                </a:tc>
                <a:extLst>
                  <a:ext uri="{0D108BD9-81ED-4DB2-BD59-A6C34878D82A}">
                    <a16:rowId xmlns:a16="http://schemas.microsoft.com/office/drawing/2014/main" val="1725272261"/>
                  </a:ext>
                </a:extLst>
              </a:tr>
              <a:tr h="587991">
                <a:tc>
                  <a:txBody>
                    <a:bodyPr/>
                    <a:lstStyle/>
                    <a:p>
                      <a:r>
                        <a:rPr lang="en-IN" sz="1200" dirty="0">
                          <a:latin typeface="Times New Roman" panose="02020603050405020304" pitchFamily="18" charset="0"/>
                          <a:cs typeface="Times New Roman" panose="02020603050405020304" pitchFamily="18" charset="0"/>
                        </a:rPr>
                        <a:t>[12]</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FL + IoT-based </a:t>
                      </a:r>
                      <a:r>
                        <a:rPr lang="en-US" sz="1200" b="1" dirty="0">
                          <a:latin typeface="Times New Roman" panose="02020603050405020304" pitchFamily="18" charset="0"/>
                          <a:cs typeface="Times New Roman" panose="02020603050405020304" pitchFamily="18" charset="0"/>
                        </a:rPr>
                        <a:t>HER/EHR shared learning</a:t>
                      </a:r>
                      <a:r>
                        <a:rPr lang="en-US" sz="1200" dirty="0">
                          <a:latin typeface="Times New Roman" panose="02020603050405020304" pitchFamily="18" charset="0"/>
                          <a:cs typeface="Times New Roman" panose="02020603050405020304" pitchFamily="18" charset="0"/>
                        </a:rPr>
                        <a:t> for heart-disease prediction</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Affected by </a:t>
                      </a:r>
                      <a:r>
                        <a:rPr lang="en-US" sz="1200" b="1">
                          <a:latin typeface="Times New Roman" panose="02020603050405020304" pitchFamily="18" charset="0"/>
                          <a:cs typeface="Times New Roman" panose="02020603050405020304" pitchFamily="18" charset="0"/>
                        </a:rPr>
                        <a:t>class imbalance</a:t>
                      </a:r>
                      <a:r>
                        <a:rPr lang="en-US" sz="1200">
                          <a:latin typeface="Times New Roman" panose="02020603050405020304" pitchFamily="18" charset="0"/>
                          <a:cs typeface="Times New Roman" panose="02020603050405020304" pitchFamily="18" charset="0"/>
                        </a:rPr>
                        <a:t> and </a:t>
                      </a:r>
                      <a:r>
                        <a:rPr lang="en-US" sz="1200" b="1">
                          <a:latin typeface="Times New Roman" panose="02020603050405020304" pitchFamily="18" charset="0"/>
                          <a:cs typeface="Times New Roman" panose="02020603050405020304" pitchFamily="18" charset="0"/>
                        </a:rPr>
                        <a:t>noisy IoT-HER signals</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High communication cost</a:t>
                      </a:r>
                      <a:r>
                        <a:rPr lang="en-US" sz="1200">
                          <a:latin typeface="Times New Roman" panose="02020603050405020304" pitchFamily="18" charset="0"/>
                          <a:cs typeface="Times New Roman" panose="02020603050405020304" pitchFamily="18" charset="0"/>
                        </a:rPr>
                        <a:t> persists for large model updates. • </a:t>
                      </a:r>
                      <a:r>
                        <a:rPr lang="en-US" sz="1200" b="1">
                          <a:latin typeface="Times New Roman" panose="02020603050405020304" pitchFamily="18" charset="0"/>
                          <a:cs typeface="Times New Roman" panose="02020603050405020304" pitchFamily="18" charset="0"/>
                        </a:rPr>
                        <a:t>Data heterogeneity</a:t>
                      </a:r>
                      <a:r>
                        <a:rPr lang="en-US" sz="1200">
                          <a:latin typeface="Times New Roman" panose="02020603050405020304" pitchFamily="18" charset="0"/>
                          <a:cs typeface="Times New Roman" panose="02020603050405020304" pitchFamily="18" charset="0"/>
                        </a:rPr>
                        <a:t> lowers merge efficiency.</a:t>
                      </a:r>
                    </a:p>
                  </a:txBody>
                  <a:tcPr marL="17199" marR="17199" marT="8599" marB="8599" anchor="ctr">
                    <a:lnL>
                      <a:noFill/>
                    </a:lnL>
                    <a:lnR>
                      <a:noFill/>
                    </a:lnR>
                    <a:lnT>
                      <a:noFill/>
                    </a:lnT>
                    <a:lnB>
                      <a:noFill/>
                    </a:lnB>
                  </a:tcPr>
                </a:tc>
                <a:extLst>
                  <a:ext uri="{0D108BD9-81ED-4DB2-BD59-A6C34878D82A}">
                    <a16:rowId xmlns:a16="http://schemas.microsoft.com/office/drawing/2014/main" val="2161861181"/>
                  </a:ext>
                </a:extLst>
              </a:tr>
              <a:tr h="587991">
                <a:tc>
                  <a:txBody>
                    <a:bodyPr/>
                    <a:lstStyle/>
                    <a:p>
                      <a:r>
                        <a:rPr lang="en-IN" sz="1200" dirty="0">
                          <a:latin typeface="Times New Roman" panose="02020603050405020304" pitchFamily="18" charset="0"/>
                          <a:cs typeface="Times New Roman" panose="02020603050405020304" pitchFamily="18" charset="0"/>
                        </a:rPr>
                        <a:t>[13]</a:t>
                      </a:r>
                    </a:p>
                  </a:txBody>
                  <a:tcPr marL="17199" marR="17199" marT="8599" marB="8599" anchor="ctr">
                    <a:lnL>
                      <a:noFill/>
                    </a:lnL>
                    <a:lnR>
                      <a:noFill/>
                    </a:lnR>
                    <a:lnT>
                      <a:noFill/>
                    </a:lnT>
                    <a:lnB>
                      <a:noFill/>
                    </a:lnB>
                  </a:tcPr>
                </a:tc>
                <a:tc>
                  <a:txBody>
                    <a:bodyPr/>
                    <a:lstStyle/>
                    <a:p>
                      <a:r>
                        <a:rPr lang="en-IN" sz="1200" dirty="0">
                          <a:latin typeface="Times New Roman" panose="02020603050405020304" pitchFamily="18" charset="0"/>
                          <a:cs typeface="Times New Roman" panose="02020603050405020304" pitchFamily="18" charset="0"/>
                        </a:rPr>
                        <a:t>SVM classifier + </a:t>
                      </a:r>
                      <a:r>
                        <a:rPr lang="en-IN" sz="1200" b="1" dirty="0">
                          <a:latin typeface="Times New Roman" panose="02020603050405020304" pitchFamily="18" charset="0"/>
                          <a:cs typeface="Times New Roman" panose="02020603050405020304" pitchFamily="18" charset="0"/>
                        </a:rPr>
                        <a:t>Bi-Directional LSTM encoder</a:t>
                      </a:r>
                      <a:r>
                        <a:rPr lang="en-IN" sz="1200" dirty="0">
                          <a:latin typeface="Times New Roman" panose="02020603050405020304" pitchFamily="18" charset="0"/>
                          <a:cs typeface="Times New Roman" panose="02020603050405020304" pitchFamily="18" charset="0"/>
                        </a:rPr>
                        <a:t> for ECG arrhythmia classification in FL</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Bi-LSTM is </a:t>
                      </a:r>
                      <a:r>
                        <a:rPr lang="en-US" sz="1200" b="1">
                          <a:latin typeface="Times New Roman" panose="02020603050405020304" pitchFamily="18" charset="0"/>
                          <a:cs typeface="Times New Roman" panose="02020603050405020304" pitchFamily="18" charset="0"/>
                        </a:rPr>
                        <a:t>parameter-heavy</a:t>
                      </a:r>
                      <a:r>
                        <a:rPr lang="en-US" sz="1200">
                          <a:latin typeface="Times New Roman" panose="02020603050405020304" pitchFamily="18" charset="0"/>
                          <a:cs typeface="Times New Roman" panose="02020603050405020304" pitchFamily="18" charset="0"/>
                        </a:rPr>
                        <a:t>, increasing memory and inference latency on edge. • </a:t>
                      </a:r>
                      <a:r>
                        <a:rPr lang="en-US" sz="1200" b="1">
                          <a:latin typeface="Times New Roman" panose="02020603050405020304" pitchFamily="18" charset="0"/>
                          <a:cs typeface="Times New Roman" panose="02020603050405020304" pitchFamily="18" charset="0"/>
                        </a:rPr>
                        <a:t>Catastrophic forgetting (CF) risk</a:t>
                      </a:r>
                      <a:r>
                        <a:rPr lang="en-US" sz="1200">
                          <a:latin typeface="Times New Roman" panose="02020603050405020304" pitchFamily="18" charset="0"/>
                          <a:cs typeface="Times New Roman" panose="02020603050405020304" pitchFamily="18" charset="0"/>
                        </a:rPr>
                        <a:t> when adapting to new FL tasks.</a:t>
                      </a:r>
                    </a:p>
                  </a:txBody>
                  <a:tcPr marL="17199" marR="17199" marT="8599" marB="8599" anchor="ctr">
                    <a:lnL>
                      <a:noFill/>
                    </a:lnL>
                    <a:lnR>
                      <a:noFill/>
                    </a:lnR>
                    <a:lnT>
                      <a:noFill/>
                    </a:lnT>
                    <a:lnB>
                      <a:noFill/>
                    </a:lnB>
                  </a:tcPr>
                </a:tc>
                <a:extLst>
                  <a:ext uri="{0D108BD9-81ED-4DB2-BD59-A6C34878D82A}">
                    <a16:rowId xmlns:a16="http://schemas.microsoft.com/office/drawing/2014/main" val="2712622065"/>
                  </a:ext>
                </a:extLst>
              </a:tr>
              <a:tr h="778030">
                <a:tc>
                  <a:txBody>
                    <a:bodyPr/>
                    <a:lstStyle/>
                    <a:p>
                      <a:r>
                        <a:rPr lang="en-IN" sz="1200" dirty="0">
                          <a:latin typeface="Times New Roman" panose="02020603050405020304" pitchFamily="18" charset="0"/>
                          <a:cs typeface="Times New Roman" panose="02020603050405020304" pitchFamily="18" charset="0"/>
                        </a:rPr>
                        <a:t>[14]</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Federated Transfer Learning (FTL) + </a:t>
                      </a:r>
                      <a:r>
                        <a:rPr lang="en-US" sz="1200" b="1" dirty="0">
                          <a:latin typeface="Times New Roman" panose="02020603050405020304" pitchFamily="18" charset="0"/>
                          <a:cs typeface="Times New Roman" panose="02020603050405020304" pitchFamily="18" charset="0"/>
                        </a:rPr>
                        <a:t>Adaptive Gradient Clipping (AGC)</a:t>
                      </a:r>
                      <a:r>
                        <a:rPr lang="en-US" sz="1200" dirty="0">
                          <a:latin typeface="Times New Roman" panose="02020603050405020304" pitchFamily="18" charset="0"/>
                          <a:cs typeface="Times New Roman" panose="02020603050405020304" pitchFamily="18" charset="0"/>
                        </a:rPr>
                        <a:t> using wearables, medical devices &amp; HER</a:t>
                      </a:r>
                    </a:p>
                  </a:txBody>
                  <a:tcPr marL="17199" marR="17199" marT="8599" marB="8599" anchor="ctr">
                    <a:lnL>
                      <a:noFill/>
                    </a:lnL>
                    <a:lnR>
                      <a:noFill/>
                    </a:lnR>
                    <a:lnT>
                      <a:noFill/>
                    </a:lnT>
                    <a:lnB>
                      <a:noFill/>
                    </a:lnB>
                  </a:tcPr>
                </a:tc>
                <a:tc>
                  <a:txBody>
                    <a:bodyPr/>
                    <a:lstStyle/>
                    <a:p>
                      <a:r>
                        <a:rPr lang="en-IN" sz="1200">
                          <a:latin typeface="Times New Roman" panose="02020603050405020304" pitchFamily="18" charset="0"/>
                          <a:cs typeface="Times New Roman" panose="02020603050405020304" pitchFamily="18" charset="0"/>
                        </a:rPr>
                        <a:t>• AGC prevents gradient explosion but </a:t>
                      </a:r>
                      <a:r>
                        <a:rPr lang="en-IN" sz="1200" b="1">
                          <a:latin typeface="Times New Roman" panose="02020603050405020304" pitchFamily="18" charset="0"/>
                          <a:cs typeface="Times New Roman" panose="02020603050405020304" pitchFamily="18" charset="0"/>
                        </a:rPr>
                        <a:t>does not handle</a:t>
                      </a:r>
                      <a:r>
                        <a:rPr lang="en-IN" sz="1200">
                          <a:latin typeface="Times New Roman" panose="02020603050405020304" pitchFamily="18" charset="0"/>
                          <a:cs typeface="Times New Roman" panose="02020603050405020304" pitchFamily="18" charset="0"/>
                        </a:rPr>
                        <a:t>: – asynchronous new task arrival – late client updates – malfunctioning client contributions. • </a:t>
                      </a:r>
                      <a:r>
                        <a:rPr lang="en-IN" sz="1200" b="1">
                          <a:latin typeface="Times New Roman" panose="02020603050405020304" pitchFamily="18" charset="0"/>
                          <a:cs typeface="Times New Roman" panose="02020603050405020304" pitchFamily="18" charset="0"/>
                        </a:rPr>
                        <a:t>Client data heterogeneity</a:t>
                      </a:r>
                      <a:r>
                        <a:rPr lang="en-IN" sz="1200">
                          <a:latin typeface="Times New Roman" panose="02020603050405020304" pitchFamily="18" charset="0"/>
                          <a:cs typeface="Times New Roman" panose="02020603050405020304" pitchFamily="18" charset="0"/>
                        </a:rPr>
                        <a:t> still biases model merge.</a:t>
                      </a:r>
                    </a:p>
                  </a:txBody>
                  <a:tcPr marL="17199" marR="17199" marT="8599" marB="8599" anchor="ctr">
                    <a:lnL>
                      <a:noFill/>
                    </a:lnL>
                    <a:lnR>
                      <a:noFill/>
                    </a:lnR>
                    <a:lnT>
                      <a:noFill/>
                    </a:lnT>
                    <a:lnB>
                      <a:noFill/>
                    </a:lnB>
                  </a:tcPr>
                </a:tc>
                <a:extLst>
                  <a:ext uri="{0D108BD9-81ED-4DB2-BD59-A6C34878D82A}">
                    <a16:rowId xmlns:a16="http://schemas.microsoft.com/office/drawing/2014/main" val="3823043473"/>
                  </a:ext>
                </a:extLst>
              </a:tr>
              <a:tr h="778030">
                <a:tc>
                  <a:txBody>
                    <a:bodyPr/>
                    <a:lstStyle/>
                    <a:p>
                      <a:r>
                        <a:rPr lang="en-IN" sz="1200" dirty="0">
                          <a:latin typeface="Times New Roman" panose="02020603050405020304" pitchFamily="18" charset="0"/>
                          <a:cs typeface="Times New Roman" panose="02020603050405020304" pitchFamily="18" charset="0"/>
                        </a:rPr>
                        <a:t>[15]</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Deep CNN + </a:t>
                      </a:r>
                      <a:r>
                        <a:rPr lang="en-US" sz="1200" b="1" dirty="0">
                          <a:latin typeface="Times New Roman" panose="02020603050405020304" pitchFamily="18" charset="0"/>
                          <a:cs typeface="Times New Roman" panose="02020603050405020304" pitchFamily="18" charset="0"/>
                        </a:rPr>
                        <a:t>Explainable AI (XAI)</a:t>
                      </a:r>
                      <a:r>
                        <a:rPr lang="en-US" sz="1200" dirty="0">
                          <a:latin typeface="Times New Roman" panose="02020603050405020304" pitchFamily="18" charset="0"/>
                          <a:cs typeface="Times New Roman" panose="02020603050405020304" pitchFamily="18" charset="0"/>
                        </a:rPr>
                        <a:t> for arrhythmia classification supporting clinical decisions in FL</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CNN increases </a:t>
                      </a:r>
                      <a:r>
                        <a:rPr lang="en-US" sz="1200" b="1">
                          <a:latin typeface="Times New Roman" panose="02020603050405020304" pitchFamily="18" charset="0"/>
                          <a:cs typeface="Times New Roman" panose="02020603050405020304" pitchFamily="18" charset="0"/>
                        </a:rPr>
                        <a:t>server-client communication payload</a:t>
                      </a:r>
                      <a:r>
                        <a:rPr lang="en-US" sz="1200">
                          <a:latin typeface="Times New Roman" panose="02020603050405020304" pitchFamily="18" charset="0"/>
                          <a:cs typeface="Times New Roman" panose="02020603050405020304" pitchFamily="18" charset="0"/>
                        </a:rPr>
                        <a:t>. • XAI improves interpretability but </a:t>
                      </a:r>
                      <a:r>
                        <a:rPr lang="en-US" sz="1200" b="1">
                          <a:latin typeface="Times New Roman" panose="02020603050405020304" pitchFamily="18" charset="0"/>
                          <a:cs typeface="Times New Roman" panose="02020603050405020304" pitchFamily="18" charset="0"/>
                        </a:rPr>
                        <a:t>does not suppress faulty/late updates</a:t>
                      </a:r>
                      <a:r>
                        <a:rPr lang="en-US" sz="1200">
                          <a:latin typeface="Times New Roman" panose="02020603050405020304" pitchFamily="18" charset="0"/>
                          <a:cs typeface="Times New Roman" panose="02020603050405020304" pitchFamily="18" charset="0"/>
                        </a:rPr>
                        <a:t>. • Assumes synchronized learning, limiting real-world edge-FL.</a:t>
                      </a:r>
                    </a:p>
                  </a:txBody>
                  <a:tcPr marL="17199" marR="17199" marT="8599" marB="8599" anchor="ctr">
                    <a:lnL>
                      <a:noFill/>
                    </a:lnL>
                    <a:lnR>
                      <a:noFill/>
                    </a:lnR>
                    <a:lnT>
                      <a:noFill/>
                    </a:lnT>
                    <a:lnB>
                      <a:noFill/>
                    </a:lnB>
                  </a:tcPr>
                </a:tc>
                <a:extLst>
                  <a:ext uri="{0D108BD9-81ED-4DB2-BD59-A6C34878D82A}">
                    <a16:rowId xmlns:a16="http://schemas.microsoft.com/office/drawing/2014/main" val="2102169882"/>
                  </a:ext>
                </a:extLst>
              </a:tr>
              <a:tr h="778030">
                <a:tc>
                  <a:txBody>
                    <a:bodyPr/>
                    <a:lstStyle/>
                    <a:p>
                      <a:r>
                        <a:rPr lang="en-IN" sz="1200" dirty="0">
                          <a:latin typeface="Times New Roman" panose="02020603050405020304" pitchFamily="18" charset="0"/>
                          <a:cs typeface="Times New Roman" panose="02020603050405020304" pitchFamily="18" charset="0"/>
                        </a:rPr>
                        <a:t>[16]</a:t>
                      </a:r>
                    </a:p>
                  </a:txBody>
                  <a:tcPr marL="17199" marR="17199" marT="8599" marB="8599" anchor="ctr">
                    <a:lnL>
                      <a:noFill/>
                    </a:lnL>
                    <a:lnR>
                      <a:noFill/>
                    </a:lnR>
                    <a:lnT>
                      <a:noFill/>
                    </a:lnT>
                    <a:lnB>
                      <a:noFill/>
                    </a:lnB>
                  </a:tcPr>
                </a:tc>
                <a:tc>
                  <a:txBody>
                    <a:bodyPr/>
                    <a:lstStyle/>
                    <a:p>
                      <a:r>
                        <a:rPr lang="en-US" sz="1200" dirty="0" err="1">
                          <a:latin typeface="Times New Roman" panose="02020603050405020304" pitchFamily="18" charset="0"/>
                          <a:cs typeface="Times New Roman" panose="02020603050405020304" pitchFamily="18" charset="0"/>
                        </a:rPr>
                        <a:t>FedCure</a:t>
                      </a:r>
                      <a:r>
                        <a:rPr lang="en-US" sz="1200" dirty="0">
                          <a:latin typeface="Times New Roman" panose="02020603050405020304" pitchFamily="18" charset="0"/>
                          <a:cs typeface="Times New Roman" panose="02020603050405020304" pitchFamily="18" charset="0"/>
                        </a:rPr>
                        <a:t> (IoMT-aware intelligent federated healthcare framework considering heterogeneity)</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Heterogeneity support exists but </a:t>
                      </a:r>
                      <a:r>
                        <a:rPr lang="en-US" sz="1200" b="1">
                          <a:latin typeface="Times New Roman" panose="02020603050405020304" pitchFamily="18" charset="0"/>
                          <a:cs typeface="Times New Roman" panose="02020603050405020304" pitchFamily="18" charset="0"/>
                        </a:rPr>
                        <a:t>malfunctioning or asynchronously-arriving clients are not managed</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Unseen tasks arriving at different times remain unaddressed.</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3686854858"/>
                  </a:ext>
                </a:extLst>
              </a:tr>
              <a:tr h="587991">
                <a:tc>
                  <a:txBody>
                    <a:bodyPr/>
                    <a:lstStyle/>
                    <a:p>
                      <a:r>
                        <a:rPr lang="en-IN" sz="1200" dirty="0">
                          <a:latin typeface="Times New Roman" panose="02020603050405020304" pitchFamily="18" charset="0"/>
                          <a:cs typeface="Times New Roman" panose="02020603050405020304" pitchFamily="18" charset="0"/>
                        </a:rPr>
                        <a:t>[17]</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FL integrating </a:t>
                      </a:r>
                      <a:r>
                        <a:rPr lang="en-US" sz="1200" b="1" dirty="0">
                          <a:latin typeface="Times New Roman" panose="02020603050405020304" pitchFamily="18" charset="0"/>
                          <a:cs typeface="Times New Roman" panose="02020603050405020304" pitchFamily="18" charset="0"/>
                        </a:rPr>
                        <a:t>Spiking Neural Network (SNN) + LSTM</a:t>
                      </a:r>
                      <a:r>
                        <a:rPr lang="en-US" sz="1200" dirty="0">
                          <a:latin typeface="Times New Roman" panose="02020603050405020304" pitchFamily="18" charset="0"/>
                          <a:cs typeface="Times New Roman" panose="02020603050405020304" pitchFamily="18" charset="0"/>
                        </a:rPr>
                        <a:t> for fully supervised human activity detection</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Spiking loops add </a:t>
                      </a:r>
                      <a:r>
                        <a:rPr lang="en-US" sz="1200" b="1">
                          <a:latin typeface="Times New Roman" panose="02020603050405020304" pitchFamily="18" charset="0"/>
                          <a:cs typeface="Times New Roman" panose="02020603050405020304" pitchFamily="18" charset="0"/>
                        </a:rPr>
                        <a:t>latency and energy overhead</a:t>
                      </a:r>
                      <a:r>
                        <a:rPr lang="en-US" sz="1200">
                          <a:latin typeface="Times New Roman" panose="02020603050405020304" pitchFamily="18" charset="0"/>
                          <a:cs typeface="Times New Roman" panose="02020603050405020304" pitchFamily="18" charset="0"/>
                        </a:rPr>
                        <a:t>. • LSTM component still remains </a:t>
                      </a:r>
                      <a:r>
                        <a:rPr lang="en-US" sz="1200" b="1">
                          <a:latin typeface="Times New Roman" panose="02020603050405020304" pitchFamily="18" charset="0"/>
                          <a:cs typeface="Times New Roman" panose="02020603050405020304" pitchFamily="18" charset="0"/>
                        </a:rPr>
                        <a:t>heavy for edge inference</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No fault-aware or async client update handling.</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4042436594"/>
                  </a:ext>
                </a:extLst>
              </a:tr>
              <a:tr h="587991">
                <a:tc>
                  <a:txBody>
                    <a:bodyPr/>
                    <a:lstStyle/>
                    <a:p>
                      <a:r>
                        <a:rPr lang="en-IN" sz="1200" dirty="0">
                          <a:latin typeface="Times New Roman" panose="02020603050405020304" pitchFamily="18" charset="0"/>
                          <a:cs typeface="Times New Roman" panose="02020603050405020304" pitchFamily="18" charset="0"/>
                        </a:rPr>
                        <a:t>[18]</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Federated LSTM (F-LSTM) for privacy-preserved distributed training</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Large parameter size</a:t>
                      </a:r>
                      <a:r>
                        <a:rPr lang="en-US" sz="1200">
                          <a:latin typeface="Times New Roman" panose="02020603050405020304" pitchFamily="18" charset="0"/>
                          <a:cs typeface="Times New Roman" panose="02020603050405020304" pitchFamily="18" charset="0"/>
                        </a:rPr>
                        <a:t> → high memory, latency, and power draw on edge. • </a:t>
                      </a:r>
                      <a:r>
                        <a:rPr lang="en-US" sz="1200" b="1">
                          <a:latin typeface="Times New Roman" panose="02020603050405020304" pitchFamily="18" charset="0"/>
                          <a:cs typeface="Times New Roman" panose="02020603050405020304" pitchFamily="18" charset="0"/>
                        </a:rPr>
                        <a:t>Communication overhead remains high</a:t>
                      </a:r>
                      <a:r>
                        <a:rPr lang="en-US" sz="1200">
                          <a:latin typeface="Times New Roman" panose="02020603050405020304" pitchFamily="18" charset="0"/>
                          <a:cs typeface="Times New Roman" panose="02020603050405020304" pitchFamily="18" charset="0"/>
                        </a:rPr>
                        <a:t> due to frequent weight sharing.</a:t>
                      </a:r>
                    </a:p>
                  </a:txBody>
                  <a:tcPr marL="17199" marR="17199" marT="8599" marB="8599" anchor="ctr">
                    <a:lnL>
                      <a:noFill/>
                    </a:lnL>
                    <a:lnR>
                      <a:noFill/>
                    </a:lnR>
                    <a:lnT>
                      <a:noFill/>
                    </a:lnT>
                    <a:lnB>
                      <a:noFill/>
                    </a:lnB>
                  </a:tcPr>
                </a:tc>
                <a:extLst>
                  <a:ext uri="{0D108BD9-81ED-4DB2-BD59-A6C34878D82A}">
                    <a16:rowId xmlns:a16="http://schemas.microsoft.com/office/drawing/2014/main" val="2807847787"/>
                  </a:ext>
                </a:extLst>
              </a:tr>
              <a:tr h="587991">
                <a:tc>
                  <a:txBody>
                    <a:bodyPr/>
                    <a:lstStyle/>
                    <a:p>
                      <a:r>
                        <a:rPr lang="en-IN" sz="1200" dirty="0">
                          <a:latin typeface="Times New Roman" panose="02020603050405020304" pitchFamily="18" charset="0"/>
                          <a:cs typeface="Times New Roman" panose="02020603050405020304" pitchFamily="18" charset="0"/>
                        </a:rPr>
                        <a:t>[19]</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Spiking RNN (SRNN) with fully differentiable events</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Requires </a:t>
                      </a:r>
                      <a:r>
                        <a:rPr lang="en-US" sz="1200" b="1">
                          <a:latin typeface="Times New Roman" panose="02020603050405020304" pitchFamily="18" charset="0"/>
                          <a:cs typeface="Times New Roman" panose="02020603050405020304" pitchFamily="18" charset="0"/>
                        </a:rPr>
                        <a:t>recurrent spiking run-loops</a:t>
                      </a:r>
                      <a:r>
                        <a:rPr lang="en-US" sz="1200">
                          <a:latin typeface="Times New Roman" panose="02020603050405020304" pitchFamily="18" charset="0"/>
                          <a:cs typeface="Times New Roman" panose="02020603050405020304" pitchFamily="18" charset="0"/>
                        </a:rPr>
                        <a:t>, increasing edge compute cost. • </a:t>
                      </a:r>
                      <a:r>
                        <a:rPr lang="en-US" sz="1200" b="1">
                          <a:latin typeface="Times New Roman" panose="02020603050405020304" pitchFamily="18" charset="0"/>
                          <a:cs typeface="Times New Roman" panose="02020603050405020304" pitchFamily="18" charset="0"/>
                        </a:rPr>
                        <a:t>No support for malfunctioning, late or asynchronous client updates.</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3046211107"/>
                  </a:ext>
                </a:extLst>
              </a:tr>
              <a:tr h="587991">
                <a:tc>
                  <a:txBody>
                    <a:bodyPr/>
                    <a:lstStyle/>
                    <a:p>
                      <a:r>
                        <a:rPr lang="en-IN" sz="1200" dirty="0">
                          <a:latin typeface="Times New Roman" panose="02020603050405020304" pitchFamily="18" charset="0"/>
                          <a:cs typeface="Times New Roman" panose="02020603050405020304" pitchFamily="18" charset="0"/>
                        </a:rPr>
                        <a:t>[20]</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Federated Class-Incremental Learning (FICL) allowing new clients with unseen classes to join anytime</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Enables unseen client joins but </a:t>
                      </a:r>
                      <a:r>
                        <a:rPr lang="en-US" sz="1200" b="1">
                          <a:latin typeface="Times New Roman" panose="02020603050405020304" pitchFamily="18" charset="0"/>
                          <a:cs typeface="Times New Roman" panose="02020603050405020304" pitchFamily="18" charset="0"/>
                        </a:rPr>
                        <a:t>not fault-aware</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No handling for asynchronous task arrival or malfunctioning client weights.</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3749125077"/>
                  </a:ext>
                </a:extLst>
              </a:tr>
              <a:tr h="587991">
                <a:tc>
                  <a:txBody>
                    <a:bodyPr/>
                    <a:lstStyle/>
                    <a:p>
                      <a:r>
                        <a:rPr lang="en-IN" sz="1200" dirty="0">
                          <a:latin typeface="Times New Roman" panose="02020603050405020304" pitchFamily="18" charset="0"/>
                          <a:cs typeface="Times New Roman" panose="02020603050405020304" pitchFamily="18" charset="0"/>
                        </a:rPr>
                        <a:t>[21]</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FIL with </a:t>
                      </a:r>
                      <a:r>
                        <a:rPr lang="en-US" sz="1200" b="1">
                          <a:latin typeface="Times New Roman" panose="02020603050405020304" pitchFamily="18" charset="0"/>
                          <a:cs typeface="Times New Roman" panose="02020603050405020304" pitchFamily="18" charset="0"/>
                        </a:rPr>
                        <a:t>random client sample sampling</a:t>
                      </a:r>
                      <a:r>
                        <a:rPr lang="en-US" sz="1200">
                          <a:latin typeface="Times New Roman" panose="02020603050405020304" pitchFamily="18" charset="0"/>
                          <a:cs typeface="Times New Roman" panose="02020603050405020304" pitchFamily="18" charset="0"/>
                        </a:rPr>
                        <a:t> to maintain initial FL pre-training balance</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Balances early rounds only; </a:t>
                      </a:r>
                      <a:r>
                        <a:rPr lang="en-US" sz="1200" b="1">
                          <a:latin typeface="Times New Roman" panose="02020603050405020304" pitchFamily="18" charset="0"/>
                          <a:cs typeface="Times New Roman" panose="02020603050405020304" pitchFamily="18" charset="0"/>
                        </a:rPr>
                        <a:t>temporal priority over updates is absent</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Malfunctioning or delayed updates still not managed.</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1871998069"/>
                  </a:ext>
                </a:extLst>
              </a:tr>
              <a:tr h="397951">
                <a:tc>
                  <a:txBody>
                    <a:bodyPr/>
                    <a:lstStyle/>
                    <a:p>
                      <a:r>
                        <a:rPr lang="en-IN" sz="1200" dirty="0">
                          <a:latin typeface="Times New Roman" panose="02020603050405020304" pitchFamily="18" charset="0"/>
                          <a:cs typeface="Times New Roman" panose="02020603050405020304" pitchFamily="18" charset="0"/>
                        </a:rPr>
                        <a:t>[22]</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FedRCIL (Federated Knowledge Distillation + Contrastive Incremental Representation Learning)</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Scalable but </a:t>
                      </a:r>
                      <a:r>
                        <a:rPr lang="en-US" sz="1200" b="1">
                          <a:latin typeface="Times New Roman" panose="02020603050405020304" pitchFamily="18" charset="0"/>
                          <a:cs typeface="Times New Roman" panose="02020603050405020304" pitchFamily="18" charset="0"/>
                        </a:rPr>
                        <a:t>assumes synchronized incremental learning</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Faulty or late client updates are ignored</a:t>
                      </a:r>
                      <a:r>
                        <a:rPr lang="en-US" sz="1200">
                          <a:latin typeface="Times New Roman" panose="02020603050405020304" pitchFamily="18" charset="0"/>
                          <a:cs typeface="Times New Roman" panose="02020603050405020304" pitchFamily="18" charset="0"/>
                        </a:rPr>
                        <a:t>.</a:t>
                      </a:r>
                    </a:p>
                  </a:txBody>
                  <a:tcPr marL="17199" marR="17199" marT="8599" marB="8599" anchor="ctr">
                    <a:lnL>
                      <a:noFill/>
                    </a:lnL>
                    <a:lnR>
                      <a:noFill/>
                    </a:lnR>
                    <a:lnT>
                      <a:noFill/>
                    </a:lnT>
                    <a:lnB>
                      <a:noFill/>
                    </a:lnB>
                  </a:tcPr>
                </a:tc>
                <a:extLst>
                  <a:ext uri="{0D108BD9-81ED-4DB2-BD59-A6C34878D82A}">
                    <a16:rowId xmlns:a16="http://schemas.microsoft.com/office/drawing/2014/main" val="4096197192"/>
                  </a:ext>
                </a:extLst>
              </a:tr>
              <a:tr h="778030">
                <a:tc>
                  <a:txBody>
                    <a:bodyPr/>
                    <a:lstStyle/>
                    <a:p>
                      <a:r>
                        <a:rPr lang="en-IN" sz="1200" dirty="0">
                          <a:latin typeface="Times New Roman" panose="02020603050405020304" pitchFamily="18" charset="0"/>
                          <a:cs typeface="Times New Roman" panose="02020603050405020304" pitchFamily="18" charset="0"/>
                        </a:rPr>
                        <a:t>[23]</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pFedDIL (Personalized Federated Domain-Incremental Learning)</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 Personalized task selection, but </a:t>
                      </a:r>
                      <a:r>
                        <a:rPr lang="en-US" sz="1200" b="1">
                          <a:latin typeface="Times New Roman" panose="02020603050405020304" pitchFamily="18" charset="0"/>
                          <a:cs typeface="Times New Roman" panose="02020603050405020304" pitchFamily="18" charset="0"/>
                        </a:rPr>
                        <a:t>no suppression or validation for faulty/late/async updates</a:t>
                      </a:r>
                      <a:r>
                        <a:rPr lang="en-US" sz="1200">
                          <a:latin typeface="Times New Roman" panose="02020603050405020304" pitchFamily="18" charset="0"/>
                          <a:cs typeface="Times New Roman" panose="02020603050405020304" pitchFamily="18" charset="0"/>
                        </a:rPr>
                        <a:t>. • </a:t>
                      </a:r>
                      <a:r>
                        <a:rPr lang="en-US" sz="1200" b="1">
                          <a:latin typeface="Times New Roman" panose="02020603050405020304" pitchFamily="18" charset="0"/>
                          <a:cs typeface="Times New Roman" panose="02020603050405020304" pitchFamily="18" charset="0"/>
                        </a:rPr>
                        <a:t>Malfunctioning clients and unsynchronized new tasks are not supported.</a:t>
                      </a:r>
                      <a:endParaRPr lang="en-US" sz="1200">
                        <a:latin typeface="Times New Roman" panose="02020603050405020304" pitchFamily="18" charset="0"/>
                        <a:cs typeface="Times New Roman" panose="02020603050405020304" pitchFamily="18" charset="0"/>
                      </a:endParaRPr>
                    </a:p>
                  </a:txBody>
                  <a:tcPr marL="17199" marR="17199" marT="8599" marB="8599" anchor="ctr">
                    <a:lnL>
                      <a:noFill/>
                    </a:lnL>
                    <a:lnR>
                      <a:noFill/>
                    </a:lnR>
                    <a:lnT>
                      <a:noFill/>
                    </a:lnT>
                    <a:lnB>
                      <a:noFill/>
                    </a:lnB>
                  </a:tcPr>
                </a:tc>
                <a:extLst>
                  <a:ext uri="{0D108BD9-81ED-4DB2-BD59-A6C34878D82A}">
                    <a16:rowId xmlns:a16="http://schemas.microsoft.com/office/drawing/2014/main" val="3379421725"/>
                  </a:ext>
                </a:extLst>
              </a:tr>
              <a:tr h="778030">
                <a:tc>
                  <a:txBody>
                    <a:bodyPr/>
                    <a:lstStyle/>
                    <a:p>
                      <a:r>
                        <a:rPr lang="en-IN" sz="1200" dirty="0">
                          <a:latin typeface="Times New Roman" panose="02020603050405020304" pitchFamily="18" charset="0"/>
                          <a:cs typeface="Times New Roman" panose="02020603050405020304" pitchFamily="18" charset="0"/>
                        </a:rPr>
                        <a:t>[24]</a:t>
                      </a:r>
                    </a:p>
                  </a:txBody>
                  <a:tcPr marL="17199" marR="17199" marT="8599" marB="8599" anchor="ctr">
                    <a:lnL>
                      <a:noFill/>
                    </a:lnL>
                    <a:lnR>
                      <a:noFill/>
                    </a:lnR>
                    <a:lnT>
                      <a:noFill/>
                    </a:lnT>
                    <a:lnB>
                      <a:noFill/>
                    </a:lnB>
                  </a:tcPr>
                </a:tc>
                <a:tc>
                  <a:txBody>
                    <a:bodyPr/>
                    <a:lstStyle/>
                    <a:p>
                      <a:r>
                        <a:rPr lang="en-US" sz="1200">
                          <a:latin typeface="Times New Roman" panose="02020603050405020304" pitchFamily="18" charset="0"/>
                          <a:cs typeface="Times New Roman" panose="02020603050405020304" pitchFamily="18" charset="0"/>
                        </a:rPr>
                        <a:t>FFSCIL (Federated Few-Shot Class-Incremental Learning) for CF under data scarcity</a:t>
                      </a:r>
                    </a:p>
                  </a:txBody>
                  <a:tcPr marL="17199" marR="17199" marT="8599" marB="8599" anchor="ctr">
                    <a:lnL>
                      <a:noFill/>
                    </a:lnL>
                    <a:lnR>
                      <a:noFill/>
                    </a:lnR>
                    <a:lnT>
                      <a:noFill/>
                    </a:lnT>
                    <a:lnB>
                      <a:noFill/>
                    </a:lnB>
                  </a:tcPr>
                </a:tc>
                <a:tc>
                  <a:txBody>
                    <a:bodyPr/>
                    <a:lstStyle/>
                    <a:p>
                      <a:r>
                        <a:rPr lang="en-US" sz="1200" dirty="0">
                          <a:latin typeface="Times New Roman" panose="02020603050405020304" pitchFamily="18" charset="0"/>
                          <a:cs typeface="Times New Roman" panose="02020603050405020304" pitchFamily="18" charset="0"/>
                        </a:rPr>
                        <a:t>• Solves CF under scarcity, but </a:t>
                      </a:r>
                      <a:r>
                        <a:rPr lang="en-US" sz="1200" b="1" dirty="0">
                          <a:latin typeface="Times New Roman" panose="02020603050405020304" pitchFamily="18" charset="0"/>
                          <a:cs typeface="Times New Roman" panose="02020603050405020304" pitchFamily="18" charset="0"/>
                        </a:rPr>
                        <a:t>does not manage</a:t>
                      </a:r>
                      <a:r>
                        <a:rPr lang="en-US" sz="1200" dirty="0">
                          <a:latin typeface="Times New Roman" panose="02020603050405020304" pitchFamily="18" charset="0"/>
                          <a:cs typeface="Times New Roman" panose="02020603050405020304" pitchFamily="18" charset="0"/>
                        </a:rPr>
                        <a:t>: – malfunctioning clients – late updates – asynchronously-arriving tasks – temporal weighting for faulty update suppression.</a:t>
                      </a:r>
                    </a:p>
                  </a:txBody>
                  <a:tcPr marL="17199" marR="17199" marT="8599" marB="8599" anchor="ctr">
                    <a:lnL>
                      <a:noFill/>
                    </a:lnL>
                    <a:lnR>
                      <a:noFill/>
                    </a:lnR>
                    <a:lnT>
                      <a:noFill/>
                    </a:lnT>
                    <a:lnB>
                      <a:noFill/>
                    </a:lnB>
                  </a:tcPr>
                </a:tc>
                <a:extLst>
                  <a:ext uri="{0D108BD9-81ED-4DB2-BD59-A6C34878D82A}">
                    <a16:rowId xmlns:a16="http://schemas.microsoft.com/office/drawing/2014/main" val="3199220186"/>
                  </a:ext>
                </a:extLst>
              </a:tr>
            </a:tbl>
          </a:graphicData>
        </a:graphic>
      </p:graphicFrame>
    </p:spTree>
    <p:extLst>
      <p:ext uri="{BB962C8B-B14F-4D97-AF65-F5344CB8AC3E}">
        <p14:creationId xmlns:p14="http://schemas.microsoft.com/office/powerpoint/2010/main" val="3607023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6EFA8F-33C7-4B87-A966-878C78380FDC}"/>
              </a:ext>
            </a:extLst>
          </p:cNvPr>
          <p:cNvSpPr txBox="1"/>
          <p:nvPr/>
        </p:nvSpPr>
        <p:spPr>
          <a:xfrm>
            <a:off x="3048000" y="751344"/>
            <a:ext cx="6096000" cy="5355312"/>
          </a:xfrm>
          <a:prstGeom prst="rect">
            <a:avLst/>
          </a:prstGeom>
          <a:noFill/>
        </p:spPr>
        <p:txBody>
          <a:bodyPr wrap="square">
            <a:spAutoFit/>
          </a:bodyPr>
          <a:lstStyle/>
          <a:p>
            <a:endParaRPr lang="en-US" b="1" dirty="0"/>
          </a:p>
          <a:p>
            <a:r>
              <a:rPr lang="en-US" b="1" dirty="0"/>
              <a:t>Problem 1 — High computation + cost of centralized training</a:t>
            </a:r>
          </a:p>
          <a:p>
            <a:r>
              <a:rPr lang="en-US" dirty="0"/>
              <a:t>Smart healthcare systems collect huge data from wearables/IoMT devices.</a:t>
            </a:r>
            <a:br>
              <a:rPr lang="en-US" dirty="0"/>
            </a:br>
            <a:r>
              <a:rPr lang="en-US" dirty="0"/>
              <a:t>Training DL models in cloud is </a:t>
            </a:r>
            <a:r>
              <a:rPr lang="en-US" b="1" dirty="0"/>
              <a:t>memory and computation heavy</a:t>
            </a:r>
            <a:r>
              <a:rPr lang="en-US" dirty="0"/>
              <a:t>, creating </a:t>
            </a:r>
            <a:r>
              <a:rPr lang="en-US" b="1" dirty="0"/>
              <a:t>processing expense and privacy risk</a:t>
            </a:r>
            <a:r>
              <a:rPr lang="en-US" dirty="0"/>
              <a:t>.</a:t>
            </a:r>
            <a:br>
              <a:rPr lang="en-US" dirty="0"/>
            </a:br>
            <a:r>
              <a:rPr lang="en-US" dirty="0"/>
              <a:t> Need: train collaboratively </a:t>
            </a:r>
            <a:r>
              <a:rPr lang="en-US" b="1" dirty="0"/>
              <a:t>without sharing raw health data</a:t>
            </a:r>
            <a:r>
              <a:rPr lang="en-US" dirty="0"/>
              <a:t>.</a:t>
            </a:r>
          </a:p>
          <a:p>
            <a:r>
              <a:rPr lang="en-US" b="1" dirty="0"/>
              <a:t> </a:t>
            </a:r>
          </a:p>
          <a:p>
            <a:r>
              <a:rPr lang="en-US" b="1" dirty="0"/>
              <a:t>Problem 2 — Catastrophic Forgetting (CF)</a:t>
            </a:r>
          </a:p>
          <a:p>
            <a:r>
              <a:rPr lang="en-US" dirty="0"/>
              <a:t>When models learn new data/tasks, they </a:t>
            </a:r>
            <a:r>
              <a:rPr lang="en-US" b="1" dirty="0"/>
              <a:t>forget old knowledge</a:t>
            </a:r>
            <a:r>
              <a:rPr lang="en-US" dirty="0"/>
              <a:t>, reducing accuracy on previous disease patterns.</a:t>
            </a:r>
          </a:p>
          <a:p>
            <a:endParaRPr lang="en-US" b="1" dirty="0"/>
          </a:p>
          <a:p>
            <a:r>
              <a:rPr lang="en-US" b="1" dirty="0"/>
              <a:t> Problem 3 — Asynchronous / faulty client updates</a:t>
            </a:r>
          </a:p>
          <a:p>
            <a:r>
              <a:rPr lang="en-US" dirty="0"/>
              <a:t>In traditional Re-Fed Federated Incremental Learning:</a:t>
            </a:r>
          </a:p>
          <a:p>
            <a:pPr>
              <a:buFont typeface="Arial" panose="020B0604020202020204" pitchFamily="34" charset="0"/>
              <a:buChar char="•"/>
            </a:pPr>
            <a:r>
              <a:rPr lang="en-US" dirty="0"/>
              <a:t>Clients receive </a:t>
            </a:r>
            <a:r>
              <a:rPr lang="en-US" b="1" dirty="0"/>
              <a:t>new tasks/data at different times</a:t>
            </a:r>
            <a:endParaRPr lang="en-US" dirty="0"/>
          </a:p>
          <a:p>
            <a:pPr>
              <a:buFont typeface="Arial" panose="020B0604020202020204" pitchFamily="34" charset="0"/>
              <a:buChar char="•"/>
            </a:pPr>
            <a:r>
              <a:rPr lang="en-US" dirty="0"/>
              <a:t>Some devices may be </a:t>
            </a:r>
            <a:r>
              <a:rPr lang="en-US" b="1" dirty="0"/>
              <a:t>faulty or malfunctioning</a:t>
            </a:r>
            <a:endParaRPr lang="en-US" dirty="0"/>
          </a:p>
          <a:p>
            <a:pPr>
              <a:buFont typeface="Arial" panose="020B0604020202020204" pitchFamily="34" charset="0"/>
              <a:buChar char="•"/>
            </a:pPr>
            <a:r>
              <a:rPr lang="en-US" dirty="0"/>
              <a:t>Server aggregation </a:t>
            </a:r>
            <a:r>
              <a:rPr lang="en-US" b="1" dirty="0"/>
              <a:t>does not handle time inconsistency</a:t>
            </a:r>
            <a:br>
              <a:rPr lang="en-US" dirty="0"/>
            </a:br>
            <a:r>
              <a:rPr lang="en-US" dirty="0"/>
              <a:t>→ Result: </a:t>
            </a:r>
            <a:r>
              <a:rPr lang="en-US" b="1" dirty="0"/>
              <a:t>desynchronized learning, model divergence, CF increases</a:t>
            </a:r>
            <a:endParaRPr lang="en-US" dirty="0"/>
          </a:p>
        </p:txBody>
      </p:sp>
    </p:spTree>
    <p:extLst>
      <p:ext uri="{BB962C8B-B14F-4D97-AF65-F5344CB8AC3E}">
        <p14:creationId xmlns:p14="http://schemas.microsoft.com/office/powerpoint/2010/main" val="3646620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C799EAB-6B54-44DB-836D-D463A6EDC2CA}"/>
              </a:ext>
            </a:extLst>
          </p:cNvPr>
          <p:cNvGraphicFramePr>
            <a:graphicFrameLocks noGrp="1"/>
          </p:cNvGraphicFramePr>
          <p:nvPr>
            <p:extLst>
              <p:ext uri="{D42A27DB-BD31-4B8C-83A1-F6EECF244321}">
                <p14:modId xmlns:p14="http://schemas.microsoft.com/office/powerpoint/2010/main" val="4073864428"/>
              </p:ext>
            </p:extLst>
          </p:nvPr>
        </p:nvGraphicFramePr>
        <p:xfrm>
          <a:off x="838200" y="2995454"/>
          <a:ext cx="10515600" cy="2011680"/>
        </p:xfrm>
        <a:graphic>
          <a:graphicData uri="http://schemas.openxmlformats.org/drawingml/2006/table">
            <a:tbl>
              <a:tblPr/>
              <a:tblGrid>
                <a:gridCol w="5257800">
                  <a:extLst>
                    <a:ext uri="{9D8B030D-6E8A-4147-A177-3AD203B41FA5}">
                      <a16:colId xmlns:a16="http://schemas.microsoft.com/office/drawing/2014/main" val="1823187511"/>
                    </a:ext>
                  </a:extLst>
                </a:gridCol>
                <a:gridCol w="5257800">
                  <a:extLst>
                    <a:ext uri="{9D8B030D-6E8A-4147-A177-3AD203B41FA5}">
                      <a16:colId xmlns:a16="http://schemas.microsoft.com/office/drawing/2014/main" val="4109471271"/>
                    </a:ext>
                  </a:extLst>
                </a:gridCol>
              </a:tblGrid>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102598490"/>
                  </a:ext>
                </a:extLst>
              </a:tr>
              <a:tr h="0">
                <a:tc>
                  <a:txBody>
                    <a:bodyPr/>
                    <a:lstStyle/>
                    <a:p>
                      <a:r>
                        <a:rPr lang="en-IN" b="1"/>
                        <a:t>Catastrophic Forgetting</a:t>
                      </a:r>
                      <a:endParaRPr lang="en-IN"/>
                    </a:p>
                  </a:txBody>
                  <a:tcPr anchor="ctr">
                    <a:lnL>
                      <a:noFill/>
                    </a:lnL>
                    <a:lnR>
                      <a:noFill/>
                    </a:lnR>
                    <a:lnT>
                      <a:noFill/>
                    </a:lnT>
                    <a:lnB>
                      <a:noFill/>
                    </a:lnB>
                  </a:tcPr>
                </a:tc>
                <a:tc>
                  <a:txBody>
                    <a:bodyPr/>
                    <a:lstStyle/>
                    <a:p>
                      <a:r>
                        <a:rPr lang="en-US" dirty="0"/>
                        <a:t>Model forgets old Samples when learning new ones</a:t>
                      </a:r>
                    </a:p>
                  </a:txBody>
                  <a:tcPr anchor="ctr">
                    <a:lnL>
                      <a:noFill/>
                    </a:lnL>
                    <a:lnR>
                      <a:noFill/>
                    </a:lnR>
                    <a:lnT>
                      <a:noFill/>
                    </a:lnT>
                    <a:lnB>
                      <a:noFill/>
                    </a:lnB>
                  </a:tcPr>
                </a:tc>
                <a:extLst>
                  <a:ext uri="{0D108BD9-81ED-4DB2-BD59-A6C34878D82A}">
                    <a16:rowId xmlns:a16="http://schemas.microsoft.com/office/drawing/2014/main" val="3067429472"/>
                  </a:ext>
                </a:extLst>
              </a:tr>
              <a:tr h="0">
                <a:tc>
                  <a:txBody>
                    <a:bodyPr/>
                    <a:lstStyle/>
                    <a:p>
                      <a:r>
                        <a:rPr lang="en-IN" b="1"/>
                        <a:t>LSTM heavy for edge</a:t>
                      </a:r>
                      <a:endParaRPr lang="en-IN"/>
                    </a:p>
                  </a:txBody>
                  <a:tcPr anchor="ctr">
                    <a:lnL>
                      <a:noFill/>
                    </a:lnL>
                    <a:lnR>
                      <a:noFill/>
                    </a:lnR>
                    <a:lnT>
                      <a:noFill/>
                    </a:lnT>
                    <a:lnB>
                      <a:noFill/>
                    </a:lnB>
                  </a:tcPr>
                </a:tc>
                <a:tc>
                  <a:txBody>
                    <a:bodyPr/>
                    <a:lstStyle/>
                    <a:p>
                      <a:r>
                        <a:rPr lang="en-US" dirty="0"/>
                        <a:t>Normal LSTM is slow and consumes more energy in small healthcare computers</a:t>
                      </a:r>
                    </a:p>
                  </a:txBody>
                  <a:tcPr anchor="ctr">
                    <a:lnL>
                      <a:noFill/>
                    </a:lnL>
                    <a:lnR>
                      <a:noFill/>
                    </a:lnR>
                    <a:lnT>
                      <a:noFill/>
                    </a:lnT>
                    <a:lnB>
                      <a:noFill/>
                    </a:lnB>
                  </a:tcPr>
                </a:tc>
                <a:extLst>
                  <a:ext uri="{0D108BD9-81ED-4DB2-BD59-A6C34878D82A}">
                    <a16:rowId xmlns:a16="http://schemas.microsoft.com/office/drawing/2014/main" val="373439179"/>
                  </a:ext>
                </a:extLst>
              </a:tr>
              <a:tr h="0">
                <a:tc>
                  <a:txBody>
                    <a:bodyPr/>
                    <a:lstStyle/>
                    <a:p>
                      <a:r>
                        <a:rPr lang="en-IN" b="1"/>
                        <a:t>Late/Faulty updates</a:t>
                      </a:r>
                      <a:endParaRPr lang="en-IN"/>
                    </a:p>
                  </a:txBody>
                  <a:tcPr anchor="ctr">
                    <a:lnL>
                      <a:noFill/>
                    </a:lnL>
                    <a:lnR>
                      <a:noFill/>
                    </a:lnR>
                    <a:lnT>
                      <a:noFill/>
                    </a:lnT>
                    <a:lnB>
                      <a:noFill/>
                    </a:lnB>
                  </a:tcPr>
                </a:tc>
                <a:tc>
                  <a:txBody>
                    <a:bodyPr/>
                    <a:lstStyle/>
                    <a:p>
                      <a:r>
                        <a:rPr lang="en-US" dirty="0"/>
                        <a:t>Server merges all weights equally, even if updates are outdated or faulty → model becomes unreliable</a:t>
                      </a:r>
                    </a:p>
                  </a:txBody>
                  <a:tcPr anchor="ctr">
                    <a:lnL>
                      <a:noFill/>
                    </a:lnL>
                    <a:lnR>
                      <a:noFill/>
                    </a:lnR>
                    <a:lnT>
                      <a:noFill/>
                    </a:lnT>
                    <a:lnB>
                      <a:noFill/>
                    </a:lnB>
                  </a:tcPr>
                </a:tc>
                <a:extLst>
                  <a:ext uri="{0D108BD9-81ED-4DB2-BD59-A6C34878D82A}">
                    <a16:rowId xmlns:a16="http://schemas.microsoft.com/office/drawing/2014/main" val="3003837602"/>
                  </a:ext>
                </a:extLst>
              </a:tr>
            </a:tbl>
          </a:graphicData>
        </a:graphic>
      </p:graphicFrame>
    </p:spTree>
    <p:extLst>
      <p:ext uri="{BB962C8B-B14F-4D97-AF65-F5344CB8AC3E}">
        <p14:creationId xmlns:p14="http://schemas.microsoft.com/office/powerpoint/2010/main" val="2983756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B8127-C776-46F3-8493-705A7560DFE9}"/>
              </a:ext>
            </a:extLst>
          </p:cNvPr>
          <p:cNvSpPr txBox="1"/>
          <p:nvPr/>
        </p:nvSpPr>
        <p:spPr>
          <a:xfrm>
            <a:off x="3047134" y="2413338"/>
            <a:ext cx="6094268" cy="2031325"/>
          </a:xfrm>
          <a:prstGeom prst="rect">
            <a:avLst/>
          </a:prstGeom>
          <a:noFill/>
        </p:spPr>
        <p:txBody>
          <a:bodyPr wrap="square">
            <a:spAutoFit/>
          </a:bodyPr>
          <a:lstStyle/>
          <a:p>
            <a:r>
              <a:rPr lang="en-US" b="1" dirty="0"/>
              <a:t>Why new model is proposed?</a:t>
            </a:r>
          </a:p>
          <a:p>
            <a:r>
              <a:rPr lang="en-US" dirty="0"/>
              <a:t>Need a better system that:</a:t>
            </a:r>
          </a:p>
          <a:p>
            <a:pPr>
              <a:buFont typeface="Arial" panose="020B0604020202020204" pitchFamily="34" charset="0"/>
              <a:buChar char="•"/>
            </a:pPr>
            <a:r>
              <a:rPr lang="en-US" dirty="0"/>
              <a:t> remembers old disease knowledge with small memory</a:t>
            </a:r>
          </a:p>
          <a:p>
            <a:pPr>
              <a:buFont typeface="Arial" panose="020B0604020202020204" pitchFamily="34" charset="0"/>
              <a:buChar char="•"/>
            </a:pPr>
            <a:r>
              <a:rPr lang="en-US" dirty="0"/>
              <a:t> handles late and faulty client updates</a:t>
            </a:r>
          </a:p>
          <a:p>
            <a:pPr>
              <a:buFont typeface="Arial" panose="020B0604020202020204" pitchFamily="34" charset="0"/>
              <a:buChar char="•"/>
            </a:pPr>
            <a:r>
              <a:rPr lang="en-US" dirty="0"/>
              <a:t> trains fast for real-time healthcare</a:t>
            </a:r>
          </a:p>
          <a:p>
            <a:pPr>
              <a:buFont typeface="Arial" panose="020B0604020202020204" pitchFamily="34" charset="0"/>
              <a:buChar char="•"/>
            </a:pPr>
            <a:r>
              <a:rPr lang="en-US" dirty="0"/>
              <a:t> reduces computation cost, latency, and energy</a:t>
            </a:r>
          </a:p>
          <a:p>
            <a:pPr>
              <a:buFont typeface="Arial" panose="020B0604020202020204" pitchFamily="34" charset="0"/>
              <a:buChar char="•"/>
            </a:pPr>
            <a:r>
              <a:rPr lang="en-US" dirty="0"/>
              <a:t> protects privacy laws by keeping medical data at source</a:t>
            </a:r>
          </a:p>
        </p:txBody>
      </p:sp>
    </p:spTree>
    <p:extLst>
      <p:ext uri="{BB962C8B-B14F-4D97-AF65-F5344CB8AC3E}">
        <p14:creationId xmlns:p14="http://schemas.microsoft.com/office/powerpoint/2010/main" val="2443976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D44CC3-92BE-4692-9AF1-94AFB926644F}"/>
              </a:ext>
            </a:extLst>
          </p:cNvPr>
          <p:cNvSpPr txBox="1"/>
          <p:nvPr/>
        </p:nvSpPr>
        <p:spPr>
          <a:xfrm>
            <a:off x="3047134" y="1443841"/>
            <a:ext cx="6094268" cy="4247317"/>
          </a:xfrm>
          <a:prstGeom prst="rect">
            <a:avLst/>
          </a:prstGeom>
          <a:noFill/>
        </p:spPr>
        <p:txBody>
          <a:bodyPr wrap="square">
            <a:spAutoFit/>
          </a:bodyPr>
          <a:lstStyle/>
          <a:p>
            <a:r>
              <a:rPr lang="en-IN" b="1" dirty="0"/>
              <a:t> Proposed Work</a:t>
            </a:r>
          </a:p>
          <a:p>
            <a:endParaRPr lang="en-IN" b="1" dirty="0"/>
          </a:p>
          <a:p>
            <a:r>
              <a:rPr lang="en-IN" b="1" dirty="0"/>
              <a:t>Model = FIRFIL – TISSLSTM</a:t>
            </a:r>
          </a:p>
          <a:p>
            <a:pPr>
              <a:buFont typeface="Arial" panose="020B0604020202020204" pitchFamily="34" charset="0"/>
              <a:buChar char="•"/>
            </a:pPr>
            <a:r>
              <a:rPr lang="en-IN" b="1" dirty="0"/>
              <a:t>FIRFIL = Federated Improved Re-Fed Incremental Learning Framework</a:t>
            </a:r>
            <a:endParaRPr lang="en-IN" dirty="0"/>
          </a:p>
          <a:p>
            <a:pPr marL="742950" lvl="1" indent="-285750">
              <a:buFont typeface="Arial" panose="020B0604020202020204" pitchFamily="34" charset="0"/>
              <a:buChar char="•"/>
            </a:pPr>
            <a:r>
              <a:rPr lang="en-IN" dirty="0"/>
              <a:t>Uses </a:t>
            </a:r>
            <a:r>
              <a:rPr lang="en-IN" b="1" dirty="0"/>
              <a:t>temporal weighted aggregation</a:t>
            </a:r>
            <a:r>
              <a:rPr lang="en-IN" dirty="0"/>
              <a:t> at server to handle outdated/faulty updates</a:t>
            </a:r>
          </a:p>
          <a:p>
            <a:pPr marL="742950" lvl="1" indent="-285750">
              <a:buFont typeface="Arial" panose="020B0604020202020204" pitchFamily="34" charset="0"/>
              <a:buChar char="•"/>
            </a:pPr>
            <a:r>
              <a:rPr lang="en-IN" dirty="0"/>
              <a:t>Merges client knowledge based on </a:t>
            </a:r>
            <a:r>
              <a:rPr lang="en-IN" b="1" dirty="0"/>
              <a:t>timing + quality importance</a:t>
            </a:r>
            <a:endParaRPr lang="en-IN" dirty="0"/>
          </a:p>
          <a:p>
            <a:pPr>
              <a:buFont typeface="Arial" panose="020B0604020202020204" pitchFamily="34" charset="0"/>
              <a:buChar char="•"/>
            </a:pPr>
            <a:r>
              <a:rPr lang="en-IN" b="1" dirty="0"/>
              <a:t>TISSLSTM = Time-Invariant Stochastic Spiking LSTM Network</a:t>
            </a:r>
            <a:endParaRPr lang="en-IN" dirty="0"/>
          </a:p>
          <a:p>
            <a:pPr marL="742950" lvl="1" indent="-285750">
              <a:buFont typeface="Arial" panose="020B0604020202020204" pitchFamily="34" charset="0"/>
              <a:buChar char="•"/>
            </a:pPr>
            <a:r>
              <a:rPr lang="en-IN" dirty="0"/>
              <a:t>LSTM memory for sequence learning</a:t>
            </a:r>
          </a:p>
          <a:p>
            <a:pPr marL="742950" lvl="1" indent="-285750">
              <a:buFont typeface="Arial" panose="020B0604020202020204" pitchFamily="34" charset="0"/>
              <a:buChar char="•"/>
            </a:pPr>
            <a:r>
              <a:rPr lang="en-IN" dirty="0"/>
              <a:t>Spiking neurons using </a:t>
            </a:r>
            <a:r>
              <a:rPr lang="en-IN" b="1" dirty="0"/>
              <a:t>stochastic (probability-based firing)</a:t>
            </a:r>
            <a:r>
              <a:rPr lang="en-IN" dirty="0"/>
              <a:t> to reduce computation</a:t>
            </a:r>
          </a:p>
          <a:p>
            <a:pPr marL="742950" lvl="1" indent="-285750">
              <a:buFont typeface="Arial" panose="020B0604020202020204" pitchFamily="34" charset="0"/>
              <a:buChar char="•"/>
            </a:pPr>
            <a:r>
              <a:rPr lang="en-IN" b="1" dirty="0"/>
              <a:t>Time-invariant internal rule</a:t>
            </a:r>
            <a:r>
              <a:rPr lang="en-IN" dirty="0"/>
              <a:t> → enables faster or partly parallel training</a:t>
            </a:r>
          </a:p>
        </p:txBody>
      </p:sp>
    </p:spTree>
    <p:extLst>
      <p:ext uri="{BB962C8B-B14F-4D97-AF65-F5344CB8AC3E}">
        <p14:creationId xmlns:p14="http://schemas.microsoft.com/office/powerpoint/2010/main" val="28783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8409DD-AEC9-4937-9D1A-92AF282260F8}"/>
              </a:ext>
            </a:extLst>
          </p:cNvPr>
          <p:cNvSpPr txBox="1"/>
          <p:nvPr/>
        </p:nvSpPr>
        <p:spPr>
          <a:xfrm>
            <a:off x="3048000" y="2274838"/>
            <a:ext cx="6096000" cy="1754326"/>
          </a:xfrm>
          <a:prstGeom prst="rect">
            <a:avLst/>
          </a:prstGeom>
          <a:noFill/>
        </p:spPr>
        <p:txBody>
          <a:bodyPr wrap="square">
            <a:spAutoFit/>
          </a:bodyPr>
          <a:lstStyle/>
          <a:p>
            <a:r>
              <a:rPr lang="en-US" b="1" dirty="0"/>
              <a:t>Why new model?</a:t>
            </a:r>
          </a:p>
          <a:p>
            <a:r>
              <a:rPr lang="en-US" dirty="0"/>
              <a:t>To make the system:</a:t>
            </a:r>
          </a:p>
          <a:p>
            <a:r>
              <a:rPr lang="en-US" dirty="0"/>
              <a:t>  </a:t>
            </a:r>
            <a:r>
              <a:rPr lang="en-US" b="1" dirty="0"/>
              <a:t>Remember old knowledge</a:t>
            </a:r>
            <a:r>
              <a:rPr lang="en-US" dirty="0"/>
              <a:t> (using caching)</a:t>
            </a:r>
            <a:br>
              <a:rPr lang="en-US" dirty="0"/>
            </a:br>
            <a:r>
              <a:rPr lang="en-US" dirty="0"/>
              <a:t>  </a:t>
            </a:r>
            <a:r>
              <a:rPr lang="en-US" b="1" dirty="0"/>
              <a:t>Train faster and use less energy</a:t>
            </a:r>
            <a:r>
              <a:rPr lang="en-US" dirty="0"/>
              <a:t> than normal LSTM</a:t>
            </a:r>
            <a:br>
              <a:rPr lang="en-US" dirty="0"/>
            </a:br>
            <a:r>
              <a:rPr lang="en-US" dirty="0"/>
              <a:t> </a:t>
            </a:r>
            <a:r>
              <a:rPr lang="en-US" b="1" dirty="0"/>
              <a:t>Reduce the impact of late/faulty updates</a:t>
            </a:r>
            <a:r>
              <a:rPr lang="en-US" dirty="0"/>
              <a:t> during FL merging</a:t>
            </a:r>
            <a:br>
              <a:rPr lang="en-US" dirty="0"/>
            </a:br>
            <a:r>
              <a:rPr lang="en-US" dirty="0"/>
              <a:t> </a:t>
            </a:r>
            <a:r>
              <a:rPr lang="en-US" b="1" dirty="0"/>
              <a:t>Support real-time diagnosis in hospitals and wearables (edge)</a:t>
            </a:r>
            <a:endParaRPr lang="en-US" dirty="0"/>
          </a:p>
        </p:txBody>
      </p:sp>
    </p:spTree>
    <p:extLst>
      <p:ext uri="{BB962C8B-B14F-4D97-AF65-F5344CB8AC3E}">
        <p14:creationId xmlns:p14="http://schemas.microsoft.com/office/powerpoint/2010/main" val="3103942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8A44BD-97FD-481D-B903-EC9ABF66A558}"/>
              </a:ext>
            </a:extLst>
          </p:cNvPr>
          <p:cNvSpPr>
            <a:spLocks noChangeArrowheads="1"/>
          </p:cNvSpPr>
          <p:nvPr/>
        </p:nvSpPr>
        <p:spPr bwMode="auto">
          <a:xfrm>
            <a:off x="2473035" y="2022948"/>
            <a:ext cx="599670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New Model and Framework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Proposed Model = TISSLSTM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A hybrid model that learns sequential health signals, uses spiking neurons efficiently, and avoids repeated spiking loops using time-invariant design.</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Proposed Framework = FIRFIL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An improved Federated Incremental Learning system where each client stores only important old samples (caching) and the server merges weight updates by giving importance to recent good updates (temporal weighting).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6577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CC4A89-383A-4235-933A-E8649B6C31FF}"/>
              </a:ext>
            </a:extLst>
          </p:cNvPr>
          <p:cNvSpPr txBox="1"/>
          <p:nvPr/>
        </p:nvSpPr>
        <p:spPr>
          <a:xfrm>
            <a:off x="3048000" y="1859340"/>
            <a:ext cx="6096000" cy="3139321"/>
          </a:xfrm>
          <a:prstGeom prst="rect">
            <a:avLst/>
          </a:prstGeom>
          <a:noFill/>
        </p:spPr>
        <p:txBody>
          <a:bodyPr wrap="square">
            <a:spAutoFit/>
          </a:bodyPr>
          <a:lstStyle/>
          <a:p>
            <a:r>
              <a:rPr lang="en-US" b="1" dirty="0"/>
              <a:t>New Methodology </a:t>
            </a:r>
          </a:p>
          <a:p>
            <a:r>
              <a:rPr lang="en-US" b="1" dirty="0"/>
              <a:t>Method = FIRFIL + TISSLSTM</a:t>
            </a:r>
          </a:p>
          <a:p>
            <a:r>
              <a:rPr lang="en-US" dirty="0"/>
              <a:t>Client side learning:</a:t>
            </a:r>
          </a:p>
          <a:p>
            <a:pPr>
              <a:buFont typeface="Arial" panose="020B0604020202020204" pitchFamily="34" charset="0"/>
              <a:buChar char="•"/>
            </a:pPr>
            <a:r>
              <a:rPr lang="en-US" dirty="0"/>
              <a:t>Train on one patient sample at a time</a:t>
            </a:r>
          </a:p>
          <a:p>
            <a:pPr>
              <a:buFont typeface="Arial" panose="020B0604020202020204" pitchFamily="34" charset="0"/>
              <a:buChar char="•"/>
            </a:pPr>
            <a:r>
              <a:rPr lang="en-US" dirty="0"/>
              <a:t>Compute gradients and measure importance</a:t>
            </a:r>
          </a:p>
          <a:p>
            <a:pPr>
              <a:buFont typeface="Arial" panose="020B0604020202020204" pitchFamily="34" charset="0"/>
              <a:buChar char="•"/>
            </a:pPr>
            <a:r>
              <a:rPr lang="en-US" dirty="0"/>
              <a:t>Store only </a:t>
            </a:r>
            <a:r>
              <a:rPr lang="en-US" b="1" dirty="0"/>
              <a:t>Top-M important past samples into local cache</a:t>
            </a:r>
            <a:r>
              <a:rPr lang="en-US" dirty="0"/>
              <a:t> so old diseases are not forgotten</a:t>
            </a:r>
          </a:p>
          <a:p>
            <a:r>
              <a:rPr lang="en-US" dirty="0"/>
              <a:t>Server side merging:</a:t>
            </a:r>
          </a:p>
          <a:p>
            <a:pPr>
              <a:buFont typeface="Arial" panose="020B0604020202020204" pitchFamily="34" charset="0"/>
              <a:buChar char="•"/>
            </a:pPr>
            <a:r>
              <a:rPr lang="en-US" dirty="0"/>
              <a:t>Collect only weight numbers from clients</a:t>
            </a:r>
          </a:p>
          <a:p>
            <a:pPr>
              <a:buFont typeface="Arial" panose="020B0604020202020204" pitchFamily="34" charset="0"/>
              <a:buChar char="•"/>
            </a:pPr>
            <a:r>
              <a:rPr lang="en-US" dirty="0"/>
              <a:t>Give more importance to </a:t>
            </a:r>
            <a:r>
              <a:rPr lang="en-US" b="1" dirty="0"/>
              <a:t>recent good updates</a:t>
            </a:r>
            <a:r>
              <a:rPr lang="en-US" dirty="0"/>
              <a:t>, reduce </a:t>
            </a:r>
            <a:r>
              <a:rPr lang="en-US" b="1" dirty="0"/>
              <a:t>late/faulty ones</a:t>
            </a:r>
            <a:r>
              <a:rPr lang="en-US" dirty="0"/>
              <a:t>, merge all using </a:t>
            </a:r>
            <a:r>
              <a:rPr lang="en-US" b="1" dirty="0"/>
              <a:t>weighted </a:t>
            </a:r>
            <a:r>
              <a:rPr lang="en-US" b="1" dirty="0" err="1"/>
              <a:t>FedAvg</a:t>
            </a:r>
            <a:endParaRPr lang="en-US" dirty="0"/>
          </a:p>
        </p:txBody>
      </p:sp>
    </p:spTree>
    <p:extLst>
      <p:ext uri="{BB962C8B-B14F-4D97-AF65-F5344CB8AC3E}">
        <p14:creationId xmlns:p14="http://schemas.microsoft.com/office/powerpoint/2010/main" val="541285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1FF301D-D1D2-4855-BA24-3A3A3A4F7578}"/>
              </a:ext>
            </a:extLst>
          </p:cNvPr>
          <p:cNvGraphicFramePr>
            <a:graphicFrameLocks noGrp="1"/>
          </p:cNvGraphicFramePr>
          <p:nvPr>
            <p:extLst>
              <p:ext uri="{D42A27DB-BD31-4B8C-83A1-F6EECF244321}">
                <p14:modId xmlns:p14="http://schemas.microsoft.com/office/powerpoint/2010/main" val="3597606531"/>
              </p:ext>
            </p:extLst>
          </p:nvPr>
        </p:nvGraphicFramePr>
        <p:xfrm>
          <a:off x="838200" y="3132614"/>
          <a:ext cx="10515600" cy="1737360"/>
        </p:xfrm>
        <a:graphic>
          <a:graphicData uri="http://schemas.openxmlformats.org/drawingml/2006/table">
            <a:tbl>
              <a:tblPr/>
              <a:tblGrid>
                <a:gridCol w="5257800">
                  <a:extLst>
                    <a:ext uri="{9D8B030D-6E8A-4147-A177-3AD203B41FA5}">
                      <a16:colId xmlns:a16="http://schemas.microsoft.com/office/drawing/2014/main" val="1851244549"/>
                    </a:ext>
                  </a:extLst>
                </a:gridCol>
                <a:gridCol w="5257800">
                  <a:extLst>
                    <a:ext uri="{9D8B030D-6E8A-4147-A177-3AD203B41FA5}">
                      <a16:colId xmlns:a16="http://schemas.microsoft.com/office/drawing/2014/main" val="3536439392"/>
                    </a:ext>
                  </a:extLst>
                </a:gridCol>
              </a:tblGrid>
              <a:tr h="0">
                <a:tc>
                  <a:txBody>
                    <a:bodyPr/>
                    <a:lstStyle/>
                    <a:p>
                      <a:r>
                        <a:rPr lang="en-IN"/>
                        <a:t>Dataset</a:t>
                      </a:r>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1727669075"/>
                  </a:ext>
                </a:extLst>
              </a:tr>
              <a:tr h="0">
                <a:tc>
                  <a:txBody>
                    <a:bodyPr/>
                    <a:lstStyle/>
                    <a:p>
                      <a:r>
                        <a:rPr lang="en-US" b="1" dirty="0"/>
                        <a:t>Comprehensive Heart Dataset – 1190 cases, 11 features</a:t>
                      </a:r>
                      <a:endParaRPr lang="en-US"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3497851406"/>
                  </a:ext>
                </a:extLst>
              </a:tr>
              <a:tr h="0">
                <a:tc>
                  <a:txBody>
                    <a:bodyPr/>
                    <a:lstStyle/>
                    <a:p>
                      <a:r>
                        <a:rPr lang="en-US" b="1"/>
                        <a:t>UCI Heart Disease Dataset – binary 1/0</a:t>
                      </a:r>
                      <a:endParaRPr lang="en-US"/>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282511500"/>
                  </a:ext>
                </a:extLst>
              </a:tr>
              <a:tr h="0">
                <a:tc>
                  <a:txBody>
                    <a:bodyPr/>
                    <a:lstStyle/>
                    <a:p>
                      <a:r>
                        <a:rPr lang="en-US" b="1"/>
                        <a:t>Kaggle Heart Disease Dataset – 14 selected features</a:t>
                      </a:r>
                      <a:endParaRPr lang="en-US"/>
                    </a:p>
                  </a:txBody>
                  <a:tcPr anchor="ctr">
                    <a:lnL>
                      <a:noFill/>
                    </a:lnL>
                    <a:lnR>
                      <a:noFill/>
                    </a:lnR>
                    <a:lnT>
                      <a:noFill/>
                    </a:lnT>
                    <a:lnB>
                      <a:noFill/>
                    </a:lnB>
                  </a:tcPr>
                </a:tc>
                <a:tc>
                  <a:txBody>
                    <a:bodyPr/>
                    <a:lstStyle/>
                    <a:p>
                      <a:endParaRPr lang="en-IN" dirty="0"/>
                    </a:p>
                  </a:txBody>
                  <a:tcPr>
                    <a:lnL>
                      <a:noFill/>
                    </a:lnL>
                    <a:lnT>
                      <a:noFill/>
                    </a:lnT>
                  </a:tcPr>
                </a:tc>
                <a:extLst>
                  <a:ext uri="{0D108BD9-81ED-4DB2-BD59-A6C34878D82A}">
                    <a16:rowId xmlns:a16="http://schemas.microsoft.com/office/drawing/2014/main" val="944324934"/>
                  </a:ext>
                </a:extLst>
              </a:tr>
            </a:tbl>
          </a:graphicData>
        </a:graphic>
      </p:graphicFrame>
      <p:sp>
        <p:nvSpPr>
          <p:cNvPr id="3" name="Rectangle 1">
            <a:extLst>
              <a:ext uri="{FF2B5EF4-FFF2-40B4-BE49-F238E27FC236}">
                <a16:creationId xmlns:a16="http://schemas.microsoft.com/office/drawing/2014/main" id="{C8D26210-D0E1-442F-8A3E-ACB9405BDC55}"/>
              </a:ext>
            </a:extLst>
          </p:cNvPr>
          <p:cNvSpPr>
            <a:spLocks noChangeArrowheads="1"/>
          </p:cNvSpPr>
          <p:nvPr/>
        </p:nvSpPr>
        <p:spPr bwMode="auto">
          <a:xfrm>
            <a:off x="838200" y="31321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Dataset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1644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912E38-3120-4B33-A2DA-FD847A91E9AD}"/>
              </a:ext>
            </a:extLst>
          </p:cNvPr>
          <p:cNvSpPr txBox="1"/>
          <p:nvPr/>
        </p:nvSpPr>
        <p:spPr>
          <a:xfrm>
            <a:off x="3048000" y="2690336"/>
            <a:ext cx="6096000" cy="1477328"/>
          </a:xfrm>
          <a:prstGeom prst="rect">
            <a:avLst/>
          </a:prstGeom>
          <a:noFill/>
        </p:spPr>
        <p:txBody>
          <a:bodyPr wrap="square">
            <a:spAutoFit/>
          </a:bodyPr>
          <a:lstStyle/>
          <a:p>
            <a:r>
              <a:rPr lang="en-IN" b="1" dirty="0"/>
              <a:t>Performance Results</a:t>
            </a:r>
          </a:p>
          <a:p>
            <a:r>
              <a:rPr lang="en-IN" b="1" dirty="0"/>
              <a:t>:</a:t>
            </a:r>
          </a:p>
          <a:p>
            <a:r>
              <a:rPr lang="en-IN" dirty="0"/>
              <a:t> Accuracy: </a:t>
            </a:r>
            <a:r>
              <a:rPr lang="en-IN" b="1" dirty="0"/>
              <a:t>95.09% – 95.25% – 94.28%</a:t>
            </a:r>
            <a:r>
              <a:rPr lang="en-IN" dirty="0"/>
              <a:t> on 3 heart datasets</a:t>
            </a:r>
            <a:br>
              <a:rPr lang="en-IN" dirty="0"/>
            </a:br>
            <a:r>
              <a:rPr lang="en-IN" dirty="0"/>
              <a:t> Latency: </a:t>
            </a:r>
            <a:r>
              <a:rPr lang="en-IN" b="1" dirty="0"/>
              <a:t>~160 </a:t>
            </a:r>
            <a:r>
              <a:rPr lang="en-IN" b="1" dirty="0" err="1"/>
              <a:t>ms</a:t>
            </a:r>
            <a:r>
              <a:rPr lang="en-IN" b="1" dirty="0"/>
              <a:t> (very fast for real-time use)</a:t>
            </a:r>
            <a:br>
              <a:rPr lang="en-IN" dirty="0"/>
            </a:br>
            <a:r>
              <a:rPr lang="en-IN" dirty="0"/>
              <a:t> Energy: </a:t>
            </a:r>
            <a:r>
              <a:rPr lang="en-IN" b="1" dirty="0"/>
              <a:t>80–90 Joules (light for edge healthcare)</a:t>
            </a:r>
            <a:endParaRPr lang="en-IN" dirty="0"/>
          </a:p>
        </p:txBody>
      </p:sp>
    </p:spTree>
    <p:extLst>
      <p:ext uri="{BB962C8B-B14F-4D97-AF65-F5344CB8AC3E}">
        <p14:creationId xmlns:p14="http://schemas.microsoft.com/office/powerpoint/2010/main" val="2087832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E47570-68C5-4558-B977-AA7A8E08D39B}"/>
              </a:ext>
            </a:extLst>
          </p:cNvPr>
          <p:cNvPicPr/>
          <p:nvPr/>
        </p:nvPicPr>
        <p:blipFill rotWithShape="1">
          <a:blip r:embed="rId2">
            <a:extLst>
              <a:ext uri="{28A0092B-C50C-407E-A947-70E740481C1C}">
                <a14:useLocalDpi xmlns:a14="http://schemas.microsoft.com/office/drawing/2010/main" val="0"/>
              </a:ext>
            </a:extLst>
          </a:blip>
          <a:srcRect t="628"/>
          <a:stretch/>
        </p:blipFill>
        <p:spPr bwMode="auto">
          <a:xfrm>
            <a:off x="1485900" y="301336"/>
            <a:ext cx="7689273" cy="60818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24308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ECD3E-598B-49B0-8000-ACF5D275B2E9}"/>
              </a:ext>
            </a:extLst>
          </p:cNvPr>
          <p:cNvSpPr txBox="1"/>
          <p:nvPr/>
        </p:nvSpPr>
        <p:spPr>
          <a:xfrm>
            <a:off x="3047134" y="1443841"/>
            <a:ext cx="6094268" cy="3970318"/>
          </a:xfrm>
          <a:prstGeom prst="rect">
            <a:avLst/>
          </a:prstGeom>
          <a:noFill/>
        </p:spPr>
        <p:txBody>
          <a:bodyPr wrap="square">
            <a:spAutoFit/>
          </a:bodyPr>
          <a:lstStyle/>
          <a:p>
            <a:r>
              <a:rPr lang="en-US" b="1" dirty="0"/>
              <a:t>At client side (hospitals or IoMT edge computers):</a:t>
            </a:r>
          </a:p>
          <a:p>
            <a:pPr>
              <a:buFont typeface="+mj-lt"/>
              <a:buAutoNum type="arabicPeriod"/>
            </a:pPr>
            <a:r>
              <a:rPr lang="en-US" dirty="0"/>
              <a:t>Each client trains the </a:t>
            </a:r>
            <a:r>
              <a:rPr lang="en-US" b="1" dirty="0"/>
              <a:t>TISSLSTM model locally</a:t>
            </a:r>
            <a:r>
              <a:rPr lang="en-US" dirty="0"/>
              <a:t>, using its own patient samples.</a:t>
            </a:r>
          </a:p>
          <a:p>
            <a:pPr>
              <a:buFont typeface="+mj-lt"/>
              <a:buAutoNum type="arabicPeriod"/>
            </a:pPr>
            <a:r>
              <a:rPr lang="en-US" dirty="0"/>
              <a:t>During early training epochs, gradients are computed for each sample and the </a:t>
            </a:r>
            <a:r>
              <a:rPr lang="en-US" b="1" dirty="0"/>
              <a:t>gradient norm is measured as the importance score</a:t>
            </a:r>
            <a:r>
              <a:rPr lang="en-US" dirty="0"/>
              <a:t> for that sample.</a:t>
            </a:r>
          </a:p>
          <a:p>
            <a:pPr>
              <a:buFont typeface="+mj-lt"/>
              <a:buAutoNum type="arabicPeriod"/>
            </a:pPr>
            <a:r>
              <a:rPr lang="en-US" dirty="0"/>
              <a:t>Old samples are ranked using that score and only the </a:t>
            </a:r>
            <a:r>
              <a:rPr lang="en-US" b="1" dirty="0"/>
              <a:t>Top-M important ones are saved in a tiny cache</a:t>
            </a:r>
            <a:r>
              <a:rPr lang="en-US" dirty="0"/>
              <a:t> (because devices cannot store everything).</a:t>
            </a:r>
            <a:br>
              <a:rPr lang="en-US" dirty="0"/>
            </a:br>
            <a:r>
              <a:rPr lang="en-US" dirty="0"/>
              <a:t>→ This saves memory and prevents forgetting old disease knowledge.</a:t>
            </a:r>
          </a:p>
          <a:p>
            <a:pPr>
              <a:buFont typeface="+mj-lt"/>
              <a:buAutoNum type="arabicPeriod"/>
            </a:pPr>
            <a:r>
              <a:rPr lang="en-US" dirty="0"/>
              <a:t>After training, clients send only the </a:t>
            </a:r>
            <a:r>
              <a:rPr lang="en-US" b="1" dirty="0"/>
              <a:t>final learned weight number vector + timestamp</a:t>
            </a:r>
            <a:r>
              <a:rPr lang="en-US" dirty="0"/>
              <a:t> to the fog/aggregation layer or cloud/server.</a:t>
            </a:r>
          </a:p>
        </p:txBody>
      </p:sp>
    </p:spTree>
    <p:extLst>
      <p:ext uri="{BB962C8B-B14F-4D97-AF65-F5344CB8AC3E}">
        <p14:creationId xmlns:p14="http://schemas.microsoft.com/office/powerpoint/2010/main" val="1019383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F9DE8B-121D-4B1F-B470-EE7838FB58CB}"/>
              </a:ext>
            </a:extLst>
          </p:cNvPr>
          <p:cNvSpPr txBox="1"/>
          <p:nvPr/>
        </p:nvSpPr>
        <p:spPr>
          <a:xfrm>
            <a:off x="3047134" y="1859340"/>
            <a:ext cx="6094268" cy="3139321"/>
          </a:xfrm>
          <a:prstGeom prst="rect">
            <a:avLst/>
          </a:prstGeom>
          <a:noFill/>
        </p:spPr>
        <p:txBody>
          <a:bodyPr wrap="square">
            <a:spAutoFit/>
          </a:bodyPr>
          <a:lstStyle/>
          <a:p>
            <a:r>
              <a:rPr lang="en-US" b="1" dirty="0"/>
              <a:t>t server side:</a:t>
            </a:r>
          </a:p>
          <a:p>
            <a:pPr>
              <a:buFont typeface="+mj-lt"/>
              <a:buAutoNum type="arabicPeriod" startAt="5"/>
            </a:pPr>
            <a:r>
              <a:rPr lang="en-US" dirty="0"/>
              <a:t>The server receives only client weights and their time of update.</a:t>
            </a:r>
          </a:p>
          <a:p>
            <a:pPr>
              <a:buFont typeface="+mj-lt"/>
              <a:buAutoNum type="arabicPeriod" startAt="5"/>
            </a:pPr>
            <a:r>
              <a:rPr lang="en-US" dirty="0"/>
              <a:t>It </a:t>
            </a:r>
            <a:r>
              <a:rPr lang="en-US" b="1" dirty="0"/>
              <a:t>does NOT merge equally like old </a:t>
            </a:r>
            <a:r>
              <a:rPr lang="en-US" b="1" dirty="0" err="1"/>
              <a:t>FedAvg</a:t>
            </a:r>
            <a:r>
              <a:rPr lang="en-US" dirty="0"/>
              <a:t>.</a:t>
            </a:r>
          </a:p>
          <a:p>
            <a:pPr>
              <a:buFont typeface="+mj-lt"/>
              <a:buAutoNum type="arabicPeriod" startAt="5"/>
            </a:pPr>
            <a:r>
              <a:rPr lang="en-US" dirty="0"/>
              <a:t>It applies </a:t>
            </a:r>
            <a:r>
              <a:rPr lang="en-US" b="1" dirty="0"/>
              <a:t>temporal weighted </a:t>
            </a:r>
            <a:r>
              <a:rPr lang="en-US" b="1" dirty="0" err="1"/>
              <a:t>FedAvg</a:t>
            </a:r>
            <a:r>
              <a:rPr lang="en-US" b="1" dirty="0"/>
              <a:t> aggregation</a:t>
            </a:r>
            <a:r>
              <a:rPr lang="en-US" dirty="0"/>
              <a:t>, meaning:</a:t>
            </a:r>
          </a:p>
          <a:p>
            <a:pPr marL="742950" lvl="1" indent="-285750">
              <a:buFont typeface="+mj-lt"/>
              <a:buAutoNum type="arabicPeriod" startAt="5"/>
            </a:pPr>
            <a:r>
              <a:rPr lang="en-US" b="1" dirty="0"/>
              <a:t>recent &amp; consistent updates get more importance</a:t>
            </a:r>
            <a:endParaRPr lang="en-US" dirty="0"/>
          </a:p>
          <a:p>
            <a:pPr marL="742950" lvl="1" indent="-285750">
              <a:buFont typeface="+mj-lt"/>
              <a:buAutoNum type="arabicPeriod" startAt="5"/>
            </a:pPr>
            <a:r>
              <a:rPr lang="en-US" b="1" dirty="0"/>
              <a:t>late or inconsistent client updates get less importance</a:t>
            </a:r>
            <a:br>
              <a:rPr lang="en-US" dirty="0"/>
            </a:br>
            <a:r>
              <a:rPr lang="en-US" dirty="0"/>
              <a:t>→ This protects the global model from outdated or faulty information</a:t>
            </a:r>
          </a:p>
          <a:p>
            <a:pPr>
              <a:buFont typeface="+mj-lt"/>
              <a:buAutoNum type="arabicPeriod" startAt="5"/>
            </a:pPr>
            <a:r>
              <a:rPr lang="en-US" dirty="0"/>
              <a:t>The improved global model is sent back to clients for the next training round or real disease prediction.</a:t>
            </a:r>
          </a:p>
        </p:txBody>
      </p:sp>
    </p:spTree>
    <p:extLst>
      <p:ext uri="{BB962C8B-B14F-4D97-AF65-F5344CB8AC3E}">
        <p14:creationId xmlns:p14="http://schemas.microsoft.com/office/powerpoint/2010/main" val="1745279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587719-6E98-40A3-9B38-82E9EBDEF3BE}"/>
              </a:ext>
            </a:extLst>
          </p:cNvPr>
          <p:cNvSpPr>
            <a:spLocks noChangeArrowheads="1"/>
          </p:cNvSpPr>
          <p:nvPr/>
        </p:nvSpPr>
        <p:spPr bwMode="auto">
          <a:xfrm rot="10800000" flipV="1">
            <a:off x="509154" y="1486769"/>
            <a:ext cx="1168284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Server combines those numbers using a rule called: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Temporal Weighted Federated Averaging (Weighted </a:t>
            </a:r>
            <a:r>
              <a:rPr kumimoji="0" lang="en-US" altLang="en-US" sz="1800" b="1" i="0" u="none" strike="noStrike" cap="none" normalizeH="0" baseline="0" dirty="0" err="1">
                <a:ln>
                  <a:noFill/>
                </a:ln>
                <a:solidFill>
                  <a:schemeClr val="tx1"/>
                </a:solidFill>
                <a:effectLst/>
                <a:latin typeface="Arial" panose="020B0604020202020204" pitchFamily="34" charset="0"/>
              </a:rPr>
              <a:t>FedAvg</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Latest correct updates get </a:t>
            </a:r>
            <a:r>
              <a:rPr kumimoji="0" lang="en-US" altLang="en-US" sz="1800" b="1" i="0" u="none" strike="noStrike" cap="none" normalizeH="0" baseline="0" dirty="0">
                <a:ln>
                  <a:noFill/>
                </a:ln>
                <a:solidFill>
                  <a:schemeClr val="tx1"/>
                </a:solidFill>
                <a:effectLst/>
                <a:latin typeface="Arial" panose="020B0604020202020204" pitchFamily="34" charset="0"/>
              </a:rPr>
              <a:t>more weight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Late or faulty updates get </a:t>
            </a:r>
            <a:r>
              <a:rPr kumimoji="0" lang="en-US" altLang="en-US" sz="1800" b="1" i="0" u="none" strike="noStrike" cap="none" normalizeH="0" baseline="0" dirty="0">
                <a:ln>
                  <a:noFill/>
                </a:ln>
                <a:solidFill>
                  <a:schemeClr val="tx1"/>
                </a:solidFill>
                <a:effectLst/>
                <a:latin typeface="Arial" panose="020B0604020202020204" pitchFamily="34" charset="0"/>
              </a:rPr>
              <a:t>less weight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This keeps the global model </a:t>
            </a:r>
            <a:r>
              <a:rPr kumimoji="0" lang="en-US" altLang="en-US" sz="1800" b="1" i="0" u="none" strike="noStrike" cap="none" normalizeH="0" baseline="0" dirty="0">
                <a:ln>
                  <a:noFill/>
                </a:ln>
                <a:solidFill>
                  <a:schemeClr val="tx1"/>
                </a:solidFill>
                <a:effectLst/>
                <a:latin typeface="Arial" panose="020B0604020202020204" pitchFamily="34" charset="0"/>
              </a:rPr>
              <a:t>reliable and up-to-date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After merging, server </a:t>
            </a:r>
            <a:r>
              <a:rPr kumimoji="0" lang="en-US" altLang="en-US" sz="1800" b="1" i="0" u="none" strike="noStrike" cap="none" normalizeH="0" baseline="0" dirty="0">
                <a:ln>
                  <a:noFill/>
                </a:ln>
                <a:solidFill>
                  <a:schemeClr val="tx1"/>
                </a:solidFill>
                <a:effectLst/>
                <a:latin typeface="Arial" panose="020B0604020202020204" pitchFamily="34" charset="0"/>
              </a:rPr>
              <a:t>sends back the new global model to Fog/Edges</a:t>
            </a:r>
            <a:r>
              <a:rPr kumimoji="0" lang="en-US" altLang="en-US" sz="1800" b="0" i="0" u="none" strike="noStrike" cap="none" normalizeH="0" baseline="0" dirty="0">
                <a:ln>
                  <a:noFill/>
                </a:ln>
                <a:solidFill>
                  <a:schemeClr val="tx1"/>
                </a:solidFill>
                <a:effectLst/>
                <a:latin typeface="Arial" panose="020B0604020202020204" pitchFamily="34" charset="0"/>
              </a:rPr>
              <a:t>, as </a:t>
            </a:r>
            <a:r>
              <a:rPr kumimoji="0" lang="en-US" altLang="en-US" sz="1800" b="1" i="0" u="none" strike="noStrike" cap="none" normalizeH="0" baseline="0" dirty="0">
                <a:ln>
                  <a:noFill/>
                </a:ln>
                <a:solidFill>
                  <a:schemeClr val="tx1"/>
                </a:solidFill>
                <a:effectLst/>
                <a:latin typeface="Arial" panose="020B0604020202020204" pitchFamily="34" charset="0"/>
              </a:rPr>
              <a:t>updated weight numbers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463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B54239-BB60-49F8-B496-F22C04FF0532}"/>
              </a:ext>
            </a:extLst>
          </p:cNvPr>
          <p:cNvSpPr>
            <a:spLocks noChangeArrowheads="1"/>
          </p:cNvSpPr>
          <p:nvPr/>
        </p:nvSpPr>
        <p:spPr bwMode="auto">
          <a:xfrm rot="10800000" flipV="1">
            <a:off x="249382" y="2224522"/>
            <a:ext cx="1037012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Initial weights are </a:t>
            </a:r>
            <a:r>
              <a:rPr kumimoji="0" lang="en-US" altLang="en-US" sz="1800" b="1" i="0" u="none" strike="noStrike" cap="none" normalizeH="0" baseline="0" dirty="0">
                <a:ln>
                  <a:noFill/>
                </a:ln>
                <a:solidFill>
                  <a:schemeClr val="tx1"/>
                </a:solidFill>
                <a:effectLst/>
                <a:latin typeface="Arial" panose="020B0604020202020204" pitchFamily="34" charset="0"/>
              </a:rPr>
              <a:t>random numbers from server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Training uses </a:t>
            </a:r>
            <a:r>
              <a:rPr kumimoji="0" lang="en-US" altLang="en-US" sz="1800" b="1" i="0" u="none" strike="noStrike" cap="none" normalizeH="0" baseline="0" dirty="0">
                <a:ln>
                  <a:noFill/>
                </a:ln>
                <a:solidFill>
                  <a:schemeClr val="tx1"/>
                </a:solidFill>
                <a:effectLst/>
                <a:latin typeface="Arial" panose="020B0604020202020204" pitchFamily="34" charset="0"/>
              </a:rPr>
              <a:t>Cross-Entropy loss → Gradients → Gradient norms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Local weight update uses </a:t>
            </a:r>
            <a:r>
              <a:rPr kumimoji="0" lang="en-US" altLang="en-US" sz="1800" b="1" i="0" u="none" strike="noStrike" cap="none" normalizeH="0" baseline="0" dirty="0">
                <a:ln>
                  <a:noFill/>
                </a:ln>
                <a:solidFill>
                  <a:schemeClr val="tx1"/>
                </a:solidFill>
                <a:effectLst/>
                <a:latin typeface="Arial" panose="020B0604020202020204" pitchFamily="34" charset="0"/>
              </a:rPr>
              <a:t>Gradient Descent by Backpropagation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Old important samples are selected using </a:t>
            </a:r>
            <a:r>
              <a:rPr kumimoji="0" lang="en-US" altLang="en-US" sz="1800" b="1" i="0" u="none" strike="noStrike" cap="none" normalizeH="0" baseline="0" dirty="0">
                <a:ln>
                  <a:noFill/>
                </a:ln>
                <a:solidFill>
                  <a:schemeClr val="tx1"/>
                </a:solidFill>
                <a:effectLst/>
                <a:latin typeface="Arial" panose="020B0604020202020204" pitchFamily="34" charset="0"/>
              </a:rPr>
              <a:t>Gradient Norm Ranking → Top-M caching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Server merging uses </a:t>
            </a:r>
            <a:r>
              <a:rPr kumimoji="0" lang="en-US" altLang="en-US" sz="1800" b="1" i="0" u="none" strike="noStrike" cap="none" normalizeH="0" baseline="0" dirty="0">
                <a:ln>
                  <a:noFill/>
                </a:ln>
                <a:solidFill>
                  <a:schemeClr val="tx1"/>
                </a:solidFill>
                <a:effectLst/>
                <a:latin typeface="Arial" panose="020B0604020202020204" pitchFamily="34" charset="0"/>
              </a:rPr>
              <a:t>Temporal Weighted </a:t>
            </a:r>
            <a:r>
              <a:rPr kumimoji="0" lang="en-US" altLang="en-US" sz="1800" b="1" i="0" u="none" strike="noStrike" cap="none" normalizeH="0" baseline="0" dirty="0" err="1">
                <a:ln>
                  <a:noFill/>
                </a:ln>
                <a:solidFill>
                  <a:schemeClr val="tx1"/>
                </a:solidFill>
                <a:effectLst/>
                <a:latin typeface="Arial" panose="020B0604020202020204" pitchFamily="34" charset="0"/>
              </a:rPr>
              <a:t>FedAvg</a:t>
            </a:r>
            <a:r>
              <a:rPr kumimoji="0" lang="en-US" altLang="en-US" sz="1800" b="1" i="0" u="none" strike="noStrike" cap="none" normalizeH="0" baseline="0" dirty="0">
                <a:ln>
                  <a:noFill/>
                </a:ln>
                <a:solidFill>
                  <a:schemeClr val="tx1"/>
                </a:solidFill>
                <a:effectLst/>
                <a:latin typeface="Arial" panose="020B0604020202020204" pitchFamily="34" charset="0"/>
              </a:rPr>
              <a:t> Aggregation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Only </a:t>
            </a:r>
            <a:r>
              <a:rPr kumimoji="0" lang="en-US" altLang="en-US" sz="1800" b="1" i="0" u="none" strike="noStrike" cap="none" normalizeH="0" baseline="0" dirty="0">
                <a:ln>
                  <a:noFill/>
                </a:ln>
                <a:solidFill>
                  <a:schemeClr val="tx1"/>
                </a:solidFill>
                <a:effectLst/>
                <a:latin typeface="Arial" panose="020B0604020202020204" pitchFamily="34" charset="0"/>
              </a:rPr>
              <a:t>model update numbers (weights)</a:t>
            </a:r>
            <a:r>
              <a:rPr kumimoji="0" lang="en-US" altLang="en-US" sz="1800" b="0" i="0" u="none" strike="noStrike" cap="none" normalizeH="0" baseline="0" dirty="0">
                <a:ln>
                  <a:noFill/>
                </a:ln>
                <a:solidFill>
                  <a:schemeClr val="tx1"/>
                </a:solidFill>
                <a:effectLst/>
                <a:latin typeface="Arial" panose="020B0604020202020204" pitchFamily="34" charset="0"/>
              </a:rPr>
              <a:t> are transmitted, never raw medical data</a:t>
            </a:r>
          </a:p>
        </p:txBody>
      </p:sp>
    </p:spTree>
    <p:extLst>
      <p:ext uri="{BB962C8B-B14F-4D97-AF65-F5344CB8AC3E}">
        <p14:creationId xmlns:p14="http://schemas.microsoft.com/office/powerpoint/2010/main" val="2960609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7DD3536-EDA7-4F63-8D36-89352491BFE7}"/>
              </a:ext>
            </a:extLst>
          </p:cNvPr>
          <p:cNvSpPr>
            <a:spLocks noChangeArrowheads="1"/>
          </p:cNvSpPr>
          <p:nvPr/>
        </p:nvSpPr>
        <p:spPr bwMode="auto">
          <a:xfrm>
            <a:off x="1589808" y="-229511"/>
            <a:ext cx="809451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UCI Heart Disease Dataset</a:t>
            </a:r>
            <a:r>
              <a:rPr kumimoji="0" lang="en-US" altLang="en-US" sz="1800" b="0" i="0" u="none" strike="noStrike" cap="none" normalizeH="0" baseline="0" dirty="0">
                <a:ln>
                  <a:noFill/>
                </a:ln>
                <a:solidFill>
                  <a:schemeClr val="tx1"/>
                </a:solidFill>
                <a:effectLst/>
                <a:latin typeface="Arial" panose="020B0604020202020204" pitchFamily="34" charset="0"/>
              </a:rPr>
              <a:t> → 14 mixed numeric + categorical features, target =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Comprehensive Heart Disease Dataset</a:t>
            </a:r>
            <a:r>
              <a:rPr kumimoji="0" lang="en-US" altLang="en-US" sz="1800" b="0" i="0" u="none" strike="noStrike" cap="none" normalizeH="0" baseline="0" dirty="0">
                <a:ln>
                  <a:noFill/>
                </a:ln>
                <a:solidFill>
                  <a:schemeClr val="tx1"/>
                </a:solidFill>
                <a:effectLst/>
                <a:latin typeface="Arial" panose="020B0604020202020204" pitchFamily="34" charset="0"/>
              </a:rPr>
              <a:t> → 11 features, 1190 cases, merged from 5 heart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Kaggle Heart Disease Dataset</a:t>
            </a:r>
            <a:r>
              <a:rPr kumimoji="0" lang="en-US" altLang="en-US" sz="1800" b="0" i="0" u="none" strike="noStrike" cap="none" normalizeH="0" baseline="0" dirty="0">
                <a:ln>
                  <a:noFill/>
                </a:ln>
                <a:solidFill>
                  <a:schemeClr val="tx1"/>
                </a:solidFill>
                <a:effectLst/>
                <a:latin typeface="Arial" panose="020B0604020202020204" pitchFamily="34" charset="0"/>
              </a:rPr>
              <a:t> → 76 features, 14 used, target = 1/0</a:t>
            </a:r>
          </a:p>
        </p:txBody>
      </p:sp>
      <p:graphicFrame>
        <p:nvGraphicFramePr>
          <p:cNvPr id="6" name="Table 5">
            <a:extLst>
              <a:ext uri="{FF2B5EF4-FFF2-40B4-BE49-F238E27FC236}">
                <a16:creationId xmlns:a16="http://schemas.microsoft.com/office/drawing/2014/main" id="{79AAE9F4-1D80-4A0F-9B10-7945B285A3BD}"/>
              </a:ext>
            </a:extLst>
          </p:cNvPr>
          <p:cNvGraphicFramePr>
            <a:graphicFrameLocks noGrp="1"/>
          </p:cNvGraphicFramePr>
          <p:nvPr>
            <p:extLst>
              <p:ext uri="{D42A27DB-BD31-4B8C-83A1-F6EECF244321}">
                <p14:modId xmlns:p14="http://schemas.microsoft.com/office/powerpoint/2010/main" val="3747666643"/>
              </p:ext>
            </p:extLst>
          </p:nvPr>
        </p:nvGraphicFramePr>
        <p:xfrm>
          <a:off x="3859619" y="2629694"/>
          <a:ext cx="4380614" cy="3090619"/>
        </p:xfrm>
        <a:graphic>
          <a:graphicData uri="http://schemas.openxmlformats.org/drawingml/2006/table">
            <a:tbl>
              <a:tblPr firstRow="1" firstCol="1" bandRow="1">
                <a:tableStyleId>{5C22544A-7EE6-4342-B048-85BDC9FD1C3A}</a:tableStyleId>
              </a:tblPr>
              <a:tblGrid>
                <a:gridCol w="3064445">
                  <a:extLst>
                    <a:ext uri="{9D8B030D-6E8A-4147-A177-3AD203B41FA5}">
                      <a16:colId xmlns:a16="http://schemas.microsoft.com/office/drawing/2014/main" val="3879269633"/>
                    </a:ext>
                  </a:extLst>
                </a:gridCol>
                <a:gridCol w="1316169">
                  <a:extLst>
                    <a:ext uri="{9D8B030D-6E8A-4147-A177-3AD203B41FA5}">
                      <a16:colId xmlns:a16="http://schemas.microsoft.com/office/drawing/2014/main" val="3284977244"/>
                    </a:ext>
                  </a:extLst>
                </a:gridCol>
              </a:tblGrid>
              <a:tr h="181801">
                <a:tc>
                  <a:txBody>
                    <a:bodyPr/>
                    <a:lstStyle/>
                    <a:p>
                      <a:r>
                        <a:rPr lang="en-IN" sz="1000">
                          <a:effectLst/>
                        </a:rPr>
                        <a:t>Variable 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6659576"/>
                  </a:ext>
                </a:extLst>
              </a:tr>
              <a:tr h="363603">
                <a:tc>
                  <a:txBody>
                    <a:bodyPr/>
                    <a:lstStyle/>
                    <a:p>
                      <a:r>
                        <a:rPr lang="en-IN" sz="1000">
                          <a:effectLst/>
                        </a:rPr>
                        <a:t>Existence or Nonexistence of Cardiac Disease (Target variable)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5408638"/>
                  </a:ext>
                </a:extLst>
              </a:tr>
              <a:tr h="181801">
                <a:tc>
                  <a:txBody>
                    <a:bodyPr/>
                    <a:lstStyle/>
                    <a:p>
                      <a:r>
                        <a:rPr lang="en-IN" sz="1000">
                          <a:effectLst/>
                        </a:rPr>
                        <a:t>Age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6319566"/>
                  </a:ext>
                </a:extLst>
              </a:tr>
              <a:tr h="181801">
                <a:tc>
                  <a:txBody>
                    <a:bodyPr/>
                    <a:lstStyle/>
                    <a:p>
                      <a:r>
                        <a:rPr lang="en-IN" sz="1000">
                          <a:effectLst/>
                        </a:rPr>
                        <a:t>Chest Pain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12307348"/>
                  </a:ext>
                </a:extLst>
              </a:tr>
              <a:tr h="181801">
                <a:tc>
                  <a:txBody>
                    <a:bodyPr/>
                    <a:lstStyle/>
                    <a:p>
                      <a:r>
                        <a:rPr lang="en-IN" sz="1000">
                          <a:effectLst/>
                        </a:rPr>
                        <a:t>Serum Cholesterol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62750626"/>
                  </a:ext>
                </a:extLst>
              </a:tr>
              <a:tr h="181801">
                <a:tc>
                  <a:txBody>
                    <a:bodyPr/>
                    <a:lstStyle/>
                    <a:p>
                      <a:r>
                        <a:rPr lang="en-IN" sz="1000">
                          <a:effectLst/>
                        </a:rPr>
                        <a:t>Angina Induced by Exercise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57005627"/>
                  </a:ext>
                </a:extLst>
              </a:tr>
              <a:tr h="181801">
                <a:tc>
                  <a:txBody>
                    <a:bodyPr/>
                    <a:lstStyle/>
                    <a:p>
                      <a:r>
                        <a:rPr lang="en-IN" sz="1000">
                          <a:effectLst/>
                        </a:rPr>
                        <a:t>Fasting Glucose Level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56589933"/>
                  </a:ext>
                </a:extLst>
              </a:tr>
              <a:tr h="181801">
                <a:tc>
                  <a:txBody>
                    <a:bodyPr/>
                    <a:lstStyle/>
                    <a:p>
                      <a:r>
                        <a:rPr lang="en-IN" sz="1000">
                          <a:effectLst/>
                        </a:rPr>
                        <a:t>Peak Heart Rate Attained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23465327"/>
                  </a:ext>
                </a:extLst>
              </a:tr>
              <a:tr h="181801">
                <a:tc>
                  <a:txBody>
                    <a:bodyPr/>
                    <a:lstStyle/>
                    <a:p>
                      <a:r>
                        <a:rPr lang="en-IN" sz="1000">
                          <a:effectLst/>
                        </a:rPr>
                        <a:t>Number of Major Vessels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8835698"/>
                  </a:ext>
                </a:extLst>
              </a:tr>
              <a:tr h="363603">
                <a:tc>
                  <a:txBody>
                    <a:bodyPr/>
                    <a:lstStyle/>
                    <a:p>
                      <a:r>
                        <a:rPr lang="en-IN" sz="1000">
                          <a:effectLst/>
                        </a:rPr>
                        <a:t>Previous peak (ST segment depression elicited by activity compared to rest)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8831452"/>
                  </a:ext>
                </a:extLst>
              </a:tr>
              <a:tr h="181801">
                <a:tc>
                  <a:txBody>
                    <a:bodyPr/>
                    <a:lstStyle/>
                    <a:p>
                      <a:r>
                        <a:rPr lang="en-IN" sz="1000">
                          <a:effectLst/>
                        </a:rPr>
                        <a:t>Resting Blood Pressure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Integer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80540431"/>
                  </a:ext>
                </a:extLst>
              </a:tr>
              <a:tr h="181801">
                <a:tc>
                  <a:txBody>
                    <a:bodyPr/>
                    <a:lstStyle/>
                    <a:p>
                      <a:r>
                        <a:rPr lang="en-IN" sz="1000">
                          <a:effectLst/>
                        </a:rPr>
                        <a:t>Resting Electrocardiographic Results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5805341"/>
                  </a:ext>
                </a:extLst>
              </a:tr>
              <a:tr h="181801">
                <a:tc>
                  <a:txBody>
                    <a:bodyPr/>
                    <a:lstStyle/>
                    <a:p>
                      <a:r>
                        <a:rPr lang="en-IN" sz="1000">
                          <a:effectLst/>
                        </a:rPr>
                        <a:t>Gender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25115700"/>
                  </a:ext>
                </a:extLst>
              </a:tr>
              <a:tr h="181801">
                <a:tc>
                  <a:txBody>
                    <a:bodyPr/>
                    <a:lstStyle/>
                    <a:p>
                      <a:r>
                        <a:rPr lang="en-IN" sz="1000">
                          <a:effectLst/>
                        </a:rPr>
                        <a:t>Slope of the Peak Exercise ST Segment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Categorical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08083006"/>
                  </a:ext>
                </a:extLst>
              </a:tr>
              <a:tr h="181801">
                <a:tc>
                  <a:txBody>
                    <a:bodyPr/>
                    <a:lstStyle/>
                    <a:p>
                      <a:r>
                        <a:rPr lang="en-IN" sz="1000">
                          <a:effectLst/>
                        </a:rPr>
                        <a:t>Thalassemia</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Categorical</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43239397"/>
                  </a:ext>
                </a:extLst>
              </a:tr>
            </a:tbl>
          </a:graphicData>
        </a:graphic>
      </p:graphicFrame>
      <p:sp>
        <p:nvSpPr>
          <p:cNvPr id="7" name="Rectangle 3">
            <a:extLst>
              <a:ext uri="{FF2B5EF4-FFF2-40B4-BE49-F238E27FC236}">
                <a16:creationId xmlns:a16="http://schemas.microsoft.com/office/drawing/2014/main" id="{41835D8F-94B6-4A2D-A697-787DEA9CCEDF}"/>
              </a:ext>
            </a:extLst>
          </p:cNvPr>
          <p:cNvSpPr>
            <a:spLocks noChangeArrowheads="1"/>
          </p:cNvSpPr>
          <p:nvPr/>
        </p:nvSpPr>
        <p:spPr bwMode="auto">
          <a:xfrm>
            <a:off x="1808175" y="2597478"/>
            <a:ext cx="173203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73038"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Dataset Description (UCI Heart Disease Dataset)</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4868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53B18C-4D65-4BEB-832D-8E387D2FA323}"/>
              </a:ext>
            </a:extLst>
          </p:cNvPr>
          <p:cNvSpPr txBox="1"/>
          <p:nvPr/>
        </p:nvSpPr>
        <p:spPr>
          <a:xfrm>
            <a:off x="4460297" y="511525"/>
            <a:ext cx="6094268" cy="369332"/>
          </a:xfrm>
          <a:prstGeom prst="rect">
            <a:avLst/>
          </a:prstGeom>
          <a:noFill/>
        </p:spPr>
        <p:txBody>
          <a:bodyPr wrap="square">
            <a:spAutoFit/>
          </a:bodyPr>
          <a:lstStyle/>
          <a:p>
            <a:pPr algn="just">
              <a:spcBef>
                <a:spcPts val="600"/>
              </a:spcBef>
              <a:spcAft>
                <a:spcPts val="300"/>
              </a:spcAft>
            </a:pPr>
            <a:r>
              <a:rPr lang="en-IN" sz="1800" b="1" i="1" dirty="0">
                <a:solidFill>
                  <a:srgbClr val="000000"/>
                </a:solidFill>
                <a:effectLst/>
                <a:latin typeface="Times New Roman" panose="02020603050405020304" pitchFamily="18" charset="0"/>
                <a:ea typeface="Times New Roman" panose="02020603050405020304" pitchFamily="18" charset="0"/>
              </a:rPr>
              <a:t>Performance Analysis</a:t>
            </a:r>
            <a:endParaRPr lang="en-IN" sz="2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394685A-8E46-4A60-BA91-CFA5ADD919C6}"/>
                  </a:ext>
                </a:extLst>
              </p:cNvPr>
              <p:cNvSpPr txBox="1"/>
              <p:nvPr/>
            </p:nvSpPr>
            <p:spPr>
              <a:xfrm>
                <a:off x="3047134" y="1259817"/>
                <a:ext cx="6094268" cy="4338367"/>
              </a:xfrm>
              <a:prstGeom prst="rect">
                <a:avLst/>
              </a:prstGeom>
              <a:noFill/>
            </p:spPr>
            <p:txBody>
              <a:bodyPr wrap="square">
                <a:spAutoFit/>
              </a:bodyPr>
              <a:lstStyle/>
              <a:p>
                <a:pPr marL="0" indent="0">
                  <a:buNone/>
                </a:pPr>
                <a:r>
                  <a:rPr lang="en-US" sz="1800" dirty="0">
                    <a:effectLst/>
                    <a:ea typeface="SimSun" panose="02010600030101010101" pitchFamily="2" charset="-122"/>
                  </a:rPr>
                  <a:t>The dataset collected from wearable devices are used to train and evaluate heart disease prediction</a:t>
                </a:r>
              </a:p>
              <a:p>
                <a:pPr marL="0" indent="0">
                  <a:buNone/>
                </a:pPr>
                <a:r>
                  <a:rPr lang="en-US" sz="1800" dirty="0">
                    <a:solidFill>
                      <a:srgbClr val="131313"/>
                    </a:solidFill>
                    <a:effectLst/>
                    <a:ea typeface="SimSun" panose="02010600030101010101" pitchFamily="2" charset="-122"/>
                  </a:rPr>
                  <a:t>Performance measures: Precision (Pre), </a:t>
                </a:r>
              </a:p>
              <a:p>
                <a:pPr marL="0" indent="0">
                  <a:buNone/>
                </a:pPr>
                <a:r>
                  <a:rPr lang="en-US" sz="1800" dirty="0">
                    <a:solidFill>
                      <a:srgbClr val="131313"/>
                    </a:solidFill>
                    <a:effectLst/>
                    <a:ea typeface="SimSun" panose="02010600030101010101" pitchFamily="2" charset="-122"/>
                  </a:rPr>
                  <a:t>Recall (Rec) or Sensitivity</a:t>
                </a:r>
                <a:r>
                  <a:rPr lang="en-US" sz="1800" dirty="0">
                    <a:effectLst/>
                    <a:ea typeface="SimSun" panose="02010600030101010101" pitchFamily="2" charset="-122"/>
                  </a:rPr>
                  <a:t>, </a:t>
                </a:r>
              </a:p>
              <a:p>
                <a:pPr marL="0" indent="0">
                  <a:buNone/>
                </a:pPr>
                <a:r>
                  <a:rPr lang="en-US" sz="1800" dirty="0">
                    <a:effectLst/>
                    <a:ea typeface="SimSun" panose="02010600030101010101" pitchFamily="2" charset="-122"/>
                  </a:rPr>
                  <a:t>F1-Score and </a:t>
                </a:r>
                <a:r>
                  <a:rPr lang="en-US" sz="1800" dirty="0">
                    <a:solidFill>
                      <a:srgbClr val="131313"/>
                    </a:solidFill>
                    <a:effectLst/>
                    <a:ea typeface="SimSun" panose="02010600030101010101" pitchFamily="2" charset="-122"/>
                  </a:rPr>
                  <a:t>Accuracy (Acc) have been used to evaluate the classifiers</a:t>
                </a:r>
              </a:p>
              <a:p>
                <a:pPr marL="0" indent="0">
                  <a:buNone/>
                </a:pPr>
                <a:r>
                  <a:rPr lang="en-US" sz="1800" dirty="0">
                    <a:solidFill>
                      <a:srgbClr val="131313"/>
                    </a:solidFill>
                    <a:effectLst/>
                    <a:ea typeface="SimSun" panose="02010600030101010101" pitchFamily="2" charset="-122"/>
                  </a:rPr>
                  <a:t>Accuracy (Acc) </a:t>
                </a:r>
              </a:p>
              <a:p>
                <a:pPr marL="0" indent="0">
                  <a:buNone/>
                </a:pPr>
                <a:r>
                  <a:rPr lang="en-US" sz="1800" dirty="0">
                    <a:solidFill>
                      <a:srgbClr val="131313"/>
                    </a:solidFill>
                    <a:effectLst/>
                    <a:ea typeface="SimSun" panose="02010600030101010101" pitchFamily="2" charset="-122"/>
                  </a:rPr>
                  <a:t>Assesses the precision or correctness of a machine learning or classifier models predictions. Mathematically, it is given by Equation :</a:t>
                </a:r>
              </a:p>
              <a:p>
                <a:pPr marL="0" indent="0">
                  <a:buNone/>
                </a:pPr>
                <a14:m>
                  <m:oMathPara xmlns:m="http://schemas.openxmlformats.org/officeDocument/2006/math">
                    <m:oMathParaPr>
                      <m:jc m:val="centerGroup"/>
                    </m:oMathParaPr>
                    <m:oMath xmlns:m="http://schemas.openxmlformats.org/officeDocument/2006/math">
                      <m:r>
                        <m:rPr>
                          <m:sty m:val="p"/>
                        </m:rPr>
                        <a:rPr lang="en-IN" sz="1800" smtClean="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Accuracy</m:t>
                      </m:r>
                      <m:d>
                        <m:dPr>
                          <m:ctrlPr>
                            <a:rPr lang="en-IN" sz="1800" i="1">
                              <a:solidFill>
                                <a:srgbClr val="131313"/>
                              </a:solidFill>
                              <a:effectLst/>
                              <a:latin typeface="Cambria Math" panose="02040503050406030204" pitchFamily="18" charset="0"/>
                            </a:rPr>
                          </m:ctrlPr>
                        </m:dPr>
                        <m:e>
                          <m:r>
                            <a:rPr lang="en-IN" sz="1800" i="1">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𝐴𝑐𝑐</m:t>
                          </m:r>
                        </m:e>
                      </m:d>
                      <m: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IN" sz="1800" i="1">
                              <a:solidFill>
                                <a:srgbClr val="131313"/>
                              </a:solidFill>
                              <a:effectLst/>
                              <a:latin typeface="Cambria Math" panose="02040503050406030204" pitchFamily="18" charset="0"/>
                            </a:rPr>
                          </m:ctrlPr>
                        </m:fPr>
                        <m:num>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TN</m:t>
                          </m:r>
                        </m:num>
                        <m:den>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TN</m:t>
                          </m:r>
                          <m: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FP</m:t>
                          </m:r>
                          <m: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IN"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FN</m:t>
                          </m:r>
                        </m:den>
                      </m:f>
                    </m:oMath>
                  </m:oMathPara>
                </a14:m>
                <a:endParaRPr lang="en-IN" sz="1800" dirty="0"/>
              </a:p>
              <a:p>
                <a:pPr marL="0" indent="0">
                  <a:buNone/>
                </a:pPr>
                <a:r>
                  <a:rPr lang="en-US" sz="1800" spc="-5" dirty="0">
                    <a:solidFill>
                      <a:srgbClr val="131313"/>
                    </a:solidFill>
                    <a:effectLst/>
                    <a:ea typeface="SimSun" panose="02010600030101010101" pitchFamily="2" charset="-122"/>
                  </a:rPr>
                  <a:t>Precision  measures the predicted positive instances that are true/real positives. Mathematically, it is given by Equation (15).</a:t>
                </a:r>
                <a:endParaRPr lang="en-IN" sz="1800" spc="-5" dirty="0">
                  <a:effectLst/>
                  <a:ea typeface="SimSun" panose="02010600030101010101" pitchFamily="2" charset="-122"/>
                </a:endParaRPr>
              </a:p>
              <a:p>
                <a14:m>
                  <m:oMath xmlns:m="http://schemas.openxmlformats.org/officeDocument/2006/math">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Precision</m:t>
                    </m:r>
                    <m:d>
                      <m:dPr>
                        <m:ctrlPr>
                          <a:rPr lang="en-IN" sz="1800" i="1">
                            <a:solidFill>
                              <a:srgbClr val="131313"/>
                            </a:solidFill>
                            <a:effectLst/>
                            <a:latin typeface="Cambria Math" panose="02040503050406030204" pitchFamily="18" charset="0"/>
                          </a:rPr>
                        </m:ctrlPr>
                      </m:dPr>
                      <m:e>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Pre</m:t>
                        </m:r>
                      </m:e>
                    </m:d>
                    <m: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IN" sz="1800" i="1">
                            <a:solidFill>
                              <a:srgbClr val="131313"/>
                            </a:solidFill>
                            <a:effectLst/>
                            <a:latin typeface="Cambria Math" panose="02040503050406030204" pitchFamily="18" charset="0"/>
                          </a:rPr>
                        </m:ctrlPr>
                      </m:fPr>
                      <m:num>
                        <m:r>
                          <m:rPr>
                            <m:sty m:val="p"/>
                          </m:rPr>
                          <a:rPr lang="en-GB"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num>
                      <m:den>
                        <m:r>
                          <m:rPr>
                            <m:sty m:val="p"/>
                          </m:rPr>
                          <a:rPr lang="en-GB"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r>
                          <a:rPr lang="en-GB"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GB"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FP</m:t>
                        </m:r>
                      </m:den>
                    </m:f>
                  </m:oMath>
                </a14:m>
                <a:r>
                  <a:rPr lang="en-GB" sz="1600" dirty="0">
                    <a:solidFill>
                      <a:srgbClr val="131313"/>
                    </a:solidFill>
                    <a:effectLst/>
                    <a:latin typeface="Times New Roman" panose="02020603050405020304" pitchFamily="18" charset="0"/>
                    <a:ea typeface="SimSun" panose="02010600030101010101" pitchFamily="2" charset="-122"/>
                  </a:rPr>
                  <a:t> </a:t>
                </a:r>
                <a:endParaRPr lang="en-IN" dirty="0"/>
              </a:p>
            </p:txBody>
          </p:sp>
        </mc:Choice>
        <mc:Fallback>
          <p:sp>
            <p:nvSpPr>
              <p:cNvPr id="5" name="TextBox 4">
                <a:extLst>
                  <a:ext uri="{FF2B5EF4-FFF2-40B4-BE49-F238E27FC236}">
                    <a16:creationId xmlns:a16="http://schemas.microsoft.com/office/drawing/2014/main" id="{C394685A-8E46-4A60-BA91-CFA5ADD919C6}"/>
                  </a:ext>
                </a:extLst>
              </p:cNvPr>
              <p:cNvSpPr txBox="1">
                <a:spLocks noRot="1" noChangeAspect="1" noMove="1" noResize="1" noEditPoints="1" noAdjustHandles="1" noChangeArrowheads="1" noChangeShapeType="1" noTextEdit="1"/>
              </p:cNvSpPr>
              <p:nvPr/>
            </p:nvSpPr>
            <p:spPr>
              <a:xfrm>
                <a:off x="3047134" y="1259817"/>
                <a:ext cx="6094268" cy="4338367"/>
              </a:xfrm>
              <a:prstGeom prst="rect">
                <a:avLst/>
              </a:prstGeom>
              <a:blipFill>
                <a:blip r:embed="rId2"/>
                <a:stretch>
                  <a:fillRect l="-900" t="-844"/>
                </a:stretch>
              </a:blipFill>
            </p:spPr>
            <p:txBody>
              <a:bodyPr/>
              <a:lstStyle/>
              <a:p>
                <a:r>
                  <a:rPr lang="en-IN">
                    <a:noFill/>
                  </a:rPr>
                  <a:t> </a:t>
                </a:r>
              </a:p>
            </p:txBody>
          </p:sp>
        </mc:Fallback>
      </mc:AlternateContent>
    </p:spTree>
    <p:extLst>
      <p:ext uri="{BB962C8B-B14F-4D97-AF65-F5344CB8AC3E}">
        <p14:creationId xmlns:p14="http://schemas.microsoft.com/office/powerpoint/2010/main" val="247246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D4541D6-11E1-44D3-A0DA-C26D0B1F1F81}"/>
                  </a:ext>
                </a:extLst>
              </p:cNvPr>
              <p:cNvSpPr txBox="1"/>
              <p:nvPr/>
            </p:nvSpPr>
            <p:spPr>
              <a:xfrm>
                <a:off x="3047134" y="1679515"/>
                <a:ext cx="6094268" cy="3498971"/>
              </a:xfrm>
              <a:prstGeom prst="rect">
                <a:avLst/>
              </a:prstGeom>
              <a:noFill/>
            </p:spPr>
            <p:txBody>
              <a:bodyPr wrap="square">
                <a:spAutoFit/>
              </a:bodyPr>
              <a:lstStyle/>
              <a:p>
                <a:pPr indent="0" algn="just">
                  <a:lnSpc>
                    <a:spcPct val="95000"/>
                  </a:lnSpc>
                  <a:spcAft>
                    <a:spcPts val="600"/>
                  </a:spcAft>
                  <a:buNone/>
                  <a:tabLst>
                    <a:tab pos="182880" algn="l"/>
                  </a:tabLst>
                </a:pPr>
                <a:r>
                  <a:rPr lang="en-US" sz="1800" spc="-5" dirty="0">
                    <a:solidFill>
                      <a:srgbClr val="131313"/>
                    </a:solidFill>
                    <a:effectLst/>
                    <a:ea typeface="SimSun" panose="02010600030101010101" pitchFamily="2" charset="-122"/>
                  </a:rPr>
                  <a:t>Recall (R) or Sensitivity (SEN) evaluates the analysis of the total number of true/real positive instances as affected by the total number of false negative instances. Mathematically, it is given by Equation (16).</a:t>
                </a:r>
                <a:endParaRPr lang="en-IN" sz="1800" spc="-5" dirty="0">
                  <a:effectLst/>
                  <a:ea typeface="SimSun" panose="02010600030101010101" pitchFamily="2" charset="-122"/>
                </a:endParaRPr>
              </a:p>
              <a:p>
                <a:pPr marL="0" indent="0">
                  <a:buNone/>
                </a:pPr>
                <a:r>
                  <a:rPr lang="en-US" sz="1800" dirty="0">
                    <a:solidFill>
                      <a:srgbClr val="131313"/>
                    </a:solidFill>
                    <a:effectLst/>
                    <a:ea typeface="SimSun" panose="02010600030101010101" pitchFamily="2" charset="-122"/>
                    <a:cs typeface="Times New Roman" panose="02020603050405020304" pitchFamily="18" charset="0"/>
                  </a:rPr>
                  <a:t>				</a:t>
                </a:r>
                <a14:m>
                  <m:oMath xmlns:m="http://schemas.openxmlformats.org/officeDocument/2006/math">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Recall</m:t>
                    </m:r>
                    <m:d>
                      <m:dPr>
                        <m:ctrlPr>
                          <a:rPr lang="en-IN" sz="1800" i="1">
                            <a:solidFill>
                              <a:srgbClr val="131313"/>
                            </a:solidFill>
                            <a:effectLst/>
                            <a:latin typeface="Cambria Math" panose="02040503050406030204" pitchFamily="18" charset="0"/>
                          </a:rPr>
                        </m:ctrlPr>
                      </m:dPr>
                      <m:e>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R</m:t>
                        </m:r>
                      </m:e>
                    </m:d>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ec</m:t>
                    </m:r>
                    <m: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Sensitivity</m:t>
                    </m:r>
                    <m:d>
                      <m:dPr>
                        <m:ctrlPr>
                          <a:rPr lang="en-IN" sz="1800" i="1">
                            <a:solidFill>
                              <a:srgbClr val="131313"/>
                            </a:solidFill>
                            <a:effectLst/>
                            <a:latin typeface="Cambria Math" panose="02040503050406030204" pitchFamily="18" charset="0"/>
                          </a:rPr>
                        </m:ctrlPr>
                      </m:dPr>
                      <m:e>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SEN</m:t>
                        </m:r>
                      </m:e>
                    </m:d>
                    <m: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IN" sz="1800" i="1">
                            <a:solidFill>
                              <a:srgbClr val="131313"/>
                            </a:solidFill>
                            <a:effectLst/>
                            <a:latin typeface="Cambria Math" panose="02040503050406030204" pitchFamily="18" charset="0"/>
                          </a:rPr>
                        </m:ctrlPr>
                      </m:fPr>
                      <m:num>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num>
                      <m:den>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TP</m:t>
                        </m:r>
                        <m: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m:t>
                        </m:r>
                        <m:r>
                          <m:rPr>
                            <m:sty m:val="p"/>
                          </m:rPr>
                          <a:rPr lang="en-US" sz="1800">
                            <a:solidFill>
                              <a:srgbClr val="131313"/>
                            </a:solidFill>
                            <a:effectLst/>
                            <a:latin typeface="Cambria Math" panose="02040503050406030204" pitchFamily="18" charset="0"/>
                            <a:ea typeface="SimSun" panose="02010600030101010101" pitchFamily="2" charset="-122"/>
                            <a:cs typeface="Times New Roman" panose="02020603050405020304" pitchFamily="18" charset="0"/>
                          </a:rPr>
                          <m:t>FN</m:t>
                        </m:r>
                      </m:den>
                    </m:f>
                  </m:oMath>
                </a14:m>
                <a:r>
                  <a:rPr lang="en-US" sz="1800" dirty="0">
                    <a:solidFill>
                      <a:srgbClr val="131313"/>
                    </a:solidFill>
                    <a:effectLst/>
                    <a:ea typeface="SimSun" panose="02010600030101010101" pitchFamily="2" charset="-122"/>
                  </a:rPr>
                  <a:t> </a:t>
                </a:r>
              </a:p>
              <a:p>
                <a:pPr indent="0" algn="just">
                  <a:lnSpc>
                    <a:spcPct val="95000"/>
                  </a:lnSpc>
                  <a:spcAft>
                    <a:spcPts val="600"/>
                  </a:spcAft>
                  <a:buNone/>
                  <a:tabLst>
                    <a:tab pos="182880" algn="l"/>
                  </a:tabLst>
                </a:pPr>
                <a:endParaRPr lang="en-US" sz="1800" spc="-5" dirty="0">
                  <a:effectLst/>
                  <a:ea typeface="SimSun" panose="02010600030101010101" pitchFamily="2" charset="-122"/>
                </a:endParaRPr>
              </a:p>
              <a:p>
                <a:pPr indent="0" algn="just">
                  <a:lnSpc>
                    <a:spcPct val="95000"/>
                  </a:lnSpc>
                  <a:spcAft>
                    <a:spcPts val="600"/>
                  </a:spcAft>
                  <a:buNone/>
                  <a:tabLst>
                    <a:tab pos="182880" algn="l"/>
                  </a:tabLst>
                </a:pPr>
                <a:endParaRPr lang="en-IN" sz="1800" spc="-5" dirty="0">
                  <a:ea typeface="SimSun" panose="02010600030101010101" pitchFamily="2" charset="-122"/>
                </a:endParaRPr>
              </a:p>
              <a:p>
                <a:pPr indent="0" algn="just">
                  <a:lnSpc>
                    <a:spcPct val="95000"/>
                  </a:lnSpc>
                  <a:spcAft>
                    <a:spcPts val="600"/>
                  </a:spcAft>
                  <a:buNone/>
                  <a:tabLst>
                    <a:tab pos="182880" algn="l"/>
                  </a:tabLst>
                </a:pPr>
                <a:r>
                  <a:rPr lang="x-none" sz="1800" spc="-5" dirty="0">
                    <a:effectLst/>
                    <a:ea typeface="SimSun" panose="02010600030101010101" pitchFamily="2" charset="-122"/>
                  </a:rPr>
                  <a:t>F1-</a:t>
                </a:r>
                <a:r>
                  <a:rPr lang="en-US" sz="1800" spc="-5" dirty="0">
                    <a:solidFill>
                      <a:srgbClr val="131313"/>
                    </a:solidFill>
                    <a:effectLst/>
                    <a:ea typeface="SimSun" panose="02010600030101010101" pitchFamily="2" charset="-122"/>
                  </a:rPr>
                  <a:t>score</a:t>
                </a:r>
                <a:r>
                  <a:rPr lang="en-US" sz="1800" spc="-5" dirty="0">
                    <a:effectLst/>
                    <a:ea typeface="SimSun" panose="02010600030101010101" pitchFamily="2" charset="-122"/>
                  </a:rPr>
                  <a:t> </a:t>
                </a:r>
                <a14:m>
                  <m:oMath xmlns:m="http://schemas.openxmlformats.org/officeDocument/2006/math">
                    <m:d>
                      <m:dPr>
                        <m:ctrlPr>
                          <a:rPr lang="en-IN" sz="1800" i="1" spc="-5">
                            <a:effectLst/>
                            <a:latin typeface="Cambria Math" panose="02040503050406030204" pitchFamily="18" charset="0"/>
                            <a:ea typeface="SimSun" panose="02010600030101010101" pitchFamily="2" charset="-122"/>
                          </a:rPr>
                        </m:ctrlPr>
                      </m:dPr>
                      <m:e>
                        <m:r>
                          <a:rPr lang="x-none" sz="1800" i="1" spc="-5">
                            <a:effectLst/>
                            <a:latin typeface="Cambria Math" panose="02040503050406030204" pitchFamily="18" charset="0"/>
                            <a:ea typeface="SimSun" panose="02010600030101010101" pitchFamily="2" charset="-122"/>
                          </a:rPr>
                          <m:t>𝐹</m:t>
                        </m:r>
                        <m:r>
                          <a:rPr lang="x-none" sz="1800" i="1" spc="-5">
                            <a:effectLst/>
                            <a:latin typeface="Cambria Math" panose="02040503050406030204" pitchFamily="18" charset="0"/>
                            <a:ea typeface="SimSun" panose="02010600030101010101" pitchFamily="2" charset="-122"/>
                          </a:rPr>
                          <m:t>1</m:t>
                        </m:r>
                      </m:e>
                    </m:d>
                  </m:oMath>
                </a14:m>
                <a:r>
                  <a:rPr lang="x-none" sz="1800" spc="-5" dirty="0">
                    <a:effectLst/>
                    <a:ea typeface="SimSun" panose="02010600030101010101" pitchFamily="2" charset="-122"/>
                  </a:rPr>
                  <a:t>: It is calculated by</a:t>
                </a:r>
                <a:endParaRPr lang="en-IN" sz="1800" spc="-5" dirty="0">
                  <a:ea typeface="SimSun" panose="02010600030101010101" pitchFamily="2" charset="-122"/>
                </a:endParaRPr>
              </a:p>
              <a:p>
                <a:pPr indent="0" algn="just">
                  <a:lnSpc>
                    <a:spcPct val="95000"/>
                  </a:lnSpc>
                  <a:spcAft>
                    <a:spcPts val="600"/>
                  </a:spcAft>
                  <a:buNone/>
                  <a:tabLst>
                    <a:tab pos="182880" algn="l"/>
                  </a:tabLs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𝐹</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f>
                        <m:fPr>
                          <m:ctrlPr>
                            <a:rPr lang="en-IN" sz="1800" i="1">
                              <a:effectLst/>
                              <a:latin typeface="Cambria Math" panose="020405030504060302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𝑃𝑟𝑒𝑐𝑖𝑠𝑖𝑜𝑛</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𝑅𝑒𝑐𝑎𝑙𝑙</m:t>
                          </m:r>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𝑃𝑟𝑒𝑐𝑖𝑠𝑖𝑜𝑛</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𝑅𝑒𝑐𝑎𝑙𝑙</m:t>
                          </m:r>
                        </m:den>
                      </m:f>
                    </m:oMath>
                  </m:oMathPara>
                </a14:m>
                <a:endParaRPr lang="en-IN" dirty="0"/>
              </a:p>
            </p:txBody>
          </p:sp>
        </mc:Choice>
        <mc:Fallback>
          <p:sp>
            <p:nvSpPr>
              <p:cNvPr id="3" name="TextBox 2">
                <a:extLst>
                  <a:ext uri="{FF2B5EF4-FFF2-40B4-BE49-F238E27FC236}">
                    <a16:creationId xmlns:a16="http://schemas.microsoft.com/office/drawing/2014/main" id="{5D4541D6-11E1-44D3-A0DA-C26D0B1F1F81}"/>
                  </a:ext>
                </a:extLst>
              </p:cNvPr>
              <p:cNvSpPr txBox="1">
                <a:spLocks noRot="1" noChangeAspect="1" noMove="1" noResize="1" noEditPoints="1" noAdjustHandles="1" noChangeArrowheads="1" noChangeShapeType="1" noTextEdit="1"/>
              </p:cNvSpPr>
              <p:nvPr/>
            </p:nvSpPr>
            <p:spPr>
              <a:xfrm>
                <a:off x="3047134" y="1679515"/>
                <a:ext cx="6094268" cy="3498971"/>
              </a:xfrm>
              <a:prstGeom prst="rect">
                <a:avLst/>
              </a:prstGeom>
              <a:blipFill>
                <a:blip r:embed="rId2"/>
                <a:stretch>
                  <a:fillRect l="-900" t="-1396" r="-800"/>
                </a:stretch>
              </a:blipFill>
            </p:spPr>
            <p:txBody>
              <a:bodyPr/>
              <a:lstStyle/>
              <a:p>
                <a:r>
                  <a:rPr lang="en-IN">
                    <a:noFill/>
                  </a:rPr>
                  <a:t> </a:t>
                </a:r>
              </a:p>
            </p:txBody>
          </p:sp>
        </mc:Fallback>
      </mc:AlternateContent>
    </p:spTree>
    <p:extLst>
      <p:ext uri="{BB962C8B-B14F-4D97-AF65-F5344CB8AC3E}">
        <p14:creationId xmlns:p14="http://schemas.microsoft.com/office/powerpoint/2010/main" val="300428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FD24B26-91B7-41DC-AD7A-28941E0CF260}"/>
              </a:ext>
            </a:extLst>
          </p:cNvPr>
          <p:cNvGraphicFramePr>
            <a:graphicFrameLocks noGrp="1"/>
          </p:cNvGraphicFramePr>
          <p:nvPr>
            <p:extLst>
              <p:ext uri="{D42A27DB-BD31-4B8C-83A1-F6EECF244321}">
                <p14:modId xmlns:p14="http://schemas.microsoft.com/office/powerpoint/2010/main" val="836743800"/>
              </p:ext>
            </p:extLst>
          </p:nvPr>
        </p:nvGraphicFramePr>
        <p:xfrm>
          <a:off x="3329622" y="2785904"/>
          <a:ext cx="5532755" cy="2806817"/>
        </p:xfrm>
        <a:graphic>
          <a:graphicData uri="http://schemas.openxmlformats.org/drawingml/2006/table">
            <a:tbl>
              <a:tblPr firstRow="1" firstCol="1" bandRow="1">
                <a:tableStyleId>{5C22544A-7EE6-4342-B048-85BDC9FD1C3A}</a:tableStyleId>
              </a:tblPr>
              <a:tblGrid>
                <a:gridCol w="1167130">
                  <a:extLst>
                    <a:ext uri="{9D8B030D-6E8A-4147-A177-3AD203B41FA5}">
                      <a16:colId xmlns:a16="http://schemas.microsoft.com/office/drawing/2014/main" val="3561708205"/>
                    </a:ext>
                  </a:extLst>
                </a:gridCol>
                <a:gridCol w="629920">
                  <a:extLst>
                    <a:ext uri="{9D8B030D-6E8A-4147-A177-3AD203B41FA5}">
                      <a16:colId xmlns:a16="http://schemas.microsoft.com/office/drawing/2014/main" val="1874295699"/>
                    </a:ext>
                  </a:extLst>
                </a:gridCol>
                <a:gridCol w="719455">
                  <a:extLst>
                    <a:ext uri="{9D8B030D-6E8A-4147-A177-3AD203B41FA5}">
                      <a16:colId xmlns:a16="http://schemas.microsoft.com/office/drawing/2014/main" val="1072134947"/>
                    </a:ext>
                  </a:extLst>
                </a:gridCol>
                <a:gridCol w="719455">
                  <a:extLst>
                    <a:ext uri="{9D8B030D-6E8A-4147-A177-3AD203B41FA5}">
                      <a16:colId xmlns:a16="http://schemas.microsoft.com/office/drawing/2014/main" val="494722905"/>
                    </a:ext>
                  </a:extLst>
                </a:gridCol>
                <a:gridCol w="677545">
                  <a:extLst>
                    <a:ext uri="{9D8B030D-6E8A-4147-A177-3AD203B41FA5}">
                      <a16:colId xmlns:a16="http://schemas.microsoft.com/office/drawing/2014/main" val="4061162271"/>
                    </a:ext>
                  </a:extLst>
                </a:gridCol>
                <a:gridCol w="809625">
                  <a:extLst>
                    <a:ext uri="{9D8B030D-6E8A-4147-A177-3AD203B41FA5}">
                      <a16:colId xmlns:a16="http://schemas.microsoft.com/office/drawing/2014/main" val="3515893361"/>
                    </a:ext>
                  </a:extLst>
                </a:gridCol>
                <a:gridCol w="809625">
                  <a:extLst>
                    <a:ext uri="{9D8B030D-6E8A-4147-A177-3AD203B41FA5}">
                      <a16:colId xmlns:a16="http://schemas.microsoft.com/office/drawing/2014/main" val="1483998055"/>
                    </a:ext>
                  </a:extLst>
                </a:gridCol>
              </a:tblGrid>
              <a:tr h="167177">
                <a:tc rowSpan="2">
                  <a:txBody>
                    <a:bodyPr/>
                    <a:lstStyle/>
                    <a:p>
                      <a:pPr indent="182880" algn="ctr">
                        <a:lnSpc>
                          <a:spcPct val="95000"/>
                        </a:lnSpc>
                        <a:spcAft>
                          <a:spcPts val="600"/>
                        </a:spcAft>
                        <a:tabLst>
                          <a:tab pos="182880" algn="l"/>
                        </a:tabLst>
                      </a:pPr>
                      <a:r>
                        <a:rPr lang="en-IN" sz="1000" spc="-5">
                          <a:effectLst/>
                        </a:rPr>
                        <a:t>Dataset </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rowSpan="2">
                  <a:txBody>
                    <a:bodyPr/>
                    <a:lstStyle/>
                    <a:p>
                      <a:pPr indent="182880" algn="ctr">
                        <a:lnSpc>
                          <a:spcPct val="95000"/>
                        </a:lnSpc>
                        <a:spcAft>
                          <a:spcPts val="600"/>
                        </a:spcAft>
                        <a:tabLst>
                          <a:tab pos="182880" algn="l"/>
                        </a:tabLst>
                      </a:pPr>
                      <a:r>
                        <a:rPr lang="en-IN" sz="1000" spc="-5">
                          <a:effectLst/>
                        </a:rPr>
                        <a:t>Metrics</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5">
                  <a:txBody>
                    <a:bodyPr/>
                    <a:lstStyle/>
                    <a:p>
                      <a:pPr indent="182880" algn="ctr">
                        <a:lnSpc>
                          <a:spcPct val="95000"/>
                        </a:lnSpc>
                        <a:spcAft>
                          <a:spcPts val="600"/>
                        </a:spcAft>
                        <a:tabLst>
                          <a:tab pos="182880" algn="l"/>
                        </a:tabLst>
                      </a:pPr>
                      <a:r>
                        <a:rPr lang="en-IN" sz="1000" spc="-5">
                          <a:effectLst/>
                        </a:rPr>
                        <a:t>Models</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219896231"/>
                  </a:ext>
                </a:extLst>
              </a:tr>
              <a:tr h="175976">
                <a:tc vMerge="1">
                  <a:txBody>
                    <a:bodyPr/>
                    <a:lstStyle/>
                    <a:p>
                      <a:endParaRPr lang="en-IN"/>
                    </a:p>
                  </a:txBody>
                  <a:tcPr/>
                </a:tc>
                <a:tc vMerge="1">
                  <a:txBody>
                    <a:bodyPr/>
                    <a:lstStyle/>
                    <a:p>
                      <a:endParaRPr lang="en-IN"/>
                    </a:p>
                  </a:txBody>
                  <a:tcPr/>
                </a:tc>
                <a:tc>
                  <a:txBody>
                    <a:bodyPr/>
                    <a:lstStyle/>
                    <a:p>
                      <a:pPr algn="ctr"/>
                      <a:r>
                        <a:rPr lang="en-IN" sz="1000">
                          <a:effectLst/>
                        </a:rPr>
                        <a:t>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Bi-LSTM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TISSLSTM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393034"/>
                  </a:ext>
                </a:extLst>
              </a:tr>
              <a:tr h="175976">
                <a:tc rowSpan="4">
                  <a:txBody>
                    <a:bodyPr/>
                    <a:lstStyle/>
                    <a:p>
                      <a:pPr indent="182880" algn="ctr">
                        <a:lnSpc>
                          <a:spcPct val="95000"/>
                        </a:lnSpc>
                        <a:spcAft>
                          <a:spcPts val="600"/>
                        </a:spcAft>
                        <a:tabLst>
                          <a:tab pos="182880" algn="l"/>
                        </a:tabLst>
                      </a:pPr>
                      <a:r>
                        <a:rPr lang="en-US" sz="1000" spc="-5">
                          <a:effectLst/>
                        </a:rPr>
                        <a:t>Comprehensive Heart Disease Dataset</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2880" algn="ctr">
                        <a:lnSpc>
                          <a:spcPct val="95000"/>
                        </a:lnSpc>
                        <a:spcAft>
                          <a:spcPts val="600"/>
                        </a:spcAft>
                        <a:tabLst>
                          <a:tab pos="182880" algn="l"/>
                        </a:tabLst>
                      </a:pPr>
                      <a:r>
                        <a:rPr lang="en-IN" sz="1000" spc="-5">
                          <a:effectLst/>
                        </a:rPr>
                        <a:t>Acc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82.75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85.49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88.67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94.28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96.12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5125400"/>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Pre</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81.33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83.01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86.52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92.19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94.88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2034417"/>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Rec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80.6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83.95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87.18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93.43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95.57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9308869"/>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F1</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81.81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84.69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87.97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93.24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95.09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32344908"/>
                  </a:ext>
                </a:extLst>
              </a:tr>
              <a:tr h="175976">
                <a:tc rowSpan="5">
                  <a:txBody>
                    <a:bodyPr/>
                    <a:lstStyle/>
                    <a:p>
                      <a:pPr indent="182880" algn="ctr">
                        <a:lnSpc>
                          <a:spcPct val="95000"/>
                        </a:lnSpc>
                        <a:spcAft>
                          <a:spcPts val="600"/>
                        </a:spcAft>
                        <a:tabLst>
                          <a:tab pos="182880" algn="l"/>
                        </a:tabLst>
                      </a:pPr>
                      <a:r>
                        <a:rPr lang="en-US" sz="1000" spc="-5">
                          <a:effectLst/>
                        </a:rPr>
                        <a:t> </a:t>
                      </a:r>
                      <a:endParaRPr lang="en-IN" sz="1200" spc="-5">
                        <a:effectLst/>
                      </a:endParaRPr>
                    </a:p>
                    <a:p>
                      <a:pPr indent="182880" algn="ctr">
                        <a:lnSpc>
                          <a:spcPct val="95000"/>
                        </a:lnSpc>
                        <a:spcAft>
                          <a:spcPts val="600"/>
                        </a:spcAft>
                        <a:tabLst>
                          <a:tab pos="182880" algn="l"/>
                        </a:tabLst>
                      </a:pPr>
                      <a:r>
                        <a:rPr lang="en-US" sz="1000" spc="-5">
                          <a:effectLst/>
                        </a:rPr>
                        <a:t>UCI Heart Disease Dataset</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2880" algn="ctr">
                        <a:lnSpc>
                          <a:spcPct val="95000"/>
                        </a:lnSpc>
                        <a:spcAft>
                          <a:spcPts val="600"/>
                        </a:spcAft>
                        <a:tabLst>
                          <a:tab pos="182880" algn="l"/>
                        </a:tabLst>
                      </a:pPr>
                      <a:r>
                        <a:rPr lang="en-IN" sz="1000" spc="-5">
                          <a:effectLst/>
                        </a:rPr>
                        <a:t> </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Bi-LSTM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TISSLSTM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87142639"/>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Acc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80.12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84.05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88.37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91.48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95.33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89296197"/>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Pre</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82.62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86.64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90.13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96.24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682325"/>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Rec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81.07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87.59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89.47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92.06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94.74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60435990"/>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F1</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83.27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85.25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89.67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92.06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95.24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8904853"/>
                  </a:ext>
                </a:extLst>
              </a:tr>
              <a:tr h="175976">
                <a:tc rowSpan="5">
                  <a:txBody>
                    <a:bodyPr/>
                    <a:lstStyle/>
                    <a:p>
                      <a:pPr indent="182880" algn="ctr">
                        <a:lnSpc>
                          <a:spcPct val="95000"/>
                        </a:lnSpc>
                        <a:spcAft>
                          <a:spcPts val="600"/>
                        </a:spcAft>
                        <a:tabLst>
                          <a:tab pos="182880" algn="l"/>
                        </a:tabLst>
                      </a:pPr>
                      <a:r>
                        <a:rPr lang="en-US" sz="1000" spc="-5">
                          <a:effectLst/>
                        </a:rPr>
                        <a:t> </a:t>
                      </a:r>
                      <a:endParaRPr lang="en-IN" sz="1200" spc="-5">
                        <a:effectLst/>
                      </a:endParaRPr>
                    </a:p>
                    <a:p>
                      <a:pPr indent="182880" algn="ctr">
                        <a:lnSpc>
                          <a:spcPct val="95000"/>
                        </a:lnSpc>
                        <a:spcAft>
                          <a:spcPts val="600"/>
                        </a:spcAft>
                        <a:tabLst>
                          <a:tab pos="182880" algn="l"/>
                        </a:tabLst>
                      </a:pPr>
                      <a:r>
                        <a:rPr lang="en-US" sz="1000" spc="-5">
                          <a:effectLst/>
                        </a:rPr>
                        <a:t>Kaggle Heart Disease Dataset</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2880" algn="ctr">
                        <a:lnSpc>
                          <a:spcPct val="95000"/>
                        </a:lnSpc>
                        <a:spcAft>
                          <a:spcPts val="600"/>
                        </a:spcAft>
                        <a:tabLst>
                          <a:tab pos="182880" algn="l"/>
                        </a:tabLst>
                      </a:pPr>
                      <a:r>
                        <a:rPr lang="en-IN" sz="1000" spc="-5">
                          <a:effectLst/>
                        </a:rPr>
                        <a:t> </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Bi-LSTM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TISSLSTM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4020962"/>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Acc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81.67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86.43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89.65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91.43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94.28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64961528"/>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Pre</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80.23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87.56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91.28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94.29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95.65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79216075"/>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Rec</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82.52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85.12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89.17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90.14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96.14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170816"/>
                  </a:ext>
                </a:extLst>
              </a:tr>
              <a:tr h="175976">
                <a:tc vMerge="1">
                  <a:txBody>
                    <a:bodyPr/>
                    <a:lstStyle/>
                    <a:p>
                      <a:endParaRPr lang="en-IN"/>
                    </a:p>
                  </a:txBody>
                  <a:tcPr/>
                </a:tc>
                <a:tc>
                  <a:txBody>
                    <a:bodyPr/>
                    <a:lstStyle/>
                    <a:p>
                      <a:pPr indent="182880" algn="ctr">
                        <a:lnSpc>
                          <a:spcPct val="95000"/>
                        </a:lnSpc>
                        <a:spcAft>
                          <a:spcPts val="600"/>
                        </a:spcAft>
                        <a:tabLst>
                          <a:tab pos="182880" algn="l"/>
                        </a:tabLst>
                      </a:pPr>
                      <a:r>
                        <a:rPr lang="en-IN" sz="1000" spc="-5">
                          <a:effectLst/>
                        </a:rPr>
                        <a:t>F1</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83.07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dirty="0">
                          <a:effectLst/>
                        </a:rPr>
                        <a:t>86.32</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89.49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92.75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dirty="0">
                          <a:effectLst/>
                        </a:rPr>
                        <a:t>94.28</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07619985"/>
                  </a:ext>
                </a:extLst>
              </a:tr>
            </a:tbl>
          </a:graphicData>
        </a:graphic>
      </p:graphicFrame>
      <p:sp>
        <p:nvSpPr>
          <p:cNvPr id="3" name="Rectangle 1">
            <a:extLst>
              <a:ext uri="{FF2B5EF4-FFF2-40B4-BE49-F238E27FC236}">
                <a16:creationId xmlns:a16="http://schemas.microsoft.com/office/drawing/2014/main" id="{E2ED7377-A8CC-44FB-BD57-7B8AB2D14D41}"/>
              </a:ext>
            </a:extLst>
          </p:cNvPr>
          <p:cNvSpPr>
            <a:spLocks noChangeArrowheads="1"/>
          </p:cNvSpPr>
          <p:nvPr/>
        </p:nvSpPr>
        <p:spPr bwMode="auto">
          <a:xfrm>
            <a:off x="2924951" y="287390"/>
            <a:ext cx="6240314" cy="2707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8834" tIns="914112" rIns="288834" bIns="914112" numCol="1" anchor="ctr" anchorCtr="0" compatLnSpc="1">
            <a:prstTxWarp prst="textNoShape">
              <a:avLst/>
            </a:prstTxWarp>
            <a:spAutoFit/>
          </a:bodyPr>
          <a:lstStyle>
            <a:lvl1pPr indent="182563" eaLnBrk="0" fontAlgn="base" hangingPunct="0">
              <a:spcBef>
                <a:spcPct val="0"/>
              </a:spcBef>
              <a:spcAft>
                <a:spcPct val="0"/>
              </a:spcAft>
              <a:tabLst>
                <a:tab pos="182563" algn="l"/>
              </a:tabLst>
              <a:defRPr>
                <a:solidFill>
                  <a:schemeClr val="tx1"/>
                </a:solidFill>
                <a:latin typeface="Arial" panose="020B0604020202020204" pitchFamily="34" charset="0"/>
              </a:defRPr>
            </a:lvl1pPr>
            <a:lvl2pPr eaLnBrk="0" fontAlgn="base" hangingPunct="0">
              <a:spcBef>
                <a:spcPct val="0"/>
              </a:spcBef>
              <a:spcAft>
                <a:spcPct val="0"/>
              </a:spcAft>
              <a:tabLst>
                <a:tab pos="182563" algn="l"/>
              </a:tabLst>
              <a:defRPr>
                <a:solidFill>
                  <a:schemeClr val="tx1"/>
                </a:solidFill>
                <a:latin typeface="Arial" panose="020B0604020202020204" pitchFamily="34" charset="0"/>
              </a:defRPr>
            </a:lvl2pPr>
            <a:lvl3pPr eaLnBrk="0" fontAlgn="base" hangingPunct="0">
              <a:spcBef>
                <a:spcPct val="0"/>
              </a:spcBef>
              <a:spcAft>
                <a:spcPct val="0"/>
              </a:spcAft>
              <a:tabLst>
                <a:tab pos="182563" algn="l"/>
              </a:tabLst>
              <a:defRPr>
                <a:solidFill>
                  <a:schemeClr val="tx1"/>
                </a:solidFill>
                <a:latin typeface="Arial" panose="020B0604020202020204" pitchFamily="34" charset="0"/>
              </a:defRPr>
            </a:lvl3pPr>
            <a:lvl4pPr eaLnBrk="0" fontAlgn="base" hangingPunct="0">
              <a:spcBef>
                <a:spcPct val="0"/>
              </a:spcBef>
              <a:spcAft>
                <a:spcPct val="0"/>
              </a:spcAft>
              <a:tabLst>
                <a:tab pos="182563" algn="l"/>
              </a:tabLst>
              <a:defRPr>
                <a:solidFill>
                  <a:schemeClr val="tx1"/>
                </a:solidFill>
                <a:latin typeface="Arial" panose="020B0604020202020204" pitchFamily="34" charset="0"/>
              </a:defRPr>
            </a:lvl4pPr>
            <a:lvl5pPr eaLnBrk="0" fontAlgn="base" hangingPunct="0">
              <a:spcBef>
                <a:spcPct val="0"/>
              </a:spcBef>
              <a:spcAft>
                <a:spcPct val="0"/>
              </a:spcAft>
              <a:tabLst>
                <a:tab pos="182563" algn="l"/>
              </a:tabLst>
              <a:defRPr>
                <a:solidFill>
                  <a:schemeClr val="tx1"/>
                </a:solidFill>
                <a:latin typeface="Arial" panose="020B0604020202020204" pitchFamily="34" charset="0"/>
              </a:defRPr>
            </a:lvl5pPr>
            <a:lvl6pPr eaLnBrk="0" fontAlgn="base" hangingPunct="0">
              <a:spcBef>
                <a:spcPct val="0"/>
              </a:spcBef>
              <a:spcAft>
                <a:spcPct val="0"/>
              </a:spcAft>
              <a:tabLst>
                <a:tab pos="182563" algn="l"/>
              </a:tabLst>
              <a:defRPr>
                <a:solidFill>
                  <a:schemeClr val="tx1"/>
                </a:solidFill>
                <a:latin typeface="Arial" panose="020B0604020202020204" pitchFamily="34" charset="0"/>
              </a:defRPr>
            </a:lvl6pPr>
            <a:lvl7pPr eaLnBrk="0" fontAlgn="base" hangingPunct="0">
              <a:spcBef>
                <a:spcPct val="0"/>
              </a:spcBef>
              <a:spcAft>
                <a:spcPct val="0"/>
              </a:spcAft>
              <a:tabLst>
                <a:tab pos="182563" algn="l"/>
              </a:tabLst>
              <a:defRPr>
                <a:solidFill>
                  <a:schemeClr val="tx1"/>
                </a:solidFill>
                <a:latin typeface="Arial" panose="020B0604020202020204" pitchFamily="34" charset="0"/>
              </a:defRPr>
            </a:lvl7pPr>
            <a:lvl8pPr eaLnBrk="0" fontAlgn="base" hangingPunct="0">
              <a:spcBef>
                <a:spcPct val="0"/>
              </a:spcBef>
              <a:spcAft>
                <a:spcPct val="0"/>
              </a:spcAft>
              <a:tabLst>
                <a:tab pos="182563" algn="l"/>
              </a:tabLst>
              <a:defRPr>
                <a:solidFill>
                  <a:schemeClr val="tx1"/>
                </a:solidFill>
                <a:latin typeface="Arial" panose="020B0604020202020204" pitchFamily="34" charset="0"/>
              </a:defRPr>
            </a:lvl8pPr>
            <a:lvl9pPr eaLnBrk="0" fontAlgn="base" hangingPunct="0">
              <a:spcBef>
                <a:spcPct val="0"/>
              </a:spcBef>
              <a:spcAft>
                <a:spcPct val="0"/>
              </a:spcAft>
              <a:tabLst>
                <a:tab pos="182563" algn="l"/>
              </a:tabLst>
              <a:defRPr>
                <a:solidFill>
                  <a:schemeClr val="tx1"/>
                </a:solidFill>
                <a:latin typeface="Arial" panose="020B0604020202020204" pitchFamily="34" charset="0"/>
              </a:defRPr>
            </a:lvl9pPr>
          </a:lstStyle>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b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b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Table 3. Performance analysis of proposed and standard models on three dataset</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b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9405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5CA4E4-3649-4D9C-B312-81A8A3E4CEE7}"/>
              </a:ext>
            </a:extLst>
          </p:cNvPr>
          <p:cNvGraphicFramePr>
            <a:graphicFrameLocks noGrp="1"/>
          </p:cNvGraphicFramePr>
          <p:nvPr>
            <p:extLst>
              <p:ext uri="{D42A27DB-BD31-4B8C-83A1-F6EECF244321}">
                <p14:modId xmlns:p14="http://schemas.microsoft.com/office/powerpoint/2010/main" val="132567053"/>
              </p:ext>
            </p:extLst>
          </p:nvPr>
        </p:nvGraphicFramePr>
        <p:xfrm>
          <a:off x="2743203" y="2009552"/>
          <a:ext cx="5592722" cy="4433863"/>
        </p:xfrm>
        <a:graphic>
          <a:graphicData uri="http://schemas.openxmlformats.org/drawingml/2006/table">
            <a:tbl>
              <a:tblPr firstRow="1" firstCol="1" bandRow="1">
                <a:tableStyleId>{5C22544A-7EE6-4342-B048-85BDC9FD1C3A}</a:tableStyleId>
              </a:tblPr>
              <a:tblGrid>
                <a:gridCol w="1253895">
                  <a:extLst>
                    <a:ext uri="{9D8B030D-6E8A-4147-A177-3AD203B41FA5}">
                      <a16:colId xmlns:a16="http://schemas.microsoft.com/office/drawing/2014/main" val="626103712"/>
                    </a:ext>
                  </a:extLst>
                </a:gridCol>
                <a:gridCol w="925071">
                  <a:extLst>
                    <a:ext uri="{9D8B030D-6E8A-4147-A177-3AD203B41FA5}">
                      <a16:colId xmlns:a16="http://schemas.microsoft.com/office/drawing/2014/main" val="3416899390"/>
                    </a:ext>
                  </a:extLst>
                </a:gridCol>
                <a:gridCol w="797499">
                  <a:extLst>
                    <a:ext uri="{9D8B030D-6E8A-4147-A177-3AD203B41FA5}">
                      <a16:colId xmlns:a16="http://schemas.microsoft.com/office/drawing/2014/main" val="3587611382"/>
                    </a:ext>
                  </a:extLst>
                </a:gridCol>
                <a:gridCol w="749744">
                  <a:extLst>
                    <a:ext uri="{9D8B030D-6E8A-4147-A177-3AD203B41FA5}">
                      <a16:colId xmlns:a16="http://schemas.microsoft.com/office/drawing/2014/main" val="1602294558"/>
                    </a:ext>
                  </a:extLst>
                </a:gridCol>
                <a:gridCol w="622171">
                  <a:extLst>
                    <a:ext uri="{9D8B030D-6E8A-4147-A177-3AD203B41FA5}">
                      <a16:colId xmlns:a16="http://schemas.microsoft.com/office/drawing/2014/main" val="14504283"/>
                    </a:ext>
                  </a:extLst>
                </a:gridCol>
                <a:gridCol w="622171">
                  <a:extLst>
                    <a:ext uri="{9D8B030D-6E8A-4147-A177-3AD203B41FA5}">
                      <a16:colId xmlns:a16="http://schemas.microsoft.com/office/drawing/2014/main" val="1056853793"/>
                    </a:ext>
                  </a:extLst>
                </a:gridCol>
                <a:gridCol w="622171">
                  <a:extLst>
                    <a:ext uri="{9D8B030D-6E8A-4147-A177-3AD203B41FA5}">
                      <a16:colId xmlns:a16="http://schemas.microsoft.com/office/drawing/2014/main" val="3143833580"/>
                    </a:ext>
                  </a:extLst>
                </a:gridCol>
              </a:tblGrid>
              <a:tr h="414380">
                <a:tc rowSpan="2">
                  <a:txBody>
                    <a:bodyPr/>
                    <a:lstStyle/>
                    <a:p>
                      <a:pPr indent="182880" algn="ctr">
                        <a:lnSpc>
                          <a:spcPct val="95000"/>
                        </a:lnSpc>
                        <a:spcAft>
                          <a:spcPts val="600"/>
                        </a:spcAft>
                        <a:tabLst>
                          <a:tab pos="182880" algn="l"/>
                        </a:tabLst>
                      </a:pPr>
                      <a:r>
                        <a:rPr lang="en-IN" sz="1000" spc="-5">
                          <a:effectLst/>
                        </a:rPr>
                        <a:t> </a:t>
                      </a:r>
                      <a:endParaRPr lang="en-IN" sz="1200" spc="-5">
                        <a:effectLst/>
                      </a:endParaRPr>
                    </a:p>
                    <a:p>
                      <a:pPr indent="182880" algn="ctr">
                        <a:lnSpc>
                          <a:spcPct val="95000"/>
                        </a:lnSpc>
                        <a:spcAft>
                          <a:spcPts val="600"/>
                        </a:spcAft>
                        <a:tabLst>
                          <a:tab pos="182880" algn="l"/>
                        </a:tabLst>
                      </a:pPr>
                      <a:r>
                        <a:rPr lang="en-IN" sz="1000" spc="-5">
                          <a:effectLst/>
                        </a:rPr>
                        <a:t>Dataset</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rowSpan="2">
                  <a:txBody>
                    <a:bodyPr/>
                    <a:lstStyle/>
                    <a:p>
                      <a:pPr indent="182880" algn="ctr">
                        <a:lnSpc>
                          <a:spcPct val="95000"/>
                        </a:lnSpc>
                        <a:spcAft>
                          <a:spcPts val="600"/>
                        </a:spcAft>
                        <a:tabLst>
                          <a:tab pos="182880" algn="l"/>
                        </a:tabLst>
                      </a:pPr>
                      <a:r>
                        <a:rPr lang="en-IN" sz="1000" spc="-5">
                          <a:effectLst/>
                        </a:rPr>
                        <a:t> </a:t>
                      </a:r>
                      <a:endParaRPr lang="en-IN" sz="1200" spc="-5">
                        <a:effectLst/>
                      </a:endParaRPr>
                    </a:p>
                    <a:p>
                      <a:pPr indent="182880" algn="ctr">
                        <a:lnSpc>
                          <a:spcPct val="95000"/>
                        </a:lnSpc>
                        <a:spcAft>
                          <a:spcPts val="600"/>
                        </a:spcAft>
                        <a:tabLst>
                          <a:tab pos="182880" algn="l"/>
                        </a:tabLst>
                      </a:pPr>
                      <a:r>
                        <a:rPr lang="en-IN" sz="1000" spc="-5">
                          <a:effectLst/>
                        </a:rPr>
                        <a:t>Metrics</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5">
                  <a:txBody>
                    <a:bodyPr/>
                    <a:lstStyle/>
                    <a:p>
                      <a:pPr algn="ctr"/>
                      <a:r>
                        <a:rPr lang="en-IN" sz="1000">
                          <a:effectLst/>
                        </a:rPr>
                        <a:t>Models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120740977"/>
                  </a:ext>
                </a:extLst>
              </a:tr>
              <a:tr h="580131">
                <a:tc vMerge="1">
                  <a:txBody>
                    <a:bodyPr/>
                    <a:lstStyle/>
                    <a:p>
                      <a:endParaRPr lang="en-IN"/>
                    </a:p>
                  </a:txBody>
                  <a:tcPr/>
                </a:tc>
                <a:tc vMerge="1">
                  <a:txBody>
                    <a:bodyPr/>
                    <a:lstStyle/>
                    <a:p>
                      <a:endParaRPr lang="en-IN"/>
                    </a:p>
                  </a:txBody>
                  <a:tcPr/>
                </a:tc>
                <a:tc>
                  <a:txBody>
                    <a:bodyPr/>
                    <a:lstStyle/>
                    <a:p>
                      <a:pPr algn="ctr"/>
                      <a:r>
                        <a:rPr lang="en-IN" sz="1000">
                          <a:effectLst/>
                        </a:rPr>
                        <a:t>FedRCIL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FedDIL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FFSCIL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Re-Fed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FIRFIL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31962514"/>
                  </a:ext>
                </a:extLst>
              </a:tr>
              <a:tr h="828759">
                <a:tc>
                  <a:txBody>
                    <a:bodyPr/>
                    <a:lstStyle/>
                    <a:p>
                      <a:r>
                        <a:rPr lang="en-US" sz="1000">
                          <a:effectLst/>
                        </a:rPr>
                        <a:t>Comprehensive Heart Disease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rowSpan="3">
                  <a:txBody>
                    <a:bodyPr/>
                    <a:lstStyle/>
                    <a:p>
                      <a:pPr indent="182880" algn="ctr">
                        <a:lnSpc>
                          <a:spcPct val="95000"/>
                        </a:lnSpc>
                        <a:spcAft>
                          <a:spcPts val="600"/>
                        </a:spcAft>
                        <a:tabLst>
                          <a:tab pos="182880" algn="l"/>
                        </a:tabLst>
                      </a:pPr>
                      <a:r>
                        <a:rPr lang="en-IN" sz="1000" spc="-5">
                          <a:effectLst/>
                        </a:rPr>
                        <a:t> </a:t>
                      </a:r>
                      <a:endParaRPr lang="en-IN" sz="1200" spc="-5">
                        <a:effectLst/>
                      </a:endParaRPr>
                    </a:p>
                    <a:p>
                      <a:pPr indent="182880" algn="ctr">
                        <a:lnSpc>
                          <a:spcPct val="95000"/>
                        </a:lnSpc>
                        <a:spcAft>
                          <a:spcPts val="600"/>
                        </a:spcAft>
                        <a:tabLst>
                          <a:tab pos="182880" algn="l"/>
                        </a:tabLst>
                      </a:pPr>
                      <a:r>
                        <a:rPr lang="en-IN" sz="1000" spc="-5">
                          <a:effectLst/>
                        </a:rPr>
                        <a:t>Energy Consumption (J)</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120.4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114.8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110.3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102.6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89.7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89391648"/>
                  </a:ext>
                </a:extLst>
              </a:tr>
              <a:tr h="414380">
                <a:tc>
                  <a:txBody>
                    <a:bodyPr/>
                    <a:lstStyle/>
                    <a:p>
                      <a:r>
                        <a:rPr lang="en-US" sz="1000">
                          <a:effectLst/>
                        </a:rPr>
                        <a:t>UCI Heart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en-IN"/>
                    </a:p>
                  </a:txBody>
                  <a:tcPr/>
                </a:tc>
                <a:tc>
                  <a:txBody>
                    <a:bodyPr/>
                    <a:lstStyle/>
                    <a:p>
                      <a:pPr algn="ctr"/>
                      <a:r>
                        <a:rPr lang="en-IN" sz="1000">
                          <a:effectLst/>
                        </a:rPr>
                        <a:t>105.2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99.6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95.1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91.4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80.3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918359"/>
                  </a:ext>
                </a:extLst>
              </a:tr>
              <a:tr h="538694">
                <a:tc>
                  <a:txBody>
                    <a:bodyPr/>
                    <a:lstStyle/>
                    <a:p>
                      <a:r>
                        <a:rPr lang="en-US" sz="1000">
                          <a:effectLst/>
                        </a:rPr>
                        <a:t>Kaggle Heart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en-IN"/>
                    </a:p>
                  </a:txBody>
                  <a:tcPr/>
                </a:tc>
                <a:tc>
                  <a:txBody>
                    <a:bodyPr/>
                    <a:lstStyle/>
                    <a:p>
                      <a:pPr algn="ctr"/>
                      <a:r>
                        <a:rPr lang="en-IN" sz="1000">
                          <a:effectLst/>
                        </a:rPr>
                        <a:t>112.7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108.2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104.5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98.3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86.1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5756809"/>
                  </a:ext>
                </a:extLst>
              </a:tr>
              <a:tr h="828759">
                <a:tc>
                  <a:txBody>
                    <a:bodyPr/>
                    <a:lstStyle/>
                    <a:p>
                      <a:r>
                        <a:rPr lang="en-US" sz="1000">
                          <a:effectLst/>
                        </a:rPr>
                        <a:t>Comprehensive Heart Disease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rowSpan="3">
                  <a:txBody>
                    <a:bodyPr/>
                    <a:lstStyle/>
                    <a:p>
                      <a:pPr indent="182880" algn="ctr">
                        <a:lnSpc>
                          <a:spcPct val="95000"/>
                        </a:lnSpc>
                        <a:spcAft>
                          <a:spcPts val="600"/>
                        </a:spcAft>
                        <a:tabLst>
                          <a:tab pos="182880" algn="l"/>
                        </a:tabLst>
                      </a:pPr>
                      <a:r>
                        <a:rPr lang="x-none" sz="1000" spc="-5">
                          <a:effectLst/>
                        </a:rPr>
                        <a:t> </a:t>
                      </a:r>
                      <a:endParaRPr lang="en-IN" sz="1200" spc="-5">
                        <a:effectLst/>
                      </a:endParaRPr>
                    </a:p>
                    <a:p>
                      <a:pPr indent="182880" algn="ctr">
                        <a:lnSpc>
                          <a:spcPct val="95000"/>
                        </a:lnSpc>
                        <a:spcAft>
                          <a:spcPts val="600"/>
                        </a:spcAft>
                        <a:tabLst>
                          <a:tab pos="182880" algn="l"/>
                        </a:tabLst>
                      </a:pPr>
                      <a:r>
                        <a:rPr lang="x-none" sz="1000" spc="-5">
                          <a:effectLst/>
                        </a:rPr>
                        <a:t>Latency</a:t>
                      </a:r>
                      <a:r>
                        <a:rPr lang="en-IN" sz="1000" spc="-5">
                          <a:effectLst/>
                        </a:rPr>
                        <a:t>  (ms)</a:t>
                      </a:r>
                      <a:endParaRPr lang="en-IN" sz="1200" spc="-5">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235.6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222.1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210.4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198.2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173.8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17681897"/>
                  </a:ext>
                </a:extLst>
              </a:tr>
              <a:tr h="414380">
                <a:tc>
                  <a:txBody>
                    <a:bodyPr/>
                    <a:lstStyle/>
                    <a:p>
                      <a:r>
                        <a:rPr lang="en-US" sz="1000">
                          <a:effectLst/>
                        </a:rPr>
                        <a:t>UCI Heart Disease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en-IN"/>
                    </a:p>
                  </a:txBody>
                  <a:tcPr/>
                </a:tc>
                <a:tc>
                  <a:txBody>
                    <a:bodyPr/>
                    <a:lstStyle/>
                    <a:p>
                      <a:pPr algn="ctr"/>
                      <a:r>
                        <a:rPr lang="en-IN" sz="1000">
                          <a:effectLst/>
                        </a:rPr>
                        <a:t>218.3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205.7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198.9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187.6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162.5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1667316"/>
                  </a:ext>
                </a:extLst>
              </a:tr>
              <a:tr h="414380">
                <a:tc>
                  <a:txBody>
                    <a:bodyPr/>
                    <a:lstStyle/>
                    <a:p>
                      <a:r>
                        <a:rPr lang="en-US" sz="1000">
                          <a:effectLst/>
                        </a:rPr>
                        <a:t>Kaggle Heart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en-IN"/>
                    </a:p>
                  </a:txBody>
                  <a:tcPr/>
                </a:tc>
                <a:tc>
                  <a:txBody>
                    <a:bodyPr/>
                    <a:lstStyle/>
                    <a:p>
                      <a:pPr algn="ctr"/>
                      <a:r>
                        <a:rPr lang="en-IN" sz="1000">
                          <a:effectLst/>
                        </a:rPr>
                        <a:t>225.0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212.6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202.3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a:effectLst/>
                        </a:rPr>
                        <a:t>191.9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IN" sz="1000" dirty="0">
                          <a:effectLst/>
                        </a:rPr>
                        <a:t>168.4</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56305198"/>
                  </a:ext>
                </a:extLst>
              </a:tr>
            </a:tbl>
          </a:graphicData>
        </a:graphic>
      </p:graphicFrame>
      <p:sp>
        <p:nvSpPr>
          <p:cNvPr id="3" name="Rectangle 1">
            <a:extLst>
              <a:ext uri="{FF2B5EF4-FFF2-40B4-BE49-F238E27FC236}">
                <a16:creationId xmlns:a16="http://schemas.microsoft.com/office/drawing/2014/main" id="{A078F98F-5A64-4FD2-B8A6-85AD1334C95C}"/>
              </a:ext>
            </a:extLst>
          </p:cNvPr>
          <p:cNvSpPr>
            <a:spLocks noChangeArrowheads="1"/>
          </p:cNvSpPr>
          <p:nvPr/>
        </p:nvSpPr>
        <p:spPr bwMode="auto">
          <a:xfrm rot="20617862">
            <a:off x="2035782" y="4386914"/>
            <a:ext cx="130983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2563" eaLnBrk="0" fontAlgn="base" hangingPunct="0">
              <a:spcBef>
                <a:spcPct val="0"/>
              </a:spcBef>
              <a:spcAft>
                <a:spcPct val="0"/>
              </a:spcAft>
              <a:tabLst>
                <a:tab pos="182563" algn="l"/>
              </a:tabLst>
              <a:defRPr>
                <a:solidFill>
                  <a:schemeClr val="tx1"/>
                </a:solidFill>
                <a:latin typeface="Arial" panose="020B0604020202020204" pitchFamily="34" charset="0"/>
              </a:defRPr>
            </a:lvl1pPr>
            <a:lvl2pPr eaLnBrk="0" fontAlgn="base" hangingPunct="0">
              <a:spcBef>
                <a:spcPct val="0"/>
              </a:spcBef>
              <a:spcAft>
                <a:spcPct val="0"/>
              </a:spcAft>
              <a:tabLst>
                <a:tab pos="182563" algn="l"/>
              </a:tabLst>
              <a:defRPr>
                <a:solidFill>
                  <a:schemeClr val="tx1"/>
                </a:solidFill>
                <a:latin typeface="Arial" panose="020B0604020202020204" pitchFamily="34" charset="0"/>
              </a:defRPr>
            </a:lvl2pPr>
            <a:lvl3pPr eaLnBrk="0" fontAlgn="base" hangingPunct="0">
              <a:spcBef>
                <a:spcPct val="0"/>
              </a:spcBef>
              <a:spcAft>
                <a:spcPct val="0"/>
              </a:spcAft>
              <a:tabLst>
                <a:tab pos="182563" algn="l"/>
              </a:tabLst>
              <a:defRPr>
                <a:solidFill>
                  <a:schemeClr val="tx1"/>
                </a:solidFill>
                <a:latin typeface="Arial" panose="020B0604020202020204" pitchFamily="34" charset="0"/>
              </a:defRPr>
            </a:lvl3pPr>
            <a:lvl4pPr eaLnBrk="0" fontAlgn="base" hangingPunct="0">
              <a:spcBef>
                <a:spcPct val="0"/>
              </a:spcBef>
              <a:spcAft>
                <a:spcPct val="0"/>
              </a:spcAft>
              <a:tabLst>
                <a:tab pos="182563" algn="l"/>
              </a:tabLst>
              <a:defRPr>
                <a:solidFill>
                  <a:schemeClr val="tx1"/>
                </a:solidFill>
                <a:latin typeface="Arial" panose="020B0604020202020204" pitchFamily="34" charset="0"/>
              </a:defRPr>
            </a:lvl4pPr>
            <a:lvl5pPr eaLnBrk="0" fontAlgn="base" hangingPunct="0">
              <a:spcBef>
                <a:spcPct val="0"/>
              </a:spcBef>
              <a:spcAft>
                <a:spcPct val="0"/>
              </a:spcAft>
              <a:tabLst>
                <a:tab pos="182563" algn="l"/>
              </a:tabLst>
              <a:defRPr>
                <a:solidFill>
                  <a:schemeClr val="tx1"/>
                </a:solidFill>
                <a:latin typeface="Arial" panose="020B0604020202020204" pitchFamily="34" charset="0"/>
              </a:defRPr>
            </a:lvl5pPr>
            <a:lvl6pPr eaLnBrk="0" fontAlgn="base" hangingPunct="0">
              <a:spcBef>
                <a:spcPct val="0"/>
              </a:spcBef>
              <a:spcAft>
                <a:spcPct val="0"/>
              </a:spcAft>
              <a:tabLst>
                <a:tab pos="182563" algn="l"/>
              </a:tabLst>
              <a:defRPr>
                <a:solidFill>
                  <a:schemeClr val="tx1"/>
                </a:solidFill>
                <a:latin typeface="Arial" panose="020B0604020202020204" pitchFamily="34" charset="0"/>
              </a:defRPr>
            </a:lvl6pPr>
            <a:lvl7pPr eaLnBrk="0" fontAlgn="base" hangingPunct="0">
              <a:spcBef>
                <a:spcPct val="0"/>
              </a:spcBef>
              <a:spcAft>
                <a:spcPct val="0"/>
              </a:spcAft>
              <a:tabLst>
                <a:tab pos="182563" algn="l"/>
              </a:tabLst>
              <a:defRPr>
                <a:solidFill>
                  <a:schemeClr val="tx1"/>
                </a:solidFill>
                <a:latin typeface="Arial" panose="020B0604020202020204" pitchFamily="34" charset="0"/>
              </a:defRPr>
            </a:lvl7pPr>
            <a:lvl8pPr eaLnBrk="0" fontAlgn="base" hangingPunct="0">
              <a:spcBef>
                <a:spcPct val="0"/>
              </a:spcBef>
              <a:spcAft>
                <a:spcPct val="0"/>
              </a:spcAft>
              <a:tabLst>
                <a:tab pos="182563" algn="l"/>
              </a:tabLst>
              <a:defRPr>
                <a:solidFill>
                  <a:schemeClr val="tx1"/>
                </a:solidFill>
                <a:latin typeface="Arial" panose="020B0604020202020204" pitchFamily="34" charset="0"/>
              </a:defRPr>
            </a:lvl8pPr>
            <a:lvl9pPr eaLnBrk="0" fontAlgn="base" hangingPunct="0">
              <a:spcBef>
                <a:spcPct val="0"/>
              </a:spcBef>
              <a:spcAft>
                <a:spcPct val="0"/>
              </a:spcAft>
              <a:tabLst>
                <a:tab pos="182563" algn="l"/>
              </a:tabLst>
              <a:defRPr>
                <a:solidFill>
                  <a:schemeClr val="tx1"/>
                </a:solidFill>
                <a:latin typeface="Arial" panose="020B0604020202020204" pitchFamily="34" charset="0"/>
              </a:defRPr>
            </a:lvl9pPr>
          </a:lstStyle>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Table 4 Analysis of Energy Consumption and Latency for proposed and standard models</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6228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A6C0367-35EC-47E2-8E64-29BDE2005941}"/>
              </a:ext>
            </a:extLst>
          </p:cNvPr>
          <p:cNvGraphicFramePr>
            <a:graphicFrameLocks noGrp="1"/>
          </p:cNvGraphicFramePr>
          <p:nvPr>
            <p:extLst>
              <p:ext uri="{D42A27DB-BD31-4B8C-83A1-F6EECF244321}">
                <p14:modId xmlns:p14="http://schemas.microsoft.com/office/powerpoint/2010/main" val="1268276997"/>
              </p:ext>
            </p:extLst>
          </p:nvPr>
        </p:nvGraphicFramePr>
        <p:xfrm>
          <a:off x="3081973" y="1215739"/>
          <a:ext cx="6352970" cy="3707575"/>
        </p:xfrm>
        <a:graphic>
          <a:graphicData uri="http://schemas.openxmlformats.org/drawingml/2006/table">
            <a:tbl>
              <a:tblPr firstRow="1" firstCol="1" bandRow="1">
                <a:tableStyleId>{5C22544A-7EE6-4342-B048-85BDC9FD1C3A}</a:tableStyleId>
              </a:tblPr>
              <a:tblGrid>
                <a:gridCol w="695996">
                  <a:extLst>
                    <a:ext uri="{9D8B030D-6E8A-4147-A177-3AD203B41FA5}">
                      <a16:colId xmlns:a16="http://schemas.microsoft.com/office/drawing/2014/main" val="267601439"/>
                    </a:ext>
                  </a:extLst>
                </a:gridCol>
                <a:gridCol w="425629">
                  <a:extLst>
                    <a:ext uri="{9D8B030D-6E8A-4147-A177-3AD203B41FA5}">
                      <a16:colId xmlns:a16="http://schemas.microsoft.com/office/drawing/2014/main" val="3350811615"/>
                    </a:ext>
                  </a:extLst>
                </a:gridCol>
                <a:gridCol w="458611">
                  <a:extLst>
                    <a:ext uri="{9D8B030D-6E8A-4147-A177-3AD203B41FA5}">
                      <a16:colId xmlns:a16="http://schemas.microsoft.com/office/drawing/2014/main" val="2247818588"/>
                    </a:ext>
                  </a:extLst>
                </a:gridCol>
                <a:gridCol w="458611">
                  <a:extLst>
                    <a:ext uri="{9D8B030D-6E8A-4147-A177-3AD203B41FA5}">
                      <a16:colId xmlns:a16="http://schemas.microsoft.com/office/drawing/2014/main" val="3092191222"/>
                    </a:ext>
                  </a:extLst>
                </a:gridCol>
                <a:gridCol w="458611">
                  <a:extLst>
                    <a:ext uri="{9D8B030D-6E8A-4147-A177-3AD203B41FA5}">
                      <a16:colId xmlns:a16="http://schemas.microsoft.com/office/drawing/2014/main" val="392900211"/>
                    </a:ext>
                  </a:extLst>
                </a:gridCol>
                <a:gridCol w="458611">
                  <a:extLst>
                    <a:ext uri="{9D8B030D-6E8A-4147-A177-3AD203B41FA5}">
                      <a16:colId xmlns:a16="http://schemas.microsoft.com/office/drawing/2014/main" val="1035384892"/>
                    </a:ext>
                  </a:extLst>
                </a:gridCol>
                <a:gridCol w="458611">
                  <a:extLst>
                    <a:ext uri="{9D8B030D-6E8A-4147-A177-3AD203B41FA5}">
                      <a16:colId xmlns:a16="http://schemas.microsoft.com/office/drawing/2014/main" val="2153170613"/>
                    </a:ext>
                  </a:extLst>
                </a:gridCol>
                <a:gridCol w="378115">
                  <a:extLst>
                    <a:ext uri="{9D8B030D-6E8A-4147-A177-3AD203B41FA5}">
                      <a16:colId xmlns:a16="http://schemas.microsoft.com/office/drawing/2014/main" val="2610249304"/>
                    </a:ext>
                  </a:extLst>
                </a:gridCol>
                <a:gridCol w="625058">
                  <a:extLst>
                    <a:ext uri="{9D8B030D-6E8A-4147-A177-3AD203B41FA5}">
                      <a16:colId xmlns:a16="http://schemas.microsoft.com/office/drawing/2014/main" val="3676839751"/>
                    </a:ext>
                  </a:extLst>
                </a:gridCol>
                <a:gridCol w="458611">
                  <a:extLst>
                    <a:ext uri="{9D8B030D-6E8A-4147-A177-3AD203B41FA5}">
                      <a16:colId xmlns:a16="http://schemas.microsoft.com/office/drawing/2014/main" val="4131307629"/>
                    </a:ext>
                  </a:extLst>
                </a:gridCol>
                <a:gridCol w="458611">
                  <a:extLst>
                    <a:ext uri="{9D8B030D-6E8A-4147-A177-3AD203B41FA5}">
                      <a16:colId xmlns:a16="http://schemas.microsoft.com/office/drawing/2014/main" val="313542698"/>
                    </a:ext>
                  </a:extLst>
                </a:gridCol>
                <a:gridCol w="524006">
                  <a:extLst>
                    <a:ext uri="{9D8B030D-6E8A-4147-A177-3AD203B41FA5}">
                      <a16:colId xmlns:a16="http://schemas.microsoft.com/office/drawing/2014/main" val="955388280"/>
                    </a:ext>
                  </a:extLst>
                </a:gridCol>
                <a:gridCol w="493889">
                  <a:extLst>
                    <a:ext uri="{9D8B030D-6E8A-4147-A177-3AD203B41FA5}">
                      <a16:colId xmlns:a16="http://schemas.microsoft.com/office/drawing/2014/main" val="14935786"/>
                    </a:ext>
                  </a:extLst>
                </a:gridCol>
              </a:tblGrid>
              <a:tr h="566042">
                <a:tc>
                  <a:txBody>
                    <a:bodyPr/>
                    <a:lstStyle/>
                    <a:p>
                      <a:pPr algn="ctr"/>
                      <a:r>
                        <a:rPr lang="en-IN" sz="1000">
                          <a:effectLst/>
                        </a:rPr>
                        <a:t>Model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ATA</a:t>
                      </a:r>
                      <a:endParaRPr lang="en-IN" sz="1200">
                        <a:effectLst/>
                      </a:endParaRPr>
                    </a:p>
                    <a:p>
                      <a:pPr algn="ctr"/>
                      <a:r>
                        <a:rPr lang="en-IN" sz="100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TT</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IT </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ATA</a:t>
                      </a:r>
                      <a:endParaRPr lang="en-IN" sz="1200">
                        <a:effectLst/>
                      </a:endParaRPr>
                    </a:p>
                    <a:p>
                      <a:pPr algn="ctr"/>
                      <a:r>
                        <a:rPr lang="en-IN" sz="100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TT</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IT </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ATA</a:t>
                      </a:r>
                      <a:endParaRPr lang="en-IN" sz="1200">
                        <a:effectLst/>
                      </a:endParaRPr>
                    </a:p>
                    <a:p>
                      <a:pPr algn="ctr"/>
                      <a:r>
                        <a:rPr lang="en-IN" sz="100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TT</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IT </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ATA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TT</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IT</a:t>
                      </a:r>
                      <a:endParaRPr lang="en-IN" sz="1200">
                        <a:effectLst/>
                      </a:endParaRPr>
                    </a:p>
                    <a:p>
                      <a:pPr algn="ctr"/>
                      <a:r>
                        <a:rPr lang="en-IN" sz="1000">
                          <a:effectLst/>
                        </a:rPr>
                        <a:t>(s)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10873163"/>
                  </a:ext>
                </a:extLst>
              </a:tr>
              <a:tr h="311323">
                <a:tc>
                  <a:txBody>
                    <a:bodyPr/>
                    <a:lstStyle/>
                    <a:p>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3">
                  <a:txBody>
                    <a:bodyPr/>
                    <a:lstStyle/>
                    <a:p>
                      <a:pPr algn="ctr"/>
                      <a:r>
                        <a:rPr lang="en-IN" sz="1000">
                          <a:effectLst/>
                        </a:rPr>
                        <a:t>M = 500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3">
                  <a:txBody>
                    <a:bodyPr/>
                    <a:lstStyle/>
                    <a:p>
                      <a:pPr algn="ctr"/>
                      <a:r>
                        <a:rPr lang="en-IN" sz="1000">
                          <a:effectLst/>
                        </a:rPr>
                        <a:t>M = 1000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3">
                  <a:txBody>
                    <a:bodyPr/>
                    <a:lstStyle/>
                    <a:p>
                      <a:pPr algn="ctr"/>
                      <a:r>
                        <a:rPr lang="en-IN" sz="1000">
                          <a:effectLst/>
                        </a:rPr>
                        <a:t>M = 1500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gridSpan="3">
                  <a:txBody>
                    <a:bodyPr/>
                    <a:lstStyle/>
                    <a:p>
                      <a:pPr algn="ctr"/>
                      <a:r>
                        <a:rPr lang="en-IN" sz="1000">
                          <a:effectLst/>
                        </a:rPr>
                        <a:t>M = 2000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2572159"/>
                  </a:ext>
                </a:extLst>
              </a:tr>
              <a:tr h="566042">
                <a:tc>
                  <a:txBody>
                    <a:bodyPr/>
                    <a:lstStyle/>
                    <a:p>
                      <a:pPr algn="ctr"/>
                      <a:r>
                        <a:rPr lang="en-IN" sz="1000">
                          <a:effectLst/>
                        </a:rPr>
                        <a:t>FedRCIL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315.7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115.3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29.8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621.2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233.3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25.4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933.1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411.5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21.4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1245.9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778.9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72662351"/>
                  </a:ext>
                </a:extLst>
              </a:tr>
              <a:tr h="566042">
                <a:tc>
                  <a:txBody>
                    <a:bodyPr/>
                    <a:lstStyle/>
                    <a:p>
                      <a:pPr algn="ctr"/>
                      <a:r>
                        <a:rPr lang="en-IN" sz="1000">
                          <a:effectLst/>
                        </a:rPr>
                        <a:t>FedDIL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33.9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298.2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127.6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32.2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590.5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220.1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28.1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880.4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397.6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23.50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1190.3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674.1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8516293"/>
                  </a:ext>
                </a:extLst>
              </a:tr>
              <a:tr h="566042">
                <a:tc>
                  <a:txBody>
                    <a:bodyPr/>
                    <a:lstStyle/>
                    <a:p>
                      <a:pPr algn="ctr"/>
                      <a:r>
                        <a:rPr lang="en-IN" sz="1000">
                          <a:effectLst/>
                        </a:rPr>
                        <a:t>FFSCIL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36.5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275.8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143.9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555.3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208.4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30.6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833.6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366.7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26.8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1132.8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668.9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55455971"/>
                  </a:ext>
                </a:extLst>
              </a:tr>
              <a:tr h="566042">
                <a:tc>
                  <a:txBody>
                    <a:bodyPr/>
                    <a:lstStyle/>
                    <a:p>
                      <a:pPr algn="ctr"/>
                      <a:r>
                        <a:rPr lang="en-IN" sz="1000">
                          <a:effectLst/>
                        </a:rPr>
                        <a:t>Re-Fed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39.2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dirty="0">
                          <a:effectLst/>
                        </a:rPr>
                        <a:t>248.6</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129.8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38.9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497.5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187.6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33.3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750.2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315.3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28.7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1016.9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IN" sz="1000">
                          <a:effectLst/>
                        </a:rPr>
                        <a:t>602.4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65740030"/>
                  </a:ext>
                </a:extLst>
              </a:tr>
              <a:tr h="566042">
                <a:tc>
                  <a:txBody>
                    <a:bodyPr/>
                    <a:lstStyle/>
                    <a:p>
                      <a:r>
                        <a:rPr lang="en-IN" sz="1000">
                          <a:effectLst/>
                        </a:rPr>
                        <a:t>FIRFIL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41.7</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210.4</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133.4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40.4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425.9</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160.8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35.6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640.1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308.6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30.22</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a:effectLst/>
                        </a:rPr>
                        <a:t>875.2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000" dirty="0">
                          <a:effectLst/>
                        </a:rPr>
                        <a:t>552.6</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41047733"/>
                  </a:ext>
                </a:extLst>
              </a:tr>
            </a:tbl>
          </a:graphicData>
        </a:graphic>
      </p:graphicFrame>
      <p:sp>
        <p:nvSpPr>
          <p:cNvPr id="3" name="Rectangle 1">
            <a:extLst>
              <a:ext uri="{FF2B5EF4-FFF2-40B4-BE49-F238E27FC236}">
                <a16:creationId xmlns:a16="http://schemas.microsoft.com/office/drawing/2014/main" id="{99E1F38E-7B97-4080-A50A-0D634F35B10B}"/>
              </a:ext>
            </a:extLst>
          </p:cNvPr>
          <p:cNvSpPr>
            <a:spLocks noChangeArrowheads="1"/>
          </p:cNvSpPr>
          <p:nvPr/>
        </p:nvSpPr>
        <p:spPr bwMode="auto">
          <a:xfrm>
            <a:off x="1859974" y="2817396"/>
            <a:ext cx="746067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2563" eaLnBrk="0" fontAlgn="base" hangingPunct="0">
              <a:spcBef>
                <a:spcPct val="0"/>
              </a:spcBef>
              <a:spcAft>
                <a:spcPct val="0"/>
              </a:spcAft>
              <a:tabLst>
                <a:tab pos="182563" algn="l"/>
              </a:tabLst>
              <a:defRPr>
                <a:solidFill>
                  <a:schemeClr val="tx1"/>
                </a:solidFill>
                <a:latin typeface="Arial" panose="020B0604020202020204" pitchFamily="34" charset="0"/>
              </a:defRPr>
            </a:lvl1pPr>
            <a:lvl2pPr eaLnBrk="0" fontAlgn="base" hangingPunct="0">
              <a:spcBef>
                <a:spcPct val="0"/>
              </a:spcBef>
              <a:spcAft>
                <a:spcPct val="0"/>
              </a:spcAft>
              <a:tabLst>
                <a:tab pos="182563" algn="l"/>
              </a:tabLst>
              <a:defRPr>
                <a:solidFill>
                  <a:schemeClr val="tx1"/>
                </a:solidFill>
                <a:latin typeface="Arial" panose="020B0604020202020204" pitchFamily="34" charset="0"/>
              </a:defRPr>
            </a:lvl2pPr>
            <a:lvl3pPr eaLnBrk="0" fontAlgn="base" hangingPunct="0">
              <a:spcBef>
                <a:spcPct val="0"/>
              </a:spcBef>
              <a:spcAft>
                <a:spcPct val="0"/>
              </a:spcAft>
              <a:tabLst>
                <a:tab pos="182563" algn="l"/>
              </a:tabLst>
              <a:defRPr>
                <a:solidFill>
                  <a:schemeClr val="tx1"/>
                </a:solidFill>
                <a:latin typeface="Arial" panose="020B0604020202020204" pitchFamily="34" charset="0"/>
              </a:defRPr>
            </a:lvl3pPr>
            <a:lvl4pPr eaLnBrk="0" fontAlgn="base" hangingPunct="0">
              <a:spcBef>
                <a:spcPct val="0"/>
              </a:spcBef>
              <a:spcAft>
                <a:spcPct val="0"/>
              </a:spcAft>
              <a:tabLst>
                <a:tab pos="182563" algn="l"/>
              </a:tabLst>
              <a:defRPr>
                <a:solidFill>
                  <a:schemeClr val="tx1"/>
                </a:solidFill>
                <a:latin typeface="Arial" panose="020B0604020202020204" pitchFamily="34" charset="0"/>
              </a:defRPr>
            </a:lvl4pPr>
            <a:lvl5pPr eaLnBrk="0" fontAlgn="base" hangingPunct="0">
              <a:spcBef>
                <a:spcPct val="0"/>
              </a:spcBef>
              <a:spcAft>
                <a:spcPct val="0"/>
              </a:spcAft>
              <a:tabLst>
                <a:tab pos="182563" algn="l"/>
              </a:tabLst>
              <a:defRPr>
                <a:solidFill>
                  <a:schemeClr val="tx1"/>
                </a:solidFill>
                <a:latin typeface="Arial" panose="020B0604020202020204" pitchFamily="34" charset="0"/>
              </a:defRPr>
            </a:lvl5pPr>
            <a:lvl6pPr eaLnBrk="0" fontAlgn="base" hangingPunct="0">
              <a:spcBef>
                <a:spcPct val="0"/>
              </a:spcBef>
              <a:spcAft>
                <a:spcPct val="0"/>
              </a:spcAft>
              <a:tabLst>
                <a:tab pos="182563" algn="l"/>
              </a:tabLst>
              <a:defRPr>
                <a:solidFill>
                  <a:schemeClr val="tx1"/>
                </a:solidFill>
                <a:latin typeface="Arial" panose="020B0604020202020204" pitchFamily="34" charset="0"/>
              </a:defRPr>
            </a:lvl6pPr>
            <a:lvl7pPr eaLnBrk="0" fontAlgn="base" hangingPunct="0">
              <a:spcBef>
                <a:spcPct val="0"/>
              </a:spcBef>
              <a:spcAft>
                <a:spcPct val="0"/>
              </a:spcAft>
              <a:tabLst>
                <a:tab pos="182563" algn="l"/>
              </a:tabLst>
              <a:defRPr>
                <a:solidFill>
                  <a:schemeClr val="tx1"/>
                </a:solidFill>
                <a:latin typeface="Arial" panose="020B0604020202020204" pitchFamily="34" charset="0"/>
              </a:defRPr>
            </a:lvl7pPr>
            <a:lvl8pPr eaLnBrk="0" fontAlgn="base" hangingPunct="0">
              <a:spcBef>
                <a:spcPct val="0"/>
              </a:spcBef>
              <a:spcAft>
                <a:spcPct val="0"/>
              </a:spcAft>
              <a:tabLst>
                <a:tab pos="182563" algn="l"/>
              </a:tabLst>
              <a:defRPr>
                <a:solidFill>
                  <a:schemeClr val="tx1"/>
                </a:solidFill>
                <a:latin typeface="Arial" panose="020B0604020202020204" pitchFamily="34" charset="0"/>
              </a:defRPr>
            </a:lvl8pPr>
            <a:lvl9pPr eaLnBrk="0" fontAlgn="base" hangingPunct="0">
              <a:spcBef>
                <a:spcPct val="0"/>
              </a:spcBef>
              <a:spcAft>
                <a:spcPct val="0"/>
              </a:spcAft>
              <a:tabLst>
                <a:tab pos="182563" algn="l"/>
              </a:tabLst>
              <a:defRPr>
                <a:solidFill>
                  <a:schemeClr val="tx1"/>
                </a:solidFill>
                <a:latin typeface="Arial" panose="020B0604020202020204" pitchFamily="34" charset="0"/>
              </a:defRPr>
            </a:lvl9pPr>
          </a:lstStyle>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Table 5 Computational Metrics Evaluation of 20 clients (Exemplary memory size </a:t>
            </a:r>
            <a:r>
              <a:rPr kumimoji="0" lang="en-US" altLang="en-US" sz="1000" b="0" i="1" u="none" strike="noStrike" cap="none" normalizeH="0" baseline="0" dirty="0">
                <a:ln>
                  <a:noFill/>
                </a:ln>
                <a:solidFill>
                  <a:srgbClr val="000000"/>
                </a:solidFill>
                <a:effectLst/>
                <a:latin typeface="Cambria Math" panose="02040503050406030204" pitchFamily="18" charset="0"/>
                <a:ea typeface="Times New Roman" panose="02020603050405020304" pitchFamily="18" charset="0"/>
              </a:rPr>
              <a:t>M</a:t>
            </a:r>
            <a:r>
              <a:rPr kumimoji="0" lang="en-US" altLang="en-US" sz="1000" b="0" i="0" u="none" strike="noStrike" cap="none" normalizeH="0" baseline="0" dirty="0">
                <a:ln>
                  <a:noFill/>
                </a:ln>
                <a:solidFill>
                  <a:srgbClr val="000000"/>
                </a:solidFill>
                <a:effectLst/>
                <a:ea typeface="Times New Roman" panose="02020603050405020304" pitchFamily="18" charset="0"/>
              </a:rPr>
              <a:t>,</a:t>
            </a: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incremental task T= 20) </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*(Average Test Accuracy = ATA (all dataset); Training Time (TT); Inference Time (IT); Seconds (s))</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182563"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3437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44260C7-C6C4-42FB-940E-359379695342}"/>
              </a:ext>
            </a:extLst>
          </p:cNvPr>
          <p:cNvPicPr/>
          <p:nvPr/>
        </p:nvPicPr>
        <p:blipFill rotWithShape="1">
          <a:blip r:embed="rId2">
            <a:extLst>
              <a:ext uri="{28A0092B-C50C-407E-A947-70E740481C1C}">
                <a14:useLocalDpi xmlns:a14="http://schemas.microsoft.com/office/drawing/2010/main" val="0"/>
              </a:ext>
            </a:extLst>
          </a:blip>
          <a:srcRect l="3302" t="8844" r="6740" b="8694"/>
          <a:stretch/>
        </p:blipFill>
        <p:spPr bwMode="auto">
          <a:xfrm>
            <a:off x="696191" y="955964"/>
            <a:ext cx="8536709" cy="365350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40530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E5192B-3FC1-44C5-8EA3-99225E818ACD}"/>
              </a:ext>
            </a:extLst>
          </p:cNvPr>
          <p:cNvSpPr txBox="1"/>
          <p:nvPr/>
        </p:nvSpPr>
        <p:spPr>
          <a:xfrm>
            <a:off x="1517073" y="1558637"/>
            <a:ext cx="7624329" cy="2862322"/>
          </a:xfrm>
          <a:prstGeom prst="rect">
            <a:avLst/>
          </a:prstGeom>
          <a:noFill/>
        </p:spPr>
        <p:txBody>
          <a:bodyPr wrap="square">
            <a:spAutoFit/>
          </a:bodyPr>
          <a:lstStyle/>
          <a:p>
            <a:endParaRPr lang="en-US" dirty="0"/>
          </a:p>
          <a:p>
            <a:r>
              <a:rPr lang="en-US" dirty="0"/>
              <a:t>CONCLUSION</a:t>
            </a:r>
          </a:p>
          <a:p>
            <a:endParaRPr lang="en-US" dirty="0"/>
          </a:p>
          <a:p>
            <a:r>
              <a:rPr lang="en-US" dirty="0"/>
              <a:t>The experimental results prove that the proposed FIRFIL–TISSLSTM model achieves high accuracies of 95.09%, 95.25%, and 94.28% on the Comprehensive, UCI, and Kaggle heart disease datasets respectively, outperforming existing FL and incremental models. Additionally, the model records low energy usage of 89.7 J, 80.3 J, and 86.1 J, and fast response times (latency) of 173.8 </a:t>
            </a:r>
            <a:r>
              <a:rPr lang="en-US" dirty="0" err="1"/>
              <a:t>ms</a:t>
            </a:r>
            <a:r>
              <a:rPr lang="en-US" dirty="0"/>
              <a:t>, 162.5 </a:t>
            </a:r>
            <a:r>
              <a:rPr lang="en-US" dirty="0" err="1"/>
              <a:t>ms</a:t>
            </a:r>
            <a:r>
              <a:rPr lang="en-US" dirty="0"/>
              <a:t>, and 168.4 </a:t>
            </a:r>
            <a:r>
              <a:rPr lang="en-US" dirty="0" err="1"/>
              <a:t>ms</a:t>
            </a:r>
            <a:r>
              <a:rPr lang="en-US" dirty="0"/>
              <a:t> on the same datasets, demonstrating low computation delay and improved real-time capability. T</a:t>
            </a:r>
            <a:endParaRPr lang="en-IN" dirty="0"/>
          </a:p>
        </p:txBody>
      </p:sp>
    </p:spTree>
    <p:extLst>
      <p:ext uri="{BB962C8B-B14F-4D97-AF65-F5344CB8AC3E}">
        <p14:creationId xmlns:p14="http://schemas.microsoft.com/office/powerpoint/2010/main" val="2600319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B26930-4410-4932-877A-3D05058B97DB}"/>
              </a:ext>
            </a:extLst>
          </p:cNvPr>
          <p:cNvSpPr>
            <a:spLocks noChangeArrowheads="1"/>
          </p:cNvSpPr>
          <p:nvPr/>
        </p:nvSpPr>
        <p:spPr bwMode="auto">
          <a:xfrm rot="10800000" flipV="1">
            <a:off x="1589808" y="177652"/>
            <a:ext cx="1060219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When M is small → </a:t>
            </a:r>
            <a:r>
              <a:rPr kumimoji="0" lang="en-US" altLang="en-US" sz="1800" b="1" i="0" u="none" strike="noStrike" cap="none" normalizeH="0" baseline="0" dirty="0">
                <a:ln>
                  <a:noFill/>
                </a:ln>
                <a:solidFill>
                  <a:schemeClr val="tx1"/>
                </a:solidFill>
                <a:effectLst/>
                <a:latin typeface="Arial" panose="020B0604020202020204" pitchFamily="34" charset="0"/>
              </a:rPr>
              <a:t>training is faster </a:t>
            </a: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inference is okay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accuracy is a bit higher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When M increases → </a:t>
            </a:r>
            <a:r>
              <a:rPr kumimoji="0" lang="en-US" altLang="en-US" sz="1800" b="1" i="0" u="none" strike="noStrike" cap="none" normalizeH="0" baseline="0" dirty="0">
                <a:ln>
                  <a:noFill/>
                </a:ln>
                <a:solidFill>
                  <a:schemeClr val="tx1"/>
                </a:solidFill>
                <a:effectLst/>
                <a:latin typeface="Arial" panose="020B0604020202020204" pitchFamily="34" charset="0"/>
              </a:rPr>
              <a:t>training becomes slower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inference becomes slower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accuracy drops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Because storing too many samples introduces data imbalance and overhead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increases noise and model coordination delay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C3388BC3-3FC7-47D3-9D8C-5179E5EBF7FE}"/>
              </a:ext>
            </a:extLst>
          </p:cNvPr>
          <p:cNvSpPr txBox="1"/>
          <p:nvPr/>
        </p:nvSpPr>
        <p:spPr>
          <a:xfrm>
            <a:off x="3048866" y="2683225"/>
            <a:ext cx="6094268" cy="369332"/>
          </a:xfrm>
          <a:prstGeom prst="rect">
            <a:avLst/>
          </a:prstGeom>
          <a:noFill/>
        </p:spPr>
        <p:txBody>
          <a:bodyPr wrap="square">
            <a:spAutoFit/>
          </a:bodyPr>
          <a:lstStyle/>
          <a:p>
            <a:r>
              <a:rPr lang="en-IN" dirty="0"/>
              <a:t>Comparison with other models</a:t>
            </a:r>
          </a:p>
        </p:txBody>
      </p:sp>
      <p:sp>
        <p:nvSpPr>
          <p:cNvPr id="10" name="TextBox 9">
            <a:extLst>
              <a:ext uri="{FF2B5EF4-FFF2-40B4-BE49-F238E27FC236}">
                <a16:creationId xmlns:a16="http://schemas.microsoft.com/office/drawing/2014/main" id="{2EA3CAF7-C130-4B0D-920C-9885E3A6B10D}"/>
              </a:ext>
            </a:extLst>
          </p:cNvPr>
          <p:cNvSpPr txBox="1"/>
          <p:nvPr/>
        </p:nvSpPr>
        <p:spPr>
          <a:xfrm>
            <a:off x="2704234" y="4235164"/>
            <a:ext cx="6094268" cy="1754326"/>
          </a:xfrm>
          <a:prstGeom prst="rect">
            <a:avLst/>
          </a:prstGeom>
          <a:noFill/>
        </p:spPr>
        <p:txBody>
          <a:bodyPr wrap="square">
            <a:spAutoFit/>
          </a:bodyPr>
          <a:lstStyle/>
          <a:p>
            <a:r>
              <a:rPr lang="en-US" dirty="0"/>
              <a:t>older models (</a:t>
            </a:r>
            <a:r>
              <a:rPr lang="en-US" dirty="0" err="1"/>
              <a:t>FedRCIL</a:t>
            </a:r>
            <a:r>
              <a:rPr lang="en-US" dirty="0"/>
              <a:t>, </a:t>
            </a:r>
            <a:r>
              <a:rPr lang="en-US" dirty="0" err="1"/>
              <a:t>FedDIL</a:t>
            </a:r>
            <a:r>
              <a:rPr lang="en-US" dirty="0"/>
              <a:t>, FFSCIL, Re-Fed, </a:t>
            </a:r>
            <a:r>
              <a:rPr lang="en-US" dirty="0" err="1"/>
              <a:t>FedDIL</a:t>
            </a:r>
            <a:r>
              <a:rPr lang="en-US" dirty="0"/>
              <a:t> etc.) also get slower when M grows, but FIRFIL:</a:t>
            </a:r>
          </a:p>
          <a:p>
            <a:r>
              <a:rPr lang="en-US" dirty="0"/>
              <a:t> is </a:t>
            </a:r>
            <a:r>
              <a:rPr lang="en-US" b="1" dirty="0"/>
              <a:t>faster than others</a:t>
            </a:r>
            <a:r>
              <a:rPr lang="en-US" dirty="0"/>
              <a:t> in training rounds</a:t>
            </a:r>
            <a:br>
              <a:rPr lang="en-US" dirty="0"/>
            </a:br>
            <a:r>
              <a:rPr lang="en-US" dirty="0"/>
              <a:t>has </a:t>
            </a:r>
            <a:r>
              <a:rPr lang="en-US" b="1" dirty="0"/>
              <a:t>better global reliability by avoiding equal merging of bad/late updates</a:t>
            </a:r>
            <a:br>
              <a:rPr lang="en-US" dirty="0"/>
            </a:br>
            <a:r>
              <a:rPr lang="en-US" dirty="0"/>
              <a:t>performs best in </a:t>
            </a:r>
            <a:r>
              <a:rPr lang="en-US" b="1" dirty="0"/>
              <a:t>balanced ATA, TT, and IT trade-off</a:t>
            </a:r>
            <a:endParaRPr lang="en-US" dirty="0"/>
          </a:p>
        </p:txBody>
      </p:sp>
    </p:spTree>
    <p:extLst>
      <p:ext uri="{BB962C8B-B14F-4D97-AF65-F5344CB8AC3E}">
        <p14:creationId xmlns:p14="http://schemas.microsoft.com/office/powerpoint/2010/main" val="1677409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E730B8-239F-4736-A5A4-9279EA08C16C}"/>
              </a:ext>
            </a:extLst>
          </p:cNvPr>
          <p:cNvSpPr>
            <a:spLocks noChangeArrowheads="1"/>
          </p:cNvSpPr>
          <p:nvPr/>
        </p:nvSpPr>
        <p:spPr bwMode="auto">
          <a:xfrm rot="13165988" flipV="1">
            <a:off x="914400" y="351265"/>
            <a:ext cx="1053296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 provides privacy-safe hospital collaboration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Re-Fed addressed forgetting but not faulty/late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FIRFIL improves merging using </a:t>
            </a:r>
            <a:r>
              <a:rPr kumimoji="0" lang="en-US" altLang="en-US" sz="1800" b="1" i="0" u="none" strike="noStrike" cap="none" normalizeH="0" baseline="0" dirty="0">
                <a:ln>
                  <a:noFill/>
                </a:ln>
                <a:solidFill>
                  <a:schemeClr val="tx1"/>
                </a:solidFill>
                <a:effectLst/>
                <a:latin typeface="Arial" panose="020B0604020202020204" pitchFamily="34" charset="0"/>
              </a:rPr>
              <a:t>time-weighted </a:t>
            </a:r>
            <a:r>
              <a:rPr kumimoji="0" lang="en-US" altLang="en-US" sz="1800" b="1" i="0" u="none" strike="noStrike" cap="none" normalizeH="0" baseline="0" dirty="0" err="1">
                <a:ln>
                  <a:noFill/>
                </a:ln>
                <a:solidFill>
                  <a:schemeClr val="tx1"/>
                </a:solidFill>
                <a:effectLst/>
                <a:latin typeface="Arial" panose="020B0604020202020204" pitchFamily="34" charset="0"/>
              </a:rPr>
              <a:t>FedAvg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TISSLSTM reduces computation using </a:t>
            </a:r>
            <a:r>
              <a:rPr kumimoji="0" lang="en-US" altLang="en-US" sz="1800" b="1" i="0" u="none" strike="noStrike" cap="none" normalizeH="0" baseline="0" dirty="0">
                <a:ln>
                  <a:noFill/>
                </a:ln>
                <a:solidFill>
                  <a:schemeClr val="tx1"/>
                </a:solidFill>
                <a:effectLst/>
                <a:latin typeface="Arial" panose="020B0604020202020204" pitchFamily="34" charset="0"/>
              </a:rPr>
              <a:t>probabilistic spiking, fixed time-invariant rule, and LSTM memory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Results prove: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high accuracy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lower computation cost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lower latency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lower energy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Enables </a:t>
            </a:r>
            <a:r>
              <a:rPr kumimoji="0" lang="en-US" altLang="en-US" sz="1800" b="1" i="0" u="none" strike="noStrike" cap="none" normalizeH="0" baseline="0" dirty="0">
                <a:ln>
                  <a:noFill/>
                </a:ln>
                <a:solidFill>
                  <a:schemeClr val="tx1"/>
                </a:solidFill>
                <a:effectLst/>
                <a:latin typeface="Arial" panose="020B0604020202020204" pitchFamily="34" charset="0"/>
              </a:rPr>
              <a:t>real-time SHC disease prediction on edge/IoMT clients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1277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5DF208-0A26-41D9-8C20-DA36A01042BD}"/>
              </a:ext>
            </a:extLst>
          </p:cNvPr>
          <p:cNvSpPr txBox="1"/>
          <p:nvPr/>
        </p:nvSpPr>
        <p:spPr>
          <a:xfrm>
            <a:off x="3047134" y="2958230"/>
            <a:ext cx="6094268" cy="941540"/>
          </a:xfrm>
          <a:prstGeom prst="rect">
            <a:avLst/>
          </a:prstGeom>
          <a:noFill/>
        </p:spPr>
        <p:txBody>
          <a:bodyPr wrap="square">
            <a:spAutoFit/>
          </a:bodyPr>
          <a:lstStyle/>
          <a:p>
            <a:pPr marR="876300" algn="ctr">
              <a:lnSpc>
                <a:spcPts val="1200"/>
              </a:lnSpc>
              <a:spcAft>
                <a:spcPts val="1700"/>
              </a:spcAft>
            </a:pPr>
            <a:r>
              <a:rPr lang="en-US" sz="1800" b="1">
                <a:solidFill>
                  <a:srgbClr val="000000"/>
                </a:solidFill>
                <a:effectLst/>
                <a:latin typeface="Times New Roman" panose="02020603050405020304" pitchFamily="18" charset="0"/>
                <a:ea typeface="MS Mincho" panose="02020609040205080304" pitchFamily="49" charset="-128"/>
              </a:rPr>
              <a:t>An Enhanced Hierarchical Federated Incremental Learning Network for Smart </a:t>
            </a:r>
            <a:endParaRPr lang="en-IN" sz="1100" dirty="0">
              <a:effectLst/>
              <a:latin typeface="Times New Roman" panose="02020603050405020304" pitchFamily="18" charset="0"/>
              <a:ea typeface="Times New Roman" panose="02020603050405020304" pitchFamily="18" charset="0"/>
            </a:endParaRPr>
          </a:p>
          <a:p>
            <a:pPr marR="876300" algn="ctr">
              <a:lnSpc>
                <a:spcPts val="1200"/>
              </a:lnSpc>
              <a:spcAft>
                <a:spcPts val="1200"/>
              </a:spcAft>
            </a:pPr>
            <a:r>
              <a:rPr lang="en-US" sz="1800" b="1" dirty="0">
                <a:solidFill>
                  <a:srgbClr val="000000"/>
                </a:solidFill>
                <a:effectLst/>
                <a:latin typeface="Times New Roman" panose="02020603050405020304" pitchFamily="18" charset="0"/>
                <a:ea typeface="MS Mincho" panose="02020609040205080304" pitchFamily="49" charset="-128"/>
              </a:rPr>
              <a:t>Healthcare Systems Using Spiking Long Short-Term Memory</a:t>
            </a:r>
            <a:endParaRPr lang="en-IN"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62979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AB5AED-140E-465E-BF8E-6BB71247B726}"/>
              </a:ext>
            </a:extLst>
          </p:cNvPr>
          <p:cNvSpPr txBox="1"/>
          <p:nvPr/>
        </p:nvSpPr>
        <p:spPr>
          <a:xfrm>
            <a:off x="3047134" y="1720840"/>
            <a:ext cx="6094268" cy="3416320"/>
          </a:xfrm>
          <a:prstGeom prst="rect">
            <a:avLst/>
          </a:prstGeom>
          <a:noFill/>
        </p:spPr>
        <p:txBody>
          <a:bodyPr wrap="square">
            <a:spAutoFit/>
          </a:bodyPr>
          <a:lstStyle/>
          <a:p>
            <a:r>
              <a:rPr lang="en-US" b="1" dirty="0"/>
              <a:t>Top Level — Central Server / Cloud</a:t>
            </a:r>
          </a:p>
          <a:p>
            <a:pPr>
              <a:buFont typeface="Arial" panose="020B0604020202020204" pitchFamily="34" charset="0"/>
              <a:buChar char="•"/>
            </a:pPr>
            <a:r>
              <a:rPr lang="en-US" dirty="0"/>
              <a:t>Holds the </a:t>
            </a:r>
            <a:r>
              <a:rPr lang="en-US" b="1" dirty="0"/>
              <a:t>global TISSLSTM model</a:t>
            </a:r>
            <a:endParaRPr lang="en-US" dirty="0"/>
          </a:p>
          <a:p>
            <a:pPr>
              <a:buFont typeface="Arial" panose="020B0604020202020204" pitchFamily="34" charset="0"/>
              <a:buChar char="•"/>
            </a:pPr>
            <a:r>
              <a:rPr lang="en-US" dirty="0"/>
              <a:t>Receives </a:t>
            </a:r>
            <a:r>
              <a:rPr lang="en-US" b="1" dirty="0"/>
              <a:t>only numbers from Fog/Edge hubs</a:t>
            </a:r>
            <a:endParaRPr lang="en-US" dirty="0"/>
          </a:p>
          <a:p>
            <a:pPr marL="742950" lvl="1" indent="-285750">
              <a:buFont typeface="Arial" panose="020B0604020202020204" pitchFamily="34" charset="0"/>
              <a:buChar char="•"/>
            </a:pPr>
            <a:r>
              <a:rPr lang="en-US" dirty="0"/>
              <a:t>These numbers are: </a:t>
            </a:r>
            <a:r>
              <a:rPr lang="en-US" b="1" dirty="0"/>
              <a:t>model weights, gradients, and importance scores</a:t>
            </a:r>
            <a:endParaRPr lang="en-US" dirty="0"/>
          </a:p>
          <a:p>
            <a:pPr>
              <a:buFont typeface="Arial" panose="020B0604020202020204" pitchFamily="34" charset="0"/>
              <a:buChar char="•"/>
            </a:pPr>
            <a:r>
              <a:rPr lang="en-US" dirty="0"/>
              <a:t>Server combines those numbers using a rule called:</a:t>
            </a:r>
            <a:br>
              <a:rPr lang="en-US" dirty="0"/>
            </a:br>
            <a:r>
              <a:rPr lang="en-US" b="1" dirty="0"/>
              <a:t>Temporal Weighted Federated Averaging (Weighted </a:t>
            </a:r>
            <a:r>
              <a:rPr lang="en-US" b="1" dirty="0" err="1"/>
              <a:t>FedAvg</a:t>
            </a:r>
            <a:r>
              <a:rPr lang="en-US" b="1" dirty="0"/>
              <a:t>)</a:t>
            </a:r>
            <a:endParaRPr lang="en-US" dirty="0"/>
          </a:p>
          <a:p>
            <a:pPr marL="742950" lvl="1" indent="-285750">
              <a:buFont typeface="Arial" panose="020B0604020202020204" pitchFamily="34" charset="0"/>
              <a:buChar char="•"/>
            </a:pPr>
            <a:r>
              <a:rPr lang="en-US" dirty="0"/>
              <a:t> Latest correct updates get </a:t>
            </a:r>
            <a:r>
              <a:rPr lang="en-US" b="1" dirty="0"/>
              <a:t>more weight</a:t>
            </a:r>
            <a:endParaRPr lang="en-US" dirty="0"/>
          </a:p>
          <a:p>
            <a:pPr marL="742950" lvl="1" indent="-285750">
              <a:buFont typeface="Arial" panose="020B0604020202020204" pitchFamily="34" charset="0"/>
              <a:buChar char="•"/>
            </a:pPr>
            <a:r>
              <a:rPr lang="en-US" dirty="0"/>
              <a:t> Late or faulty updates get </a:t>
            </a:r>
            <a:r>
              <a:rPr lang="en-US" b="1" dirty="0"/>
              <a:t>less weight</a:t>
            </a:r>
            <a:endParaRPr lang="en-US" dirty="0"/>
          </a:p>
          <a:p>
            <a:pPr marL="742950" lvl="1" indent="-285750">
              <a:buFont typeface="Arial" panose="020B0604020202020204" pitchFamily="34" charset="0"/>
              <a:buChar char="•"/>
            </a:pPr>
            <a:r>
              <a:rPr lang="en-US" dirty="0"/>
              <a:t>→ This keeps the global model </a:t>
            </a:r>
            <a:r>
              <a:rPr lang="en-US" b="1" dirty="0"/>
              <a:t>reliable and up-to-date</a:t>
            </a:r>
            <a:endParaRPr lang="en-US" dirty="0"/>
          </a:p>
          <a:p>
            <a:pPr>
              <a:buFont typeface="Arial" panose="020B0604020202020204" pitchFamily="34" charset="0"/>
              <a:buChar char="•"/>
            </a:pPr>
            <a:r>
              <a:rPr lang="en-US" dirty="0"/>
              <a:t>After merging, server </a:t>
            </a:r>
            <a:r>
              <a:rPr lang="en-US" b="1" dirty="0"/>
              <a:t>sends back the new global model to Fog/Edges</a:t>
            </a:r>
            <a:r>
              <a:rPr lang="en-US" dirty="0"/>
              <a:t>, as </a:t>
            </a:r>
            <a:r>
              <a:rPr lang="en-US" b="1" dirty="0"/>
              <a:t>updated weight numbers</a:t>
            </a:r>
            <a:endParaRPr lang="en-US" dirty="0"/>
          </a:p>
        </p:txBody>
      </p:sp>
    </p:spTree>
    <p:extLst>
      <p:ext uri="{BB962C8B-B14F-4D97-AF65-F5344CB8AC3E}">
        <p14:creationId xmlns:p14="http://schemas.microsoft.com/office/powerpoint/2010/main" val="1361731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945A30-44CE-4A87-9B38-705372C070C0}"/>
              </a:ext>
            </a:extLst>
          </p:cNvPr>
          <p:cNvSpPr txBox="1"/>
          <p:nvPr/>
        </p:nvSpPr>
        <p:spPr>
          <a:xfrm>
            <a:off x="3047134" y="1720840"/>
            <a:ext cx="6094268" cy="3416320"/>
          </a:xfrm>
          <a:prstGeom prst="rect">
            <a:avLst/>
          </a:prstGeom>
          <a:noFill/>
        </p:spPr>
        <p:txBody>
          <a:bodyPr wrap="square">
            <a:spAutoFit/>
          </a:bodyPr>
          <a:lstStyle/>
          <a:p>
            <a:r>
              <a:rPr lang="en-US" b="1" dirty="0"/>
              <a:t>Middle Level — Fog / Edge Hubs</a:t>
            </a:r>
          </a:p>
          <a:p>
            <a:pPr>
              <a:buFont typeface="Arial" panose="020B0604020202020204" pitchFamily="34" charset="0"/>
              <a:buChar char="•"/>
            </a:pPr>
            <a:r>
              <a:rPr lang="en-US" dirty="0"/>
              <a:t>Acts as a </a:t>
            </a:r>
            <a:r>
              <a:rPr lang="en-US" b="1" dirty="0"/>
              <a:t>group aggregator</a:t>
            </a:r>
            <a:endParaRPr lang="en-US" dirty="0"/>
          </a:p>
          <a:p>
            <a:pPr>
              <a:buFont typeface="Arial" panose="020B0604020202020204" pitchFamily="34" charset="0"/>
              <a:buChar char="•"/>
            </a:pPr>
            <a:r>
              <a:rPr lang="en-US" dirty="0"/>
              <a:t>Each hub:</a:t>
            </a:r>
          </a:p>
          <a:p>
            <a:pPr marL="742950" lvl="1" indent="-285750">
              <a:buFont typeface="Arial" panose="020B0604020202020204" pitchFamily="34" charset="0"/>
              <a:buChar char="•"/>
            </a:pPr>
            <a:r>
              <a:rPr lang="en-US" dirty="0"/>
              <a:t>Receives </a:t>
            </a:r>
            <a:r>
              <a:rPr lang="en-US" b="1" dirty="0"/>
              <a:t>only numbers from its clients (local hospitals/IoMT devices)</a:t>
            </a:r>
            <a:endParaRPr lang="en-US" dirty="0"/>
          </a:p>
          <a:p>
            <a:pPr marL="742950" lvl="1" indent="-285750">
              <a:buFont typeface="Arial" panose="020B0604020202020204" pitchFamily="34" charset="0"/>
              <a:buChar char="•"/>
            </a:pPr>
            <a:r>
              <a:rPr lang="en-US" dirty="0"/>
              <a:t>Combines those numbers into a </a:t>
            </a:r>
            <a:r>
              <a:rPr lang="en-US" b="1" dirty="0"/>
              <a:t>single cluster update</a:t>
            </a:r>
            <a:endParaRPr lang="en-US" dirty="0"/>
          </a:p>
          <a:p>
            <a:pPr marL="742950" lvl="1" indent="-285750">
              <a:buFont typeface="Arial" panose="020B0604020202020204" pitchFamily="34" charset="0"/>
              <a:buChar char="•"/>
            </a:pPr>
            <a:r>
              <a:rPr lang="en-US" dirty="0"/>
              <a:t>Forwards the cluster’s final weight vector numbers to the server</a:t>
            </a:r>
          </a:p>
          <a:p>
            <a:pPr marL="742950" lvl="1" indent="-285750">
              <a:buFont typeface="Arial" panose="020B0604020202020204" pitchFamily="34" charset="0"/>
              <a:buChar char="•"/>
            </a:pPr>
            <a:r>
              <a:rPr lang="en-US" dirty="0"/>
              <a:t>Receives the improved global model numbers from server</a:t>
            </a:r>
          </a:p>
          <a:p>
            <a:pPr marL="742950" lvl="1" indent="-285750">
              <a:buFont typeface="Arial" panose="020B0604020202020204" pitchFamily="34" charset="0"/>
              <a:buChar char="•"/>
            </a:pPr>
            <a:r>
              <a:rPr lang="en-US" b="1" dirty="0"/>
              <a:t>Distributes only those updated model numbers back</a:t>
            </a:r>
            <a:r>
              <a:rPr lang="en-US" dirty="0"/>
              <a:t> to its clients</a:t>
            </a:r>
          </a:p>
        </p:txBody>
      </p:sp>
    </p:spTree>
    <p:extLst>
      <p:ext uri="{BB962C8B-B14F-4D97-AF65-F5344CB8AC3E}">
        <p14:creationId xmlns:p14="http://schemas.microsoft.com/office/powerpoint/2010/main" val="3878319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89F60D-D3A7-4E1E-BFF7-3F06A5CC93D5}"/>
              </a:ext>
            </a:extLst>
          </p:cNvPr>
          <p:cNvSpPr txBox="1"/>
          <p:nvPr/>
        </p:nvSpPr>
        <p:spPr>
          <a:xfrm>
            <a:off x="3047134" y="2274838"/>
            <a:ext cx="6094268" cy="2308324"/>
          </a:xfrm>
          <a:prstGeom prst="rect">
            <a:avLst/>
          </a:prstGeom>
          <a:noFill/>
        </p:spPr>
        <p:txBody>
          <a:bodyPr wrap="square">
            <a:spAutoFit/>
          </a:bodyPr>
          <a:lstStyle/>
          <a:p>
            <a:r>
              <a:rPr lang="en-IN" dirty="0"/>
              <a:t>Clients train on real data</a:t>
            </a:r>
          </a:p>
          <a:p>
            <a:r>
              <a:rPr lang="en-IN" dirty="0"/>
              <a:t>     ↓ send only weight/gradient/importance numbers</a:t>
            </a:r>
          </a:p>
          <a:p>
            <a:r>
              <a:rPr lang="en-IN" dirty="0"/>
              <a:t>Fog aggregates client numbers into 1 cluster update</a:t>
            </a:r>
          </a:p>
          <a:p>
            <a:r>
              <a:rPr lang="en-IN" dirty="0"/>
              <a:t>     ↓ send only those cluster weight numbers</a:t>
            </a:r>
          </a:p>
          <a:p>
            <a:r>
              <a:rPr lang="en-IN" dirty="0"/>
              <a:t>Server merges fog updates using Temporal Weighted </a:t>
            </a:r>
            <a:r>
              <a:rPr lang="en-IN" dirty="0" err="1"/>
              <a:t>FedAvg</a:t>
            </a:r>
            <a:endParaRPr lang="en-IN" dirty="0"/>
          </a:p>
          <a:p>
            <a:r>
              <a:rPr lang="en-IN" dirty="0"/>
              <a:t>     ↓ send back only improved model numbers</a:t>
            </a:r>
          </a:p>
          <a:p>
            <a:r>
              <a:rPr lang="en-IN" dirty="0"/>
              <a:t>Fog distributes global model numbers to clients</a:t>
            </a:r>
          </a:p>
          <a:p>
            <a:r>
              <a:rPr lang="en-IN" dirty="0"/>
              <a:t>     ↓ clients personalize &amp; continue next round</a:t>
            </a:r>
          </a:p>
        </p:txBody>
      </p:sp>
    </p:spTree>
    <p:extLst>
      <p:ext uri="{BB962C8B-B14F-4D97-AF65-F5344CB8AC3E}">
        <p14:creationId xmlns:p14="http://schemas.microsoft.com/office/powerpoint/2010/main" val="2088958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admin\AppData\Local\Microsoft\Windows\INetCache\Content.MSO\E49F7C66.tmp">
            <a:extLst>
              <a:ext uri="{FF2B5EF4-FFF2-40B4-BE49-F238E27FC236}">
                <a16:creationId xmlns:a16="http://schemas.microsoft.com/office/drawing/2014/main" id="{EF93BF62-CF0C-460E-9D04-941ECFBBB92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31870" y="34290"/>
            <a:ext cx="5128260" cy="6789420"/>
          </a:xfrm>
          <a:prstGeom prst="rect">
            <a:avLst/>
          </a:prstGeom>
          <a:noFill/>
          <a:ln>
            <a:noFill/>
          </a:ln>
        </p:spPr>
      </p:pic>
    </p:spTree>
    <p:extLst>
      <p:ext uri="{BB962C8B-B14F-4D97-AF65-F5344CB8AC3E}">
        <p14:creationId xmlns:p14="http://schemas.microsoft.com/office/powerpoint/2010/main" val="2541950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221B7B6-51AD-4FD2-85BE-1A9BAA214C01}"/>
              </a:ext>
            </a:extLst>
          </p:cNvPr>
          <p:cNvGraphicFramePr>
            <a:graphicFrameLocks noGrp="1"/>
          </p:cNvGraphicFramePr>
          <p:nvPr>
            <p:extLst>
              <p:ext uri="{D42A27DB-BD31-4B8C-83A1-F6EECF244321}">
                <p14:modId xmlns:p14="http://schemas.microsoft.com/office/powerpoint/2010/main" val="1446870886"/>
              </p:ext>
            </p:extLst>
          </p:nvPr>
        </p:nvGraphicFramePr>
        <p:xfrm>
          <a:off x="529936" y="737755"/>
          <a:ext cx="10823865" cy="2691244"/>
        </p:xfrm>
        <a:graphic>
          <a:graphicData uri="http://schemas.openxmlformats.org/drawingml/2006/table">
            <a:tbl>
              <a:tblPr firstRow="1" firstCol="1" bandRow="1">
                <a:tableStyleId>{5C22544A-7EE6-4342-B048-85BDC9FD1C3A}</a:tableStyleId>
              </a:tblPr>
              <a:tblGrid>
                <a:gridCol w="1885518">
                  <a:extLst>
                    <a:ext uri="{9D8B030D-6E8A-4147-A177-3AD203B41FA5}">
                      <a16:colId xmlns:a16="http://schemas.microsoft.com/office/drawing/2014/main" val="131109469"/>
                    </a:ext>
                  </a:extLst>
                </a:gridCol>
                <a:gridCol w="1712335">
                  <a:extLst>
                    <a:ext uri="{9D8B030D-6E8A-4147-A177-3AD203B41FA5}">
                      <a16:colId xmlns:a16="http://schemas.microsoft.com/office/drawing/2014/main" val="241702155"/>
                    </a:ext>
                  </a:extLst>
                </a:gridCol>
                <a:gridCol w="1309688">
                  <a:extLst>
                    <a:ext uri="{9D8B030D-6E8A-4147-A177-3AD203B41FA5}">
                      <a16:colId xmlns:a16="http://schemas.microsoft.com/office/drawing/2014/main" val="3526146658"/>
                    </a:ext>
                  </a:extLst>
                </a:gridCol>
                <a:gridCol w="1582449">
                  <a:extLst>
                    <a:ext uri="{9D8B030D-6E8A-4147-A177-3AD203B41FA5}">
                      <a16:colId xmlns:a16="http://schemas.microsoft.com/office/drawing/2014/main" val="2721485480"/>
                    </a:ext>
                  </a:extLst>
                </a:gridCol>
                <a:gridCol w="1305358">
                  <a:extLst>
                    <a:ext uri="{9D8B030D-6E8A-4147-A177-3AD203B41FA5}">
                      <a16:colId xmlns:a16="http://schemas.microsoft.com/office/drawing/2014/main" val="385608539"/>
                    </a:ext>
                  </a:extLst>
                </a:gridCol>
                <a:gridCol w="1257733">
                  <a:extLst>
                    <a:ext uri="{9D8B030D-6E8A-4147-A177-3AD203B41FA5}">
                      <a16:colId xmlns:a16="http://schemas.microsoft.com/office/drawing/2014/main" val="1468351627"/>
                    </a:ext>
                  </a:extLst>
                </a:gridCol>
                <a:gridCol w="1770784">
                  <a:extLst>
                    <a:ext uri="{9D8B030D-6E8A-4147-A177-3AD203B41FA5}">
                      <a16:colId xmlns:a16="http://schemas.microsoft.com/office/drawing/2014/main" val="2862440609"/>
                    </a:ext>
                  </a:extLst>
                </a:gridCol>
              </a:tblGrid>
              <a:tr h="520651">
                <a:tc>
                  <a:txBody>
                    <a:bodyPr/>
                    <a:lstStyle/>
                    <a:p>
                      <a:pPr indent="127000" algn="ctr">
                        <a:lnSpc>
                          <a:spcPts val="1200"/>
                        </a:lnSpc>
                      </a:pPr>
                      <a:r>
                        <a:rPr lang="en-IN" sz="800" spc="-10">
                          <a:effectLst/>
                        </a:rPr>
                        <a:t>Dataset</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Use cases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Sample size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Attributes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Classes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Clients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IN" sz="800" spc="-10">
                          <a:effectLst/>
                        </a:rPr>
                        <a:t>Group aggregators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1217084842"/>
                  </a:ext>
                </a:extLst>
              </a:tr>
              <a:tr h="520651">
                <a:tc>
                  <a:txBody>
                    <a:bodyPr/>
                    <a:lstStyle/>
                    <a:p>
                      <a:pPr indent="127000" algn="just">
                        <a:lnSpc>
                          <a:spcPts val="1200"/>
                        </a:lnSpc>
                      </a:pPr>
                      <a:r>
                        <a:rPr lang="en-IN" sz="800" spc="-10">
                          <a:effectLst/>
                        </a:rPr>
                        <a:t>Body performance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Remote health monitoring</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13394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11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rowSpan="2">
                  <a:txBody>
                    <a:bodyPr/>
                    <a:lstStyle/>
                    <a:p>
                      <a:pPr indent="127000" algn="ctr">
                        <a:lnSpc>
                          <a:spcPts val="1200"/>
                        </a:lnSpc>
                      </a:pPr>
                      <a:r>
                        <a:rPr lang="en-IN" sz="800" spc="-10">
                          <a:effectLst/>
                        </a:rPr>
                        <a:t>100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rowSpan="2">
                  <a:txBody>
                    <a:bodyPr/>
                    <a:lstStyle/>
                    <a:p>
                      <a:pPr indent="127000" algn="ctr">
                        <a:lnSpc>
                          <a:spcPts val="1200"/>
                        </a:lnSpc>
                      </a:pPr>
                      <a:r>
                        <a:rPr lang="en-IN" sz="800" spc="-10">
                          <a:effectLst/>
                        </a:rPr>
                        <a:t>10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1316594275"/>
                  </a:ext>
                </a:extLst>
              </a:tr>
              <a:tr h="1649942">
                <a:tc>
                  <a:txBody>
                    <a:bodyPr/>
                    <a:lstStyle/>
                    <a:p>
                      <a:pPr indent="127000" algn="just">
                        <a:lnSpc>
                          <a:spcPts val="1200"/>
                        </a:lnSpc>
                      </a:pPr>
                      <a:r>
                        <a:rPr lang="en-IN" sz="800" spc="-10">
                          <a:effectLst/>
                        </a:rPr>
                        <a:t>Diabetes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Diabetes monitoring</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769</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a:effectLst/>
                        </a:rPr>
                        <a:t>8</a:t>
                      </a:r>
                      <a:endParaRPr lang="en-IN" sz="1000" spc="-10">
                        <a:effectLst/>
                      </a:endParaRPr>
                    </a:p>
                    <a:p>
                      <a:pPr indent="127000" algn="just">
                        <a:lnSpc>
                          <a:spcPts val="1200"/>
                        </a:lnSpc>
                      </a:pPr>
                      <a:r>
                        <a:rPr lang="en-IN" sz="800" spc="-10">
                          <a:effectLst/>
                        </a:rPr>
                        <a:t> </a:t>
                      </a:r>
                      <a:endParaRPr lang="en-IN" sz="1000" spc="-10">
                        <a:effectLst/>
                      </a:endParaRPr>
                    </a:p>
                    <a:p>
                      <a:pPr indent="127000" algn="just">
                        <a:lnSpc>
                          <a:spcPts val="1200"/>
                        </a:lnSpc>
                      </a:pPr>
                      <a:r>
                        <a:rPr lang="en-IN" sz="800" spc="-10">
                          <a:effectLst/>
                        </a:rPr>
                        <a:t> </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IN" sz="800" spc="-10" dirty="0">
                          <a:effectLst/>
                        </a:rPr>
                        <a:t>2</a:t>
                      </a:r>
                      <a:endParaRPr lang="en-IN" sz="1000" spc="-10" dirty="0">
                        <a:effectLst/>
                      </a:endParaRPr>
                    </a:p>
                    <a:p>
                      <a:pPr indent="127000" algn="just">
                        <a:lnSpc>
                          <a:spcPts val="1200"/>
                        </a:lnSpc>
                      </a:pPr>
                      <a:r>
                        <a:rPr lang="en-IN" sz="800" spc="-10" dirty="0">
                          <a:effectLst/>
                        </a:rPr>
                        <a:t> </a:t>
                      </a:r>
                      <a:endParaRPr lang="en-IN" sz="1000" spc="-10" dirty="0">
                        <a:effectLst/>
                      </a:endParaRPr>
                    </a:p>
                    <a:p>
                      <a:pPr indent="127000" algn="just">
                        <a:lnSpc>
                          <a:spcPts val="1200"/>
                        </a:lnSpc>
                      </a:pPr>
                      <a:r>
                        <a:rPr lang="en-IN" sz="800" spc="-10" dirty="0">
                          <a:effectLst/>
                        </a:rPr>
                        <a:t> </a:t>
                      </a:r>
                      <a:endParaRPr lang="en-IN"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768133860"/>
                  </a:ext>
                </a:extLst>
              </a:tr>
            </a:tbl>
          </a:graphicData>
        </a:graphic>
      </p:graphicFrame>
      <p:sp>
        <p:nvSpPr>
          <p:cNvPr id="3" name="Rectangle 1">
            <a:extLst>
              <a:ext uri="{FF2B5EF4-FFF2-40B4-BE49-F238E27FC236}">
                <a16:creationId xmlns:a16="http://schemas.microsoft.com/office/drawing/2014/main" id="{DF257CC0-D1AD-4DBE-A588-683F5EE4B0AA}"/>
              </a:ext>
            </a:extLst>
          </p:cNvPr>
          <p:cNvSpPr>
            <a:spLocks noChangeArrowheads="1"/>
          </p:cNvSpPr>
          <p:nvPr/>
        </p:nvSpPr>
        <p:spPr bwMode="auto">
          <a:xfrm>
            <a:off x="838200" y="36417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Details about Datasets Used</a:t>
            </a:r>
            <a:r>
              <a:rPr kumimoji="0" lang="en-US" altLang="en-US" sz="1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TimesLTStd-Roman"/>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4180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7B425F6-9805-40E5-9F4C-A107CF057F7E}"/>
              </a:ext>
            </a:extLst>
          </p:cNvPr>
          <p:cNvGraphicFramePr>
            <a:graphicFrameLocks noGrp="1"/>
          </p:cNvGraphicFramePr>
          <p:nvPr>
            <p:extLst>
              <p:ext uri="{D42A27DB-BD31-4B8C-83A1-F6EECF244321}">
                <p14:modId xmlns:p14="http://schemas.microsoft.com/office/powerpoint/2010/main" val="3130267580"/>
              </p:ext>
            </p:extLst>
          </p:nvPr>
        </p:nvGraphicFramePr>
        <p:xfrm>
          <a:off x="4306188" y="2646194"/>
          <a:ext cx="4879662" cy="2691349"/>
        </p:xfrm>
        <a:graphic>
          <a:graphicData uri="http://schemas.openxmlformats.org/drawingml/2006/table">
            <a:tbl>
              <a:tblPr firstRow="1" firstCol="1" bandRow="1">
                <a:tableStyleId>{5C22544A-7EE6-4342-B048-85BDC9FD1C3A}</a:tableStyleId>
              </a:tblPr>
              <a:tblGrid>
                <a:gridCol w="809231">
                  <a:extLst>
                    <a:ext uri="{9D8B030D-6E8A-4147-A177-3AD203B41FA5}">
                      <a16:colId xmlns:a16="http://schemas.microsoft.com/office/drawing/2014/main" val="2105547601"/>
                    </a:ext>
                  </a:extLst>
                </a:gridCol>
                <a:gridCol w="655937">
                  <a:extLst>
                    <a:ext uri="{9D8B030D-6E8A-4147-A177-3AD203B41FA5}">
                      <a16:colId xmlns:a16="http://schemas.microsoft.com/office/drawing/2014/main" val="3092779126"/>
                    </a:ext>
                  </a:extLst>
                </a:gridCol>
                <a:gridCol w="714063">
                  <a:extLst>
                    <a:ext uri="{9D8B030D-6E8A-4147-A177-3AD203B41FA5}">
                      <a16:colId xmlns:a16="http://schemas.microsoft.com/office/drawing/2014/main" val="1747831999"/>
                    </a:ext>
                  </a:extLst>
                </a:gridCol>
                <a:gridCol w="714063">
                  <a:extLst>
                    <a:ext uri="{9D8B030D-6E8A-4147-A177-3AD203B41FA5}">
                      <a16:colId xmlns:a16="http://schemas.microsoft.com/office/drawing/2014/main" val="1555077608"/>
                    </a:ext>
                  </a:extLst>
                </a:gridCol>
                <a:gridCol w="664812">
                  <a:extLst>
                    <a:ext uri="{9D8B030D-6E8A-4147-A177-3AD203B41FA5}">
                      <a16:colId xmlns:a16="http://schemas.microsoft.com/office/drawing/2014/main" val="347775986"/>
                    </a:ext>
                  </a:extLst>
                </a:gridCol>
                <a:gridCol w="664812">
                  <a:extLst>
                    <a:ext uri="{9D8B030D-6E8A-4147-A177-3AD203B41FA5}">
                      <a16:colId xmlns:a16="http://schemas.microsoft.com/office/drawing/2014/main" val="2464272823"/>
                    </a:ext>
                  </a:extLst>
                </a:gridCol>
                <a:gridCol w="656744">
                  <a:extLst>
                    <a:ext uri="{9D8B030D-6E8A-4147-A177-3AD203B41FA5}">
                      <a16:colId xmlns:a16="http://schemas.microsoft.com/office/drawing/2014/main" val="159322937"/>
                    </a:ext>
                  </a:extLst>
                </a:gridCol>
              </a:tblGrid>
              <a:tr h="242803">
                <a:tc rowSpan="2">
                  <a:txBody>
                    <a:bodyPr/>
                    <a:lstStyle/>
                    <a:p>
                      <a:pPr indent="127000" algn="ctr">
                        <a:lnSpc>
                          <a:spcPts val="1200"/>
                        </a:lnSpc>
                      </a:pPr>
                      <a:r>
                        <a:rPr lang="en-US" sz="800" spc="-10">
                          <a:effectLst/>
                        </a:rPr>
                        <a:t>Dataset</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rowSpan="2">
                  <a:txBody>
                    <a:bodyPr/>
                    <a:lstStyle/>
                    <a:p>
                      <a:pPr indent="127000" algn="ctr">
                        <a:lnSpc>
                          <a:spcPts val="1200"/>
                        </a:lnSpc>
                      </a:pPr>
                      <a:r>
                        <a:rPr lang="en-US" sz="800" spc="-10">
                          <a:effectLst/>
                        </a:rPr>
                        <a:t>Metrics (%)</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gridSpan="5">
                  <a:txBody>
                    <a:bodyPr/>
                    <a:lstStyle/>
                    <a:p>
                      <a:pPr indent="127000" algn="ctr">
                        <a:lnSpc>
                          <a:spcPts val="1200"/>
                        </a:lnSpc>
                      </a:pPr>
                      <a:r>
                        <a:rPr lang="en-US" sz="800" spc="-10">
                          <a:effectLst/>
                        </a:rPr>
                        <a:t>Models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74030800"/>
                  </a:ext>
                </a:extLst>
              </a:tr>
              <a:tr h="506122">
                <a:tc vMerge="1">
                  <a:txBody>
                    <a:bodyPr/>
                    <a:lstStyle/>
                    <a:p>
                      <a:endParaRPr lang="en-IN"/>
                    </a:p>
                  </a:txBody>
                  <a:tcPr/>
                </a:tc>
                <a:tc vMerge="1">
                  <a:txBody>
                    <a:bodyPr/>
                    <a:lstStyle/>
                    <a:p>
                      <a:endParaRPr lang="en-IN"/>
                    </a:p>
                  </a:txBody>
                  <a:tcPr/>
                </a:tc>
                <a:tc>
                  <a:txBody>
                    <a:bodyPr/>
                    <a:lstStyle/>
                    <a:p>
                      <a:pPr indent="127000" algn="ctr">
                        <a:lnSpc>
                          <a:spcPts val="1200"/>
                        </a:lnSpc>
                      </a:pPr>
                      <a:r>
                        <a:rPr lang="en-US" sz="800" spc="-10">
                          <a:effectLst/>
                        </a:rPr>
                        <a:t>BO-SWNF</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Dense-DNN</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Mu-LSTM</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Conv-BiLSTM</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TISSLSTM</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3660286205"/>
                  </a:ext>
                </a:extLst>
              </a:tr>
              <a:tr h="242803">
                <a:tc rowSpan="4">
                  <a:txBody>
                    <a:bodyPr/>
                    <a:lstStyle/>
                    <a:p>
                      <a:pPr indent="127000" algn="just">
                        <a:lnSpc>
                          <a:spcPts val="1200"/>
                        </a:lnSpc>
                      </a:pPr>
                      <a:r>
                        <a:rPr lang="en-US" sz="800" spc="-10">
                          <a:effectLst/>
                        </a:rPr>
                        <a:t>Diabetes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Accuracy</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81.97</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84.63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87.01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89.85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92.72</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1693353251"/>
                  </a:ext>
                </a:extLst>
              </a:tr>
              <a:tr h="242803">
                <a:tc vMerge="1">
                  <a:txBody>
                    <a:bodyPr/>
                    <a:lstStyle/>
                    <a:p>
                      <a:endParaRPr lang="en-IN"/>
                    </a:p>
                  </a:txBody>
                  <a:tcPr/>
                </a:tc>
                <a:tc>
                  <a:txBody>
                    <a:bodyPr/>
                    <a:lstStyle/>
                    <a:p>
                      <a:pPr indent="127000" algn="just">
                        <a:lnSpc>
                          <a:spcPts val="1200"/>
                        </a:lnSpc>
                      </a:pPr>
                      <a:r>
                        <a:rPr lang="en-US" sz="800" spc="-10">
                          <a:effectLst/>
                        </a:rPr>
                        <a:t>Precision</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80.81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83.60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86.14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88.53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91.96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1302264456"/>
                  </a:ext>
                </a:extLst>
              </a:tr>
              <a:tr h="242803">
                <a:tc vMerge="1">
                  <a:txBody>
                    <a:bodyPr/>
                    <a:lstStyle/>
                    <a:p>
                      <a:endParaRPr lang="en-IN"/>
                    </a:p>
                  </a:txBody>
                  <a:tcPr/>
                </a:tc>
                <a:tc>
                  <a:txBody>
                    <a:bodyPr/>
                    <a:lstStyle/>
                    <a:p>
                      <a:pPr indent="127000" algn="just">
                        <a:lnSpc>
                          <a:spcPts val="1200"/>
                        </a:lnSpc>
                      </a:pPr>
                      <a:r>
                        <a:rPr lang="en-US" sz="800" spc="-10">
                          <a:effectLst/>
                        </a:rPr>
                        <a:t>Recall</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81.66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84.51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86.98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89.70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92.65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2430171356"/>
                  </a:ext>
                </a:extLst>
              </a:tr>
              <a:tr h="242803">
                <a:tc vMerge="1">
                  <a:txBody>
                    <a:bodyPr/>
                    <a:lstStyle/>
                    <a:p>
                      <a:endParaRPr lang="en-IN"/>
                    </a:p>
                  </a:txBody>
                  <a:tcPr/>
                </a:tc>
                <a:tc>
                  <a:txBody>
                    <a:bodyPr/>
                    <a:lstStyle/>
                    <a:p>
                      <a:pPr indent="127000" algn="just">
                        <a:lnSpc>
                          <a:spcPts val="1200"/>
                        </a:lnSpc>
                      </a:pPr>
                      <a:r>
                        <a:rPr lang="en-US" sz="800" spc="-10">
                          <a:effectLst/>
                        </a:rPr>
                        <a:t>F1-score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81.24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84.06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86.56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89.12</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92.31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3202275021"/>
                  </a:ext>
                </a:extLst>
              </a:tr>
              <a:tr h="242803">
                <a:tc rowSpan="4">
                  <a:txBody>
                    <a:bodyPr/>
                    <a:lstStyle/>
                    <a:p>
                      <a:pPr indent="127000" algn="just">
                        <a:lnSpc>
                          <a:spcPts val="1200"/>
                        </a:lnSpc>
                      </a:pPr>
                      <a:r>
                        <a:rPr lang="en-US" sz="800" spc="-10">
                          <a:effectLst/>
                        </a:rPr>
                        <a:t>Body performance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Accuracy</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80.88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83.45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86.03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88.67</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91.59</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260971880"/>
                  </a:ext>
                </a:extLst>
              </a:tr>
              <a:tr h="242803">
                <a:tc vMerge="1">
                  <a:txBody>
                    <a:bodyPr/>
                    <a:lstStyle/>
                    <a:p>
                      <a:endParaRPr lang="en-IN"/>
                    </a:p>
                  </a:txBody>
                  <a:tcPr/>
                </a:tc>
                <a:tc>
                  <a:txBody>
                    <a:bodyPr/>
                    <a:lstStyle/>
                    <a:p>
                      <a:pPr indent="127000" algn="just">
                        <a:lnSpc>
                          <a:spcPts val="1200"/>
                        </a:lnSpc>
                      </a:pPr>
                      <a:r>
                        <a:rPr lang="en-US" sz="800" spc="-10">
                          <a:effectLst/>
                        </a:rPr>
                        <a:t>Precision</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80.05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82.67</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85.49</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87.92</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90.84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2137155292"/>
                  </a:ext>
                </a:extLst>
              </a:tr>
              <a:tr h="242803">
                <a:tc vMerge="1">
                  <a:txBody>
                    <a:bodyPr/>
                    <a:lstStyle/>
                    <a:p>
                      <a:endParaRPr lang="en-IN"/>
                    </a:p>
                  </a:txBody>
                  <a:tcPr/>
                </a:tc>
                <a:tc>
                  <a:txBody>
                    <a:bodyPr/>
                    <a:lstStyle/>
                    <a:p>
                      <a:pPr indent="127000" algn="just">
                        <a:lnSpc>
                          <a:spcPts val="1200"/>
                        </a:lnSpc>
                      </a:pPr>
                      <a:r>
                        <a:rPr lang="en-US" sz="800" spc="-10">
                          <a:effectLst/>
                        </a:rPr>
                        <a:t>Recall</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80.83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83.31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86.00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88.64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91.40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526514878"/>
                  </a:ext>
                </a:extLst>
              </a:tr>
              <a:tr h="242803">
                <a:tc vMerge="1">
                  <a:txBody>
                    <a:bodyPr/>
                    <a:lstStyle/>
                    <a:p>
                      <a:endParaRPr lang="en-IN"/>
                    </a:p>
                  </a:txBody>
                  <a:tcPr/>
                </a:tc>
                <a:tc>
                  <a:txBody>
                    <a:bodyPr/>
                    <a:lstStyle/>
                    <a:p>
                      <a:pPr indent="127000" algn="just">
                        <a:lnSpc>
                          <a:spcPts val="1200"/>
                        </a:lnSpc>
                      </a:pPr>
                      <a:r>
                        <a:rPr lang="en-US" sz="800" spc="-10">
                          <a:effectLst/>
                        </a:rPr>
                        <a:t>F1-score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80.44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82.99</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85.75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a:effectLst/>
                        </a:rPr>
                        <a:t>88.28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just">
                        <a:lnSpc>
                          <a:spcPts val="1200"/>
                        </a:lnSpc>
                      </a:pPr>
                      <a:r>
                        <a:rPr lang="en-US" sz="800" spc="-10" dirty="0">
                          <a:effectLst/>
                        </a:rPr>
                        <a:t>91.12</a:t>
                      </a:r>
                      <a:endParaRPr lang="en-IN"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572460082"/>
                  </a:ext>
                </a:extLst>
              </a:tr>
            </a:tbl>
          </a:graphicData>
        </a:graphic>
      </p:graphicFrame>
      <p:sp>
        <p:nvSpPr>
          <p:cNvPr id="5" name="Rectangle 2">
            <a:extLst>
              <a:ext uri="{FF2B5EF4-FFF2-40B4-BE49-F238E27FC236}">
                <a16:creationId xmlns:a16="http://schemas.microsoft.com/office/drawing/2014/main" id="{8D98748E-63EA-4AB6-BED4-0C7C33822994}"/>
              </a:ext>
            </a:extLst>
          </p:cNvPr>
          <p:cNvSpPr>
            <a:spLocks noChangeArrowheads="1"/>
          </p:cNvSpPr>
          <p:nvPr/>
        </p:nvSpPr>
        <p:spPr bwMode="auto">
          <a:xfrm>
            <a:off x="2045936" y="2750893"/>
            <a:ext cx="1549077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Evaluation of Proposed TISSLSTM with Existing DL Models</a:t>
            </a:r>
            <a:r>
              <a:rPr kumimoji="0" lang="en-US" altLang="en-US" sz="10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LTStd-Roman"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93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8EE11DC6-5808-4634-AC21-C6039062B770}"/>
              </a:ext>
            </a:extLst>
          </p:cNvPr>
          <p:cNvGraphicFramePr/>
          <p:nvPr/>
        </p:nvGraphicFramePr>
        <p:xfrm>
          <a:off x="4543742" y="2207577"/>
          <a:ext cx="3104515" cy="244284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39873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04B4E43-7283-475F-A3A1-5F10E8E77BA0}"/>
              </a:ext>
            </a:extLst>
          </p:cNvPr>
          <p:cNvGraphicFramePr/>
          <p:nvPr/>
        </p:nvGraphicFramePr>
        <p:xfrm>
          <a:off x="4585335" y="2228533"/>
          <a:ext cx="3021330" cy="24009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2730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DD2AF22-FC91-4254-B046-C72637CA2B1D}"/>
              </a:ext>
            </a:extLst>
          </p:cNvPr>
          <p:cNvGraphicFramePr>
            <a:graphicFrameLocks noGrp="1"/>
          </p:cNvGraphicFramePr>
          <p:nvPr>
            <p:extLst>
              <p:ext uri="{D42A27DB-BD31-4B8C-83A1-F6EECF244321}">
                <p14:modId xmlns:p14="http://schemas.microsoft.com/office/powerpoint/2010/main" val="378462189"/>
              </p:ext>
            </p:extLst>
          </p:nvPr>
        </p:nvGraphicFramePr>
        <p:xfrm>
          <a:off x="1402888" y="122898"/>
          <a:ext cx="7119221" cy="5425847"/>
        </p:xfrm>
        <a:graphic>
          <a:graphicData uri="http://schemas.openxmlformats.org/drawingml/2006/table">
            <a:tbl>
              <a:tblPr firstRow="1" firstCol="1" bandRow="1">
                <a:tableStyleId>{5C22544A-7EE6-4342-B048-85BDC9FD1C3A}</a:tableStyleId>
              </a:tblPr>
              <a:tblGrid>
                <a:gridCol w="1251559">
                  <a:extLst>
                    <a:ext uri="{9D8B030D-6E8A-4147-A177-3AD203B41FA5}">
                      <a16:colId xmlns:a16="http://schemas.microsoft.com/office/drawing/2014/main" val="2571442065"/>
                    </a:ext>
                  </a:extLst>
                </a:gridCol>
                <a:gridCol w="1200300">
                  <a:extLst>
                    <a:ext uri="{9D8B030D-6E8A-4147-A177-3AD203B41FA5}">
                      <a16:colId xmlns:a16="http://schemas.microsoft.com/office/drawing/2014/main" val="2739793438"/>
                    </a:ext>
                  </a:extLst>
                </a:gridCol>
                <a:gridCol w="1194605">
                  <a:extLst>
                    <a:ext uri="{9D8B030D-6E8A-4147-A177-3AD203B41FA5}">
                      <a16:colId xmlns:a16="http://schemas.microsoft.com/office/drawing/2014/main" val="1335838422"/>
                    </a:ext>
                  </a:extLst>
                </a:gridCol>
                <a:gridCol w="1144771">
                  <a:extLst>
                    <a:ext uri="{9D8B030D-6E8A-4147-A177-3AD203B41FA5}">
                      <a16:colId xmlns:a16="http://schemas.microsoft.com/office/drawing/2014/main" val="3470571866"/>
                    </a:ext>
                  </a:extLst>
                </a:gridCol>
                <a:gridCol w="1033711">
                  <a:extLst>
                    <a:ext uri="{9D8B030D-6E8A-4147-A177-3AD203B41FA5}">
                      <a16:colId xmlns:a16="http://schemas.microsoft.com/office/drawing/2014/main" val="3053981563"/>
                    </a:ext>
                  </a:extLst>
                </a:gridCol>
                <a:gridCol w="1294275">
                  <a:extLst>
                    <a:ext uri="{9D8B030D-6E8A-4147-A177-3AD203B41FA5}">
                      <a16:colId xmlns:a16="http://schemas.microsoft.com/office/drawing/2014/main" val="2360315201"/>
                    </a:ext>
                  </a:extLst>
                </a:gridCol>
              </a:tblGrid>
              <a:tr h="775121">
                <a:tc rowSpan="2">
                  <a:txBody>
                    <a:bodyPr/>
                    <a:lstStyle/>
                    <a:p>
                      <a:pPr indent="127000" algn="ctr">
                        <a:lnSpc>
                          <a:spcPts val="1200"/>
                        </a:lnSpc>
                      </a:pPr>
                      <a:r>
                        <a:rPr lang="en-US" sz="800" spc="-10">
                          <a:effectLst/>
                        </a:rPr>
                        <a:t>Dataset</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a:txBody>
                    <a:bodyPr/>
                    <a:lstStyle/>
                    <a:p>
                      <a:pPr indent="127000" algn="ctr">
                        <a:lnSpc>
                          <a:spcPts val="1200"/>
                        </a:lnSpc>
                      </a:pPr>
                      <a:r>
                        <a:rPr lang="en-US" sz="800" spc="-10">
                          <a:effectLst/>
                        </a:rPr>
                        <a:t>FedEHR</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a:txBody>
                    <a:bodyPr/>
                    <a:lstStyle/>
                    <a:p>
                      <a:pPr indent="127000" algn="ctr">
                        <a:lnSpc>
                          <a:spcPts val="1200"/>
                        </a:lnSpc>
                      </a:pPr>
                      <a:r>
                        <a:rPr lang="en-US" sz="800" spc="-10">
                          <a:effectLst/>
                        </a:rPr>
                        <a:t>FedCure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a:txBody>
                    <a:bodyPr/>
                    <a:lstStyle/>
                    <a:p>
                      <a:pPr indent="127000" algn="ctr">
                        <a:lnSpc>
                          <a:spcPts val="1200"/>
                        </a:lnSpc>
                      </a:pPr>
                      <a:r>
                        <a:rPr lang="en-US" sz="800" spc="-10">
                          <a:effectLst/>
                        </a:rPr>
                        <a:t>FDEIoL</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a:txBody>
                    <a:bodyPr/>
                    <a:lstStyle/>
                    <a:p>
                      <a:pPr indent="127000" algn="ctr">
                        <a:lnSpc>
                          <a:spcPts val="1200"/>
                        </a:lnSpc>
                      </a:pPr>
                      <a:r>
                        <a:rPr lang="en-US" sz="800" spc="-10">
                          <a:effectLst/>
                        </a:rPr>
                        <a:t>Re-Fed</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a:txBody>
                    <a:bodyPr/>
                    <a:lstStyle/>
                    <a:p>
                      <a:pPr indent="127000" algn="ctr">
                        <a:lnSpc>
                          <a:spcPts val="1200"/>
                        </a:lnSpc>
                      </a:pPr>
                      <a:r>
                        <a:rPr lang="en-US" sz="800" spc="-10">
                          <a:effectLst/>
                        </a:rPr>
                        <a:t>EHFIL </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extLst>
                  <a:ext uri="{0D108BD9-81ED-4DB2-BD59-A6C34878D82A}">
                    <a16:rowId xmlns:a16="http://schemas.microsoft.com/office/drawing/2014/main" val="1494570333"/>
                  </a:ext>
                </a:extLst>
              </a:tr>
              <a:tr h="775121">
                <a:tc vMerge="1">
                  <a:txBody>
                    <a:bodyPr/>
                    <a:lstStyle/>
                    <a:p>
                      <a:endParaRPr lang="en-IN"/>
                    </a:p>
                  </a:txBody>
                  <a:tcPr/>
                </a:tc>
                <a:tc gridSpan="5">
                  <a:txBody>
                    <a:bodyPr/>
                    <a:lstStyle/>
                    <a:p>
                      <a:pPr indent="127000" algn="ctr">
                        <a:lnSpc>
                          <a:spcPts val="1200"/>
                        </a:lnSpc>
                      </a:pPr>
                      <a:r>
                        <a:rPr lang="en-US" sz="800" spc="-10">
                          <a:effectLst/>
                        </a:rPr>
                        <a:t>Energy Consumption (J)</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22880399"/>
                  </a:ext>
                </a:extLst>
              </a:tr>
              <a:tr h="775121">
                <a:tc>
                  <a:txBody>
                    <a:bodyPr/>
                    <a:lstStyle/>
                    <a:p>
                      <a:pPr indent="127000" algn="just">
                        <a:lnSpc>
                          <a:spcPts val="1200"/>
                        </a:lnSpc>
                      </a:pPr>
                      <a:r>
                        <a:rPr lang="en-US" sz="800" spc="-10">
                          <a:effectLst/>
                        </a:rPr>
                        <a:t>Diabetes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89.3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84.8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80.4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76.1</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72.5</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87365452"/>
                  </a:ext>
                </a:extLst>
              </a:tr>
              <a:tr h="775121">
                <a:tc>
                  <a:txBody>
                    <a:bodyPr/>
                    <a:lstStyle/>
                    <a:p>
                      <a:pPr indent="127000" algn="just">
                        <a:lnSpc>
                          <a:spcPts val="1200"/>
                        </a:lnSpc>
                      </a:pPr>
                      <a:r>
                        <a:rPr lang="en-US" sz="800" spc="-10">
                          <a:effectLst/>
                        </a:rPr>
                        <a:t>Body performance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97.9</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93.6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91.0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88.3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84.8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730553310"/>
                  </a:ext>
                </a:extLst>
              </a:tr>
              <a:tr h="775121">
                <a:tc>
                  <a:txBody>
                    <a:bodyPr/>
                    <a:lstStyle/>
                    <a:p>
                      <a:pPr indent="127000" algn="ctr">
                        <a:lnSpc>
                          <a:spcPts val="1200"/>
                        </a:lnSpc>
                      </a:pPr>
                      <a:r>
                        <a:rPr lang="en-US" sz="800" spc="-10">
                          <a:effectLst/>
                        </a:rPr>
                        <a:t>Dataset</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gridSpan="5">
                  <a:txBody>
                    <a:bodyPr/>
                    <a:lstStyle/>
                    <a:p>
                      <a:pPr indent="127000" algn="ctr">
                        <a:lnSpc>
                          <a:spcPts val="1200"/>
                        </a:lnSpc>
                      </a:pPr>
                      <a:r>
                        <a:rPr lang="en-US" sz="800" spc="-10">
                          <a:effectLst/>
                        </a:rPr>
                        <a:t>Latency (ms)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253606420"/>
                  </a:ext>
                </a:extLst>
              </a:tr>
              <a:tr h="775121">
                <a:tc>
                  <a:txBody>
                    <a:bodyPr/>
                    <a:lstStyle/>
                    <a:p>
                      <a:pPr indent="127000" algn="just">
                        <a:lnSpc>
                          <a:spcPts val="1200"/>
                        </a:lnSpc>
                      </a:pPr>
                      <a:r>
                        <a:rPr lang="en-US" sz="800" spc="-10">
                          <a:effectLst/>
                        </a:rPr>
                        <a:t>Diabetes</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201.2</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193.7</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186.3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179.6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167.0</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1220358961"/>
                  </a:ext>
                </a:extLst>
              </a:tr>
              <a:tr h="775121">
                <a:tc>
                  <a:txBody>
                    <a:bodyPr/>
                    <a:lstStyle/>
                    <a:p>
                      <a:pPr indent="127000" algn="just">
                        <a:lnSpc>
                          <a:spcPts val="1200"/>
                        </a:lnSpc>
                      </a:pPr>
                      <a:r>
                        <a:rPr lang="en-US" sz="800" spc="-10">
                          <a:effectLst/>
                        </a:rPr>
                        <a:t>Body performance</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210.6</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200.4</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195.8</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a:effectLst/>
                        </a:rPr>
                        <a:t>187.3</a:t>
                      </a:r>
                      <a:endParaRPr lang="en-IN" sz="1000" spc="-10">
                        <a:effectLst/>
                        <a:latin typeface="Times New Roman" panose="02020603050405020304" pitchFamily="18" charset="0"/>
                        <a:ea typeface="Times New Roman" panose="02020603050405020304" pitchFamily="18" charset="0"/>
                        <a:cs typeface="TimesLTStd-Roman"/>
                      </a:endParaRPr>
                    </a:p>
                  </a:txBody>
                  <a:tcPr marL="68580" marR="68580" marT="0" marB="0"/>
                </a:tc>
                <a:tc>
                  <a:txBody>
                    <a:bodyPr/>
                    <a:lstStyle/>
                    <a:p>
                      <a:pPr indent="127000" algn="ctr">
                        <a:lnSpc>
                          <a:spcPts val="1200"/>
                        </a:lnSpc>
                      </a:pPr>
                      <a:r>
                        <a:rPr lang="en-US" sz="800" spc="-10" dirty="0">
                          <a:effectLst/>
                        </a:rPr>
                        <a:t>175.7</a:t>
                      </a:r>
                      <a:endParaRPr lang="en-IN"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tc>
                <a:extLst>
                  <a:ext uri="{0D108BD9-81ED-4DB2-BD59-A6C34878D82A}">
                    <a16:rowId xmlns:a16="http://schemas.microsoft.com/office/drawing/2014/main" val="580440224"/>
                  </a:ext>
                </a:extLst>
              </a:tr>
            </a:tbl>
          </a:graphicData>
        </a:graphic>
      </p:graphicFrame>
      <p:sp>
        <p:nvSpPr>
          <p:cNvPr id="5" name="Rectangle 2">
            <a:extLst>
              <a:ext uri="{FF2B5EF4-FFF2-40B4-BE49-F238E27FC236}">
                <a16:creationId xmlns:a16="http://schemas.microsoft.com/office/drawing/2014/main" id="{6C9C3556-D16F-4547-9C19-195B25071B19}"/>
              </a:ext>
            </a:extLst>
          </p:cNvPr>
          <p:cNvSpPr>
            <a:spLocks noChangeArrowheads="1"/>
          </p:cNvSpPr>
          <p:nvPr/>
        </p:nvSpPr>
        <p:spPr bwMode="auto">
          <a:xfrm>
            <a:off x="1403350" y="3484890"/>
            <a:ext cx="92473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Evaluation of Energy Consumption and Latency for Proposed with Existing FL Algorithms</a:t>
            </a:r>
            <a:r>
              <a:rPr kumimoji="0" lang="en-US" altLang="en-US" sz="10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imesLTStd-Roman" charset="0"/>
              </a:rPr>
              <a:t> </a:t>
            </a:r>
            <a:r>
              <a:rPr kumimoji="0" lang="en-US" altLang="en-US" sz="800" b="1" i="0" u="none" strike="noStrike" cap="none" normalizeH="0" baseline="0">
                <a:ln>
                  <a:noFill/>
                </a:ln>
                <a:solidFill>
                  <a:srgbClr val="000000"/>
                </a:solidFill>
                <a:effectLst/>
                <a:latin typeface="Arial" panose="020B0604020202020204" pitchFamily="34" charset="0"/>
                <a:ea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1270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12529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3B5D6A-64BC-413E-915F-A1B19D3EDFE4}"/>
              </a:ext>
            </a:extLst>
          </p:cNvPr>
          <p:cNvPicPr/>
          <p:nvPr/>
        </p:nvPicPr>
        <p:blipFill>
          <a:blip r:embed="rId2" cstate="print">
            <a:extLst>
              <a:ext uri="{28A0092B-C50C-407E-A947-70E740481C1C}">
                <a14:useLocalDpi xmlns:a14="http://schemas.microsoft.com/office/drawing/2010/main" val="0"/>
              </a:ext>
            </a:extLst>
          </a:blip>
          <a:stretch>
            <a:fillRect/>
          </a:stretch>
        </p:blipFill>
        <p:spPr bwMode="auto">
          <a:xfrm>
            <a:off x="2951018" y="2247900"/>
            <a:ext cx="4448002" cy="3259282"/>
          </a:xfrm>
          <a:prstGeom prst="rect">
            <a:avLst/>
          </a:prstGeom>
          <a:noFill/>
          <a:ln>
            <a:noFill/>
          </a:ln>
        </p:spPr>
      </p:pic>
    </p:spTree>
    <p:extLst>
      <p:ext uri="{BB962C8B-B14F-4D97-AF65-F5344CB8AC3E}">
        <p14:creationId xmlns:p14="http://schemas.microsoft.com/office/powerpoint/2010/main" val="191076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F0403A-F9AA-40CD-BA39-C452736FBBDB}"/>
              </a:ext>
            </a:extLst>
          </p:cNvPr>
          <p:cNvSpPr txBox="1"/>
          <p:nvPr/>
        </p:nvSpPr>
        <p:spPr>
          <a:xfrm>
            <a:off x="3047134" y="3227503"/>
            <a:ext cx="6094268" cy="402995"/>
          </a:xfrm>
          <a:prstGeom prst="rect">
            <a:avLst/>
          </a:prstGeom>
          <a:noFill/>
        </p:spPr>
        <p:txBody>
          <a:bodyPr wrap="square">
            <a:spAutoFit/>
          </a:bodyPr>
          <a:lstStyle/>
          <a:p>
            <a:pPr marL="342900" lvl="0" indent="-342900">
              <a:spcBef>
                <a:spcPts val="700"/>
              </a:spcBef>
              <a:buClr>
                <a:srgbClr val="00629B"/>
              </a:buClr>
              <a:buFont typeface="+mj-lt"/>
              <a:buAutoNum type="arabicPeriod"/>
              <a:tabLst>
                <a:tab pos="482600" algn="l"/>
                <a:tab pos="540385" algn="l"/>
              </a:tabLst>
            </a:pPr>
            <a:r>
              <a:rPr lang="en-IN" sz="800" b="1" dirty="0">
                <a:solidFill>
                  <a:srgbClr val="000000"/>
                </a:solidFill>
                <a:effectLst/>
                <a:latin typeface="Helvetica" panose="020B0604020202020204" pitchFamily="34" charset="0"/>
                <a:ea typeface="Times New Roman" panose="02020603050405020304" pitchFamily="18" charset="0"/>
                <a:cs typeface="FormataOTF-Bold"/>
              </a:rPr>
              <a:t>Testing Accuracy of Different FL Algorithms with respect to Data Heterogeneity (</a:t>
            </a:r>
            <a:r>
              <a:rPr lang="en-IN" sz="800" b="1" dirty="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𝛼</a:t>
            </a:r>
            <a:r>
              <a:rPr lang="en-IN" sz="800" b="1" dirty="0">
                <a:solidFill>
                  <a:srgbClr val="000000"/>
                </a:solidFill>
                <a:effectLst/>
                <a:latin typeface="Helvetica" panose="020B0604020202020204" pitchFamily="34" charset="0"/>
                <a:ea typeface="Times New Roman" panose="02020603050405020304" pitchFamily="18" charset="0"/>
                <a:cs typeface="FormataOTF-Bold"/>
              </a:rPr>
              <a:t>) for Different Datasets</a:t>
            </a:r>
            <a:endParaRPr lang="en-IN" sz="800" b="1" dirty="0">
              <a:effectLst/>
              <a:latin typeface="Helvetica" panose="020B0604020202020204" pitchFamily="34" charset="0"/>
              <a:ea typeface="Times New Roman" panose="02020603050405020304" pitchFamily="18" charset="0"/>
              <a:cs typeface="FormataOTF-Bold"/>
            </a:endParaRPr>
          </a:p>
          <a:p>
            <a:pPr indent="127000" algn="just">
              <a:lnSpc>
                <a:spcPts val="1200"/>
              </a:lnSpc>
            </a:pPr>
            <a:r>
              <a:rPr lang="en-IN" sz="2400" spc="-10" dirty="0">
                <a:solidFill>
                  <a:srgbClr val="000000"/>
                </a:solidFill>
                <a:effectLst/>
                <a:latin typeface="Times New Roman" panose="02020603050405020304" pitchFamily="18" charset="0"/>
                <a:ea typeface="Times New Roman" panose="02020603050405020304" pitchFamily="18" charset="0"/>
                <a:cs typeface="TimesLTStd-Roman"/>
              </a:rPr>
              <a:t> </a:t>
            </a:r>
            <a:endParaRPr lang="en-IN" sz="2400" spc="-10" dirty="0">
              <a:effectLst/>
              <a:latin typeface="Times New Roman" panose="02020603050405020304" pitchFamily="18" charset="0"/>
              <a:ea typeface="Times New Roman" panose="02020603050405020304" pitchFamily="18" charset="0"/>
              <a:cs typeface="TimesLTStd-Roman"/>
            </a:endParaRPr>
          </a:p>
        </p:txBody>
      </p:sp>
      <p:graphicFrame>
        <p:nvGraphicFramePr>
          <p:cNvPr id="4" name="Chart 3">
            <a:extLst>
              <a:ext uri="{FF2B5EF4-FFF2-40B4-BE49-F238E27FC236}">
                <a16:creationId xmlns:a16="http://schemas.microsoft.com/office/drawing/2014/main" id="{B6CC9118-D010-48B3-A27C-7F9CB22435C6}"/>
              </a:ext>
            </a:extLst>
          </p:cNvPr>
          <p:cNvGraphicFramePr/>
          <p:nvPr>
            <p:extLst>
              <p:ext uri="{D42A27DB-BD31-4B8C-83A1-F6EECF244321}">
                <p14:modId xmlns:p14="http://schemas.microsoft.com/office/powerpoint/2010/main" val="941561932"/>
              </p:ext>
            </p:extLst>
          </p:nvPr>
        </p:nvGraphicFramePr>
        <p:xfrm>
          <a:off x="4740592" y="2336482"/>
          <a:ext cx="2710815" cy="21850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5095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E3DC8E9-CC2A-4420-BBBD-89F53E8E40C5}"/>
              </a:ext>
            </a:extLst>
          </p:cNvPr>
          <p:cNvGraphicFramePr/>
          <p:nvPr/>
        </p:nvGraphicFramePr>
        <p:xfrm>
          <a:off x="4756467" y="2323465"/>
          <a:ext cx="2679065" cy="22110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5639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662</TotalTime>
  <Words>3083</Words>
  <Application>Microsoft Office PowerPoint</Application>
  <PresentationFormat>Widescreen</PresentationFormat>
  <Paragraphs>624</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Cambria Math</vt:lpstr>
      <vt:lpstr>Helvetica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28</cp:revision>
  <dcterms:created xsi:type="dcterms:W3CDTF">2025-11-27T15:14:15Z</dcterms:created>
  <dcterms:modified xsi:type="dcterms:W3CDTF">2025-11-28T02:16:45Z</dcterms:modified>
</cp:coreProperties>
</file>